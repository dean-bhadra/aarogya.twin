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946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8787AA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PRAGATI</a:t>
            </a:r>
            <a:r>
              <a:rPr spc="30" dirty="0"/>
              <a:t> </a:t>
            </a:r>
            <a:r>
              <a:rPr dirty="0"/>
              <a:t>2026</a:t>
            </a:r>
            <a:r>
              <a:rPr spc="10" dirty="0"/>
              <a:t> </a:t>
            </a:r>
            <a:r>
              <a:rPr dirty="0"/>
              <a:t>—</a:t>
            </a:r>
            <a:r>
              <a:rPr spc="-10" dirty="0"/>
              <a:t> bengalithub.com/hackfest-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rgbClr val="F5A62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8787AA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PRAGATI</a:t>
            </a:r>
            <a:r>
              <a:rPr spc="30" dirty="0"/>
              <a:t> </a:t>
            </a:r>
            <a:r>
              <a:rPr dirty="0"/>
              <a:t>2026</a:t>
            </a:r>
            <a:r>
              <a:rPr spc="10" dirty="0"/>
              <a:t> </a:t>
            </a:r>
            <a:r>
              <a:rPr dirty="0"/>
              <a:t>—</a:t>
            </a:r>
            <a:r>
              <a:rPr spc="-10" dirty="0"/>
              <a:t> bengalithub.com/hackfest-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rgbClr val="F5A62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8787AA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PRAGATI</a:t>
            </a:r>
            <a:r>
              <a:rPr spc="30" dirty="0"/>
              <a:t> </a:t>
            </a:r>
            <a:r>
              <a:rPr dirty="0"/>
              <a:t>2026</a:t>
            </a:r>
            <a:r>
              <a:rPr spc="10" dirty="0"/>
              <a:t> </a:t>
            </a:r>
            <a:r>
              <a:rPr dirty="0"/>
              <a:t>—</a:t>
            </a:r>
            <a:r>
              <a:rPr spc="-10" dirty="0"/>
              <a:t> bengalithub.com/hackfest-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rgbClr val="F5A62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8787AA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PRAGATI</a:t>
            </a:r>
            <a:r>
              <a:rPr spc="30" dirty="0"/>
              <a:t> </a:t>
            </a:r>
            <a:r>
              <a:rPr dirty="0"/>
              <a:t>2026</a:t>
            </a:r>
            <a:r>
              <a:rPr spc="10" dirty="0"/>
              <a:t> </a:t>
            </a:r>
            <a:r>
              <a:rPr dirty="0"/>
              <a:t>—</a:t>
            </a:r>
            <a:r>
              <a:rPr spc="-10" dirty="0"/>
              <a:t> bengalithub.com/hackfest-</a:t>
            </a:r>
            <a:r>
              <a:rPr spc="-20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rgbClr val="F5A62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8787AA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PRAGATI</a:t>
            </a:r>
            <a:r>
              <a:rPr spc="30" dirty="0"/>
              <a:t> </a:t>
            </a:r>
            <a:r>
              <a:rPr dirty="0"/>
              <a:t>2026</a:t>
            </a:r>
            <a:r>
              <a:rPr spc="10" dirty="0"/>
              <a:t> </a:t>
            </a:r>
            <a:r>
              <a:rPr dirty="0"/>
              <a:t>—</a:t>
            </a:r>
            <a:r>
              <a:rPr spc="-10" dirty="0"/>
              <a:t> bengalithub.com/hackfest-</a:t>
            </a:r>
            <a:r>
              <a:rPr spc="-20" dirty="0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rgbClr val="F5A62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909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548640"/>
          </a:xfrm>
          <a:custGeom>
            <a:avLst/>
            <a:gdLst/>
            <a:ahLst/>
            <a:cxnLst/>
            <a:rect l="l" t="t" r="r" b="b"/>
            <a:pathLst>
              <a:path w="9144000" h="548640">
                <a:moveTo>
                  <a:pt x="0" y="548639"/>
                </a:moveTo>
                <a:lnTo>
                  <a:pt x="9144000" y="548639"/>
                </a:lnTo>
                <a:lnTo>
                  <a:pt x="9144000" y="0"/>
                </a:lnTo>
                <a:lnTo>
                  <a:pt x="0" y="0"/>
                </a:lnTo>
                <a:lnTo>
                  <a:pt x="0" y="548639"/>
                </a:lnTo>
                <a:close/>
              </a:path>
            </a:pathLst>
          </a:custGeom>
          <a:ln w="12700">
            <a:solidFill>
              <a:srgbClr val="0909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55244" cy="548640"/>
          </a:xfrm>
          <a:custGeom>
            <a:avLst/>
            <a:gdLst/>
            <a:ahLst/>
            <a:cxnLst/>
            <a:rect l="l" t="t" r="r" b="b"/>
            <a:pathLst>
              <a:path w="55244" h="548640">
                <a:moveTo>
                  <a:pt x="54864" y="0"/>
                </a:moveTo>
                <a:lnTo>
                  <a:pt x="0" y="0"/>
                </a:lnTo>
                <a:lnTo>
                  <a:pt x="0" y="548639"/>
                </a:lnTo>
                <a:lnTo>
                  <a:pt x="54864" y="548639"/>
                </a:lnTo>
                <a:lnTo>
                  <a:pt x="54864" y="0"/>
                </a:lnTo>
                <a:close/>
              </a:path>
            </a:pathLst>
          </a:custGeom>
          <a:solidFill>
            <a:srgbClr val="F5A62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0"/>
            <a:ext cx="55244" cy="548640"/>
          </a:xfrm>
          <a:custGeom>
            <a:avLst/>
            <a:gdLst/>
            <a:ahLst/>
            <a:cxnLst/>
            <a:rect l="l" t="t" r="r" b="b"/>
            <a:pathLst>
              <a:path w="55244" h="548640">
                <a:moveTo>
                  <a:pt x="0" y="548639"/>
                </a:moveTo>
                <a:lnTo>
                  <a:pt x="54864" y="548639"/>
                </a:lnTo>
                <a:lnTo>
                  <a:pt x="54864" y="0"/>
                </a:lnTo>
                <a:lnTo>
                  <a:pt x="0" y="0"/>
                </a:lnTo>
                <a:lnTo>
                  <a:pt x="0" y="548639"/>
                </a:lnTo>
                <a:close/>
              </a:path>
            </a:pathLst>
          </a:custGeom>
          <a:ln w="12700">
            <a:solidFill>
              <a:srgbClr val="F5A62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1620" y="601726"/>
            <a:ext cx="3009265" cy="422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74920" y="1207008"/>
            <a:ext cx="3749040" cy="3474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1620" y="5002083"/>
            <a:ext cx="2058035" cy="128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8787AA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PRAGATI</a:t>
            </a:r>
            <a:r>
              <a:rPr spc="30" dirty="0"/>
              <a:t> </a:t>
            </a:r>
            <a:r>
              <a:rPr dirty="0"/>
              <a:t>2026</a:t>
            </a:r>
            <a:r>
              <a:rPr spc="10" dirty="0"/>
              <a:t> </a:t>
            </a:r>
            <a:r>
              <a:rPr dirty="0"/>
              <a:t>—</a:t>
            </a:r>
            <a:r>
              <a:rPr spc="-10" dirty="0"/>
              <a:t> bengalithub.com/hackfest-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937497" y="5002083"/>
            <a:ext cx="167640" cy="128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1" i="0">
                <a:solidFill>
                  <a:srgbClr val="F5A62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hyperlink" Target="mailto:email@example.com" TargetMode="External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.png"/><Relationship Id="rId7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12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3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4.png"/><Relationship Id="rId7" Type="http://schemas.openxmlformats.org/officeDocument/2006/relationships/image" Target="../media/image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12.png"/><Relationship Id="rId5" Type="http://schemas.openxmlformats.org/officeDocument/2006/relationships/image" Target="../media/image38.png"/><Relationship Id="rId10" Type="http://schemas.openxmlformats.org/officeDocument/2006/relationships/image" Target="../media/image32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7.png"/><Relationship Id="rId7" Type="http://schemas.openxmlformats.org/officeDocument/2006/relationships/image" Target="../media/image5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18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0350" cy="5156200"/>
            <a:chOff x="-6350" y="-6350"/>
            <a:chExt cx="9150350" cy="5156200"/>
          </a:xfrm>
        </p:grpSpPr>
        <p:sp>
          <p:nvSpPr>
            <p:cNvPr id="3" name="object 3"/>
            <p:cNvSpPr/>
            <p:nvPr/>
          </p:nvSpPr>
          <p:spPr>
            <a:xfrm>
              <a:off x="109728" y="0"/>
              <a:ext cx="9034780" cy="4983480"/>
            </a:xfrm>
            <a:custGeom>
              <a:avLst/>
              <a:gdLst/>
              <a:ahLst/>
              <a:cxnLst/>
              <a:rect l="l" t="t" r="r" b="b"/>
              <a:pathLst>
                <a:path w="9034780" h="4983480">
                  <a:moveTo>
                    <a:pt x="0" y="4983480"/>
                  </a:moveTo>
                  <a:lnTo>
                    <a:pt x="9034272" y="4983480"/>
                  </a:lnTo>
                  <a:lnTo>
                    <a:pt x="9034272" y="0"/>
                  </a:lnTo>
                  <a:lnTo>
                    <a:pt x="0" y="0"/>
                  </a:lnTo>
                  <a:lnTo>
                    <a:pt x="0" y="4983480"/>
                  </a:lnTo>
                  <a:close/>
                </a:path>
              </a:pathLst>
            </a:custGeom>
            <a:solidFill>
              <a:srgbClr val="121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9394" y="0"/>
              <a:ext cx="3324605" cy="49834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09855" cy="5143500"/>
            </a:xfrm>
            <a:custGeom>
              <a:avLst/>
              <a:gdLst/>
              <a:ahLst/>
              <a:cxnLst/>
              <a:rect l="l" t="t" r="r" b="b"/>
              <a:pathLst>
                <a:path w="109855" h="5143500">
                  <a:moveTo>
                    <a:pt x="109728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109728" y="5143500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09855" cy="5143500"/>
            </a:xfrm>
            <a:custGeom>
              <a:avLst/>
              <a:gdLst/>
              <a:ahLst/>
              <a:cxnLst/>
              <a:rect l="l" t="t" r="r" b="b"/>
              <a:pathLst>
                <a:path w="109855" h="5143500">
                  <a:moveTo>
                    <a:pt x="0" y="5143500"/>
                  </a:moveTo>
                  <a:lnTo>
                    <a:pt x="109728" y="5143500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67970" y="1045210"/>
            <a:ext cx="2938780" cy="287020"/>
          </a:xfrm>
          <a:prstGeom prst="rect">
            <a:avLst/>
          </a:prstGeom>
          <a:solidFill>
            <a:srgbClr val="F5A622"/>
          </a:solidFill>
          <a:ln w="3175">
            <a:solidFill>
              <a:srgbClr val="F5A622"/>
            </a:solidFill>
          </a:ln>
        </p:spPr>
        <p:txBody>
          <a:bodyPr vert="horz" wrap="square" lIns="0" tIns="81280" rIns="0" bIns="0" rtlCol="0">
            <a:spAutoFit/>
          </a:bodyPr>
          <a:lstStyle/>
          <a:p>
            <a:pPr marL="327660">
              <a:lnSpc>
                <a:spcPct val="100000"/>
              </a:lnSpc>
              <a:spcBef>
                <a:spcPts val="640"/>
              </a:spcBef>
            </a:pPr>
            <a:r>
              <a:rPr sz="750" b="1" dirty="0">
                <a:solidFill>
                  <a:srgbClr val="090913"/>
                </a:solidFill>
                <a:latin typeface="Trebuchet MS"/>
                <a:cs typeface="Trebuchet MS"/>
              </a:rPr>
              <a:t>P</a:t>
            </a:r>
            <a:r>
              <a:rPr sz="750" b="1" spc="-125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750" b="1" dirty="0">
                <a:solidFill>
                  <a:srgbClr val="090913"/>
                </a:solidFill>
                <a:latin typeface="Trebuchet MS"/>
                <a:cs typeface="Trebuchet MS"/>
              </a:rPr>
              <a:t>RA</a:t>
            </a:r>
            <a:r>
              <a:rPr sz="750" b="1" spc="-120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750" b="1" dirty="0">
                <a:solidFill>
                  <a:srgbClr val="090913"/>
                </a:solidFill>
                <a:latin typeface="Trebuchet MS"/>
                <a:cs typeface="Trebuchet MS"/>
              </a:rPr>
              <a:t>GA</a:t>
            </a:r>
            <a:r>
              <a:rPr sz="750" b="1" spc="-120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750" b="1" dirty="0">
                <a:solidFill>
                  <a:srgbClr val="090913"/>
                </a:solidFill>
                <a:latin typeface="Trebuchet MS"/>
                <a:cs typeface="Trebuchet MS"/>
              </a:rPr>
              <a:t>T</a:t>
            </a:r>
            <a:r>
              <a:rPr sz="750" b="1" spc="-120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750" b="1" dirty="0">
                <a:solidFill>
                  <a:srgbClr val="090913"/>
                </a:solidFill>
                <a:latin typeface="Trebuchet MS"/>
                <a:cs typeface="Trebuchet MS"/>
              </a:rPr>
              <a:t>I</a:t>
            </a:r>
            <a:r>
              <a:rPr sz="750" b="1" spc="254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750" b="1" dirty="0">
                <a:solidFill>
                  <a:srgbClr val="090913"/>
                </a:solidFill>
                <a:latin typeface="Trebuchet MS"/>
                <a:cs typeface="Trebuchet MS"/>
              </a:rPr>
              <a:t>—</a:t>
            </a:r>
            <a:r>
              <a:rPr sz="750" b="1" spc="250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750" b="1" dirty="0">
                <a:solidFill>
                  <a:srgbClr val="090913"/>
                </a:solidFill>
                <a:latin typeface="Trebuchet MS"/>
                <a:cs typeface="Trebuchet MS"/>
              </a:rPr>
              <a:t>T</a:t>
            </a:r>
            <a:r>
              <a:rPr sz="750" b="1" spc="-120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750" b="1" dirty="0">
                <a:solidFill>
                  <a:srgbClr val="090913"/>
                </a:solidFill>
                <a:latin typeface="Trebuchet MS"/>
                <a:cs typeface="Trebuchet MS"/>
              </a:rPr>
              <a:t>H</a:t>
            </a:r>
            <a:r>
              <a:rPr sz="750" b="1" spc="-125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750" b="1" dirty="0">
                <a:solidFill>
                  <a:srgbClr val="090913"/>
                </a:solidFill>
                <a:latin typeface="Trebuchet MS"/>
                <a:cs typeface="Trebuchet MS"/>
              </a:rPr>
              <a:t>E</a:t>
            </a:r>
            <a:r>
              <a:rPr sz="750" b="1" spc="225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750" b="1" dirty="0">
                <a:solidFill>
                  <a:srgbClr val="090913"/>
                </a:solidFill>
                <a:latin typeface="Trebuchet MS"/>
                <a:cs typeface="Trebuchet MS"/>
              </a:rPr>
              <a:t>BE</a:t>
            </a:r>
            <a:r>
              <a:rPr sz="750" b="1" spc="-114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750" b="1" dirty="0">
                <a:solidFill>
                  <a:srgbClr val="090913"/>
                </a:solidFill>
                <a:latin typeface="Trebuchet MS"/>
                <a:cs typeface="Trebuchet MS"/>
              </a:rPr>
              <a:t>N</a:t>
            </a:r>
            <a:r>
              <a:rPr sz="750" b="1" spc="-125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750" b="1" dirty="0">
                <a:solidFill>
                  <a:srgbClr val="090913"/>
                </a:solidFill>
                <a:latin typeface="Trebuchet MS"/>
                <a:cs typeface="Trebuchet MS"/>
              </a:rPr>
              <a:t>GA</a:t>
            </a:r>
            <a:r>
              <a:rPr sz="750" b="1" spc="-120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750" b="1" dirty="0">
                <a:solidFill>
                  <a:srgbClr val="090913"/>
                </a:solidFill>
                <a:latin typeface="Trebuchet MS"/>
                <a:cs typeface="Trebuchet MS"/>
              </a:rPr>
              <a:t>L</a:t>
            </a:r>
            <a:r>
              <a:rPr sz="750" b="1" spc="254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750" b="1" dirty="0">
                <a:solidFill>
                  <a:srgbClr val="090913"/>
                </a:solidFill>
                <a:latin typeface="Trebuchet MS"/>
                <a:cs typeface="Trebuchet MS"/>
              </a:rPr>
              <a:t>H</a:t>
            </a:r>
            <a:r>
              <a:rPr sz="750" b="1" spc="-125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750" b="1" dirty="0">
                <a:solidFill>
                  <a:srgbClr val="090913"/>
                </a:solidFill>
                <a:latin typeface="Trebuchet MS"/>
                <a:cs typeface="Trebuchet MS"/>
              </a:rPr>
              <a:t>A</a:t>
            </a:r>
            <a:r>
              <a:rPr sz="750" b="1" spc="-120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750" b="1" dirty="0">
                <a:solidFill>
                  <a:srgbClr val="090913"/>
                </a:solidFill>
                <a:latin typeface="Trebuchet MS"/>
                <a:cs typeface="Trebuchet MS"/>
              </a:rPr>
              <a:t>C</a:t>
            </a:r>
            <a:r>
              <a:rPr sz="750" b="1" spc="-120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750" b="1" dirty="0">
                <a:solidFill>
                  <a:srgbClr val="090913"/>
                </a:solidFill>
                <a:latin typeface="Trebuchet MS"/>
                <a:cs typeface="Trebuchet MS"/>
              </a:rPr>
              <a:t>K</a:t>
            </a:r>
            <a:r>
              <a:rPr sz="750" b="1" spc="240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750" b="1" dirty="0">
                <a:solidFill>
                  <a:srgbClr val="090913"/>
                </a:solidFill>
                <a:latin typeface="Trebuchet MS"/>
                <a:cs typeface="Trebuchet MS"/>
              </a:rPr>
              <a:t>F</a:t>
            </a:r>
            <a:r>
              <a:rPr sz="750" b="1" spc="-120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750" b="1" dirty="0">
                <a:solidFill>
                  <a:srgbClr val="090913"/>
                </a:solidFill>
                <a:latin typeface="Trebuchet MS"/>
                <a:cs typeface="Trebuchet MS"/>
              </a:rPr>
              <a:t>E</a:t>
            </a:r>
            <a:r>
              <a:rPr sz="750" b="1" spc="-120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750" b="1" dirty="0">
                <a:solidFill>
                  <a:srgbClr val="090913"/>
                </a:solidFill>
                <a:latin typeface="Trebuchet MS"/>
                <a:cs typeface="Trebuchet MS"/>
              </a:rPr>
              <a:t>ST</a:t>
            </a:r>
            <a:r>
              <a:rPr sz="750" b="1" spc="245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750" b="1" dirty="0">
                <a:solidFill>
                  <a:srgbClr val="090913"/>
                </a:solidFill>
                <a:latin typeface="Trebuchet MS"/>
                <a:cs typeface="Trebuchet MS"/>
              </a:rPr>
              <a:t>2</a:t>
            </a:r>
            <a:r>
              <a:rPr sz="750" b="1" spc="-120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750" b="1" dirty="0">
                <a:solidFill>
                  <a:srgbClr val="090913"/>
                </a:solidFill>
                <a:latin typeface="Trebuchet MS"/>
                <a:cs typeface="Trebuchet MS"/>
              </a:rPr>
              <a:t>0</a:t>
            </a:r>
            <a:r>
              <a:rPr sz="750" b="1" spc="-120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750" b="1" dirty="0">
                <a:solidFill>
                  <a:srgbClr val="090913"/>
                </a:solidFill>
                <a:latin typeface="Trebuchet MS"/>
                <a:cs typeface="Trebuchet MS"/>
              </a:rPr>
              <a:t>2</a:t>
            </a:r>
            <a:r>
              <a:rPr sz="750" b="1" spc="-120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750" b="1" spc="-50" dirty="0">
                <a:solidFill>
                  <a:srgbClr val="090913"/>
                </a:solidFill>
                <a:latin typeface="Trebuchet MS"/>
                <a:cs typeface="Trebuchet MS"/>
              </a:rPr>
              <a:t>6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61620" y="1589658"/>
            <a:ext cx="45116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CardioRisk AI</a:t>
            </a:r>
            <a:endParaRPr sz="3000"/>
          </a:p>
        </p:txBody>
      </p:sp>
      <p:grpSp>
        <p:nvGrpSpPr>
          <p:cNvPr id="9" name="object 9"/>
          <p:cNvGrpSpPr/>
          <p:nvPr/>
        </p:nvGrpSpPr>
        <p:grpSpPr>
          <a:xfrm>
            <a:off x="267970" y="2810001"/>
            <a:ext cx="4401820" cy="40640"/>
            <a:chOff x="267970" y="2810001"/>
            <a:chExt cx="4401820" cy="40640"/>
          </a:xfrm>
        </p:grpSpPr>
        <p:sp>
          <p:nvSpPr>
            <p:cNvPr id="10" name="object 10"/>
            <p:cNvSpPr/>
            <p:nvPr/>
          </p:nvSpPr>
          <p:spPr>
            <a:xfrm>
              <a:off x="274320" y="2816351"/>
              <a:ext cx="4389120" cy="27940"/>
            </a:xfrm>
            <a:custGeom>
              <a:avLst/>
              <a:gdLst/>
              <a:ahLst/>
              <a:cxnLst/>
              <a:rect l="l" t="t" r="r" b="b"/>
              <a:pathLst>
                <a:path w="4389120" h="27939">
                  <a:moveTo>
                    <a:pt x="4389120" y="0"/>
                  </a:moveTo>
                  <a:lnTo>
                    <a:pt x="0" y="0"/>
                  </a:lnTo>
                  <a:lnTo>
                    <a:pt x="0" y="27431"/>
                  </a:lnTo>
                  <a:lnTo>
                    <a:pt x="4389120" y="27431"/>
                  </a:lnTo>
                  <a:lnTo>
                    <a:pt x="4389120" y="0"/>
                  </a:lnTo>
                  <a:close/>
                </a:path>
              </a:pathLst>
            </a:custGeom>
            <a:solidFill>
              <a:srgbClr val="2A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320" y="2816351"/>
              <a:ext cx="4389120" cy="27940"/>
            </a:xfrm>
            <a:custGeom>
              <a:avLst/>
              <a:gdLst/>
              <a:ahLst/>
              <a:cxnLst/>
              <a:rect l="l" t="t" r="r" b="b"/>
              <a:pathLst>
                <a:path w="4389120" h="27939">
                  <a:moveTo>
                    <a:pt x="0" y="27431"/>
                  </a:moveTo>
                  <a:lnTo>
                    <a:pt x="4389120" y="27431"/>
                  </a:lnTo>
                  <a:lnTo>
                    <a:pt x="4389120" y="0"/>
                  </a:lnTo>
                  <a:lnTo>
                    <a:pt x="0" y="0"/>
                  </a:lnTo>
                  <a:lnTo>
                    <a:pt x="0" y="27431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61620" y="2389758"/>
            <a:ext cx="3394075" cy="1842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solidFill>
                  <a:srgbClr val="F5A622"/>
                </a:solidFill>
                <a:latin typeface="Trebuchet MS"/>
                <a:cs typeface="Trebuchet MS"/>
              </a:rPr>
              <a:t>AI-Powered Digital Twin for Personalized Cardiovascular Health Prediction</a:t>
            </a: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75"/>
              </a:spcBef>
            </a:pP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500" b="1" spc="-25" dirty="0">
                <a:solidFill>
                  <a:srgbClr val="E8E8EF"/>
                </a:solidFill>
                <a:latin typeface="Trebuchet MS"/>
                <a:cs typeface="Trebuchet MS"/>
              </a:rPr>
              <a:t>Team: [Team Name]</a:t>
            </a:r>
            <a:endParaRPr sz="1500">
              <a:latin typeface="Trebuchet MS"/>
              <a:cs typeface="Trebuchet MS"/>
            </a:endParaRPr>
          </a:p>
          <a:p>
            <a:pPr marL="492125" indent="-342900">
              <a:lnSpc>
                <a:spcPct val="100000"/>
              </a:lnSpc>
              <a:spcBef>
                <a:spcPts val="1420"/>
              </a:spcBef>
              <a:buChar char="•"/>
              <a:tabLst>
                <a:tab pos="492125" algn="l"/>
              </a:tabLst>
            </a:pPr>
            <a:r>
              <a:rPr sz="1100" dirty="0">
                <a:solidFill>
                  <a:srgbClr val="8787AA"/>
                </a:solidFill>
                <a:latin typeface="Trebuchet MS"/>
                <a:cs typeface="Trebuchet MS"/>
              </a:rPr>
              <a:t>[Member 1]</a:t>
            </a:r>
            <a:endParaRPr sz="1100">
              <a:latin typeface="Trebuchet MS"/>
              <a:cs typeface="Trebuchet MS"/>
            </a:endParaRPr>
          </a:p>
          <a:p>
            <a:pPr marL="492125" indent="-342900">
              <a:lnSpc>
                <a:spcPct val="100000"/>
              </a:lnSpc>
              <a:buChar char="•"/>
              <a:tabLst>
                <a:tab pos="492125" algn="l"/>
              </a:tabLst>
            </a:pPr>
            <a:r>
              <a:rPr sz="1100" dirty="0">
                <a:solidFill>
                  <a:srgbClr val="8787AA"/>
                </a:solidFill>
                <a:latin typeface="Trebuchet MS"/>
                <a:cs typeface="Trebuchet MS"/>
              </a:rPr>
              <a:t>[Member 2]</a:t>
            </a:r>
            <a:endParaRPr sz="1100">
              <a:latin typeface="Trebuchet MS"/>
              <a:cs typeface="Trebuchet MS"/>
            </a:endParaRPr>
          </a:p>
          <a:p>
            <a:pPr marL="492125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492125" algn="l"/>
              </a:tabLst>
            </a:pPr>
            <a:r>
              <a:rPr sz="1100" dirty="0">
                <a:solidFill>
                  <a:srgbClr val="8787AA"/>
                </a:solidFill>
                <a:latin typeface="Trebuchet MS"/>
                <a:cs typeface="Trebuchet MS"/>
              </a:rPr>
              <a:t>[Member 3]</a:t>
            </a:r>
            <a:endParaRPr sz="1100">
              <a:latin typeface="Trebuchet MS"/>
              <a:cs typeface="Trebuchet MS"/>
            </a:endParaRPr>
          </a:p>
          <a:p>
            <a:pPr marL="492125" indent="-342900">
              <a:lnSpc>
                <a:spcPct val="100000"/>
              </a:lnSpc>
              <a:spcBef>
                <a:spcPts val="35"/>
              </a:spcBef>
              <a:buChar char="•"/>
              <a:tabLst>
                <a:tab pos="492125" algn="l"/>
              </a:tabLst>
            </a:pPr>
            <a:r>
              <a:rPr sz="1100" dirty="0">
                <a:solidFill>
                  <a:srgbClr val="8787AA"/>
                </a:solidFill>
                <a:latin typeface="Trebuchet MS"/>
                <a:cs typeface="Trebuchet MS"/>
              </a:rPr>
              <a:t>[Member 4]</a:t>
            </a:r>
            <a:endParaRPr sz="1100">
              <a:latin typeface="Trebuchet MS"/>
              <a:cs typeface="Trebuchet MS"/>
            </a:endParaRPr>
          </a:p>
          <a:p>
            <a:pPr marL="492125" indent="-342900">
              <a:lnSpc>
                <a:spcPct val="100000"/>
              </a:lnSpc>
              <a:buChar char="•"/>
              <a:tabLst>
                <a:tab pos="492125" algn="l"/>
              </a:tabLst>
            </a:pPr>
            <a:r>
              <a:rPr sz="1100" dirty="0">
                <a:solidFill>
                  <a:srgbClr val="8787AA"/>
                </a:solidFill>
                <a:latin typeface="Trebuchet MS"/>
                <a:cs typeface="Trebuchet MS"/>
              </a:rPr>
              <a:t>[Member 5]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-6350" y="4977129"/>
            <a:ext cx="9156700" cy="172720"/>
            <a:chOff x="-6350" y="4977129"/>
            <a:chExt cx="9156700" cy="172720"/>
          </a:xfrm>
        </p:grpSpPr>
        <p:sp>
          <p:nvSpPr>
            <p:cNvPr id="14" name="object 14"/>
            <p:cNvSpPr/>
            <p:nvPr/>
          </p:nvSpPr>
          <p:spPr>
            <a:xfrm>
              <a:off x="0" y="4983479"/>
              <a:ext cx="9144000" cy="160020"/>
            </a:xfrm>
            <a:custGeom>
              <a:avLst/>
              <a:gdLst/>
              <a:ahLst/>
              <a:cxnLst/>
              <a:rect l="l" t="t" r="r" b="b"/>
              <a:pathLst>
                <a:path w="9144000" h="160020">
                  <a:moveTo>
                    <a:pt x="9144000" y="0"/>
                  </a:moveTo>
                  <a:lnTo>
                    <a:pt x="0" y="0"/>
                  </a:lnTo>
                  <a:lnTo>
                    <a:pt x="0" y="160020"/>
                  </a:lnTo>
                  <a:lnTo>
                    <a:pt x="9144000" y="1600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4983479"/>
              <a:ext cx="9144000" cy="160020"/>
            </a:xfrm>
            <a:custGeom>
              <a:avLst/>
              <a:gdLst/>
              <a:ahLst/>
              <a:cxnLst/>
              <a:rect l="l" t="t" r="r" b="b"/>
              <a:pathLst>
                <a:path w="9144000" h="160020">
                  <a:moveTo>
                    <a:pt x="0" y="160020"/>
                  </a:moveTo>
                  <a:lnTo>
                    <a:pt x="9144000" y="16002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60020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799713" y="4980533"/>
            <a:ext cx="154686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10" dirty="0">
                <a:solidFill>
                  <a:srgbClr val="090913"/>
                </a:solidFill>
                <a:latin typeface="Trebuchet MS"/>
                <a:cs typeface="Trebuchet MS"/>
              </a:rPr>
              <a:t>bengalithub.com/hackfest-</a:t>
            </a:r>
            <a:r>
              <a:rPr sz="800" b="1" spc="-20" dirty="0">
                <a:solidFill>
                  <a:srgbClr val="090913"/>
                </a:solidFill>
                <a:latin typeface="Trebuchet MS"/>
                <a:cs typeface="Trebuchet MS"/>
              </a:rPr>
              <a:t>2026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729" y="42481"/>
            <a:ext cx="1003566" cy="9500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884" y="179323"/>
            <a:ext cx="2318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PRAGATI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—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The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Bengal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Hack</a:t>
            </a:r>
            <a:r>
              <a:rPr sz="1000" b="1" spc="-1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Fest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2026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9718" y="186944"/>
            <a:ext cx="1415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787AA"/>
                </a:solidFill>
                <a:latin typeface="Trebuchet MS"/>
                <a:cs typeface="Trebuchet MS"/>
              </a:rPr>
              <a:t>Team: [Team Name]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Team</a:t>
            </a:r>
            <a:r>
              <a:rPr spc="-120" dirty="0"/>
              <a:t> </a:t>
            </a:r>
            <a:r>
              <a:rPr spc="-10" dirty="0"/>
              <a:t>Details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-6350" y="4977129"/>
            <a:ext cx="9156700" cy="172720"/>
            <a:chOff x="-6350" y="4977129"/>
            <a:chExt cx="9156700" cy="172720"/>
          </a:xfrm>
        </p:grpSpPr>
        <p:sp>
          <p:nvSpPr>
            <p:cNvPr id="6" name="object 6"/>
            <p:cNvSpPr/>
            <p:nvPr/>
          </p:nvSpPr>
          <p:spPr>
            <a:xfrm>
              <a:off x="0" y="4983479"/>
              <a:ext cx="9144000" cy="160020"/>
            </a:xfrm>
            <a:custGeom>
              <a:avLst/>
              <a:gdLst/>
              <a:ahLst/>
              <a:cxnLst/>
              <a:rect l="l" t="t" r="r" b="b"/>
              <a:pathLst>
                <a:path w="9144000" h="160020">
                  <a:moveTo>
                    <a:pt x="9144000" y="0"/>
                  </a:moveTo>
                  <a:lnTo>
                    <a:pt x="0" y="0"/>
                  </a:lnTo>
                  <a:lnTo>
                    <a:pt x="0" y="160020"/>
                  </a:lnTo>
                  <a:lnTo>
                    <a:pt x="9144000" y="1600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A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4983479"/>
              <a:ext cx="9144000" cy="160020"/>
            </a:xfrm>
            <a:custGeom>
              <a:avLst/>
              <a:gdLst/>
              <a:ahLst/>
              <a:cxnLst/>
              <a:rect l="l" t="t" r="r" b="b"/>
              <a:pathLst>
                <a:path w="9144000" h="160020">
                  <a:moveTo>
                    <a:pt x="0" y="160020"/>
                  </a:moveTo>
                  <a:lnTo>
                    <a:pt x="9144000" y="16002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60020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983479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914400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9144000" y="91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983479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9144"/>
                  </a:moveTo>
                  <a:lnTo>
                    <a:pt x="9144000" y="914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144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46304" y="1045210"/>
            <a:ext cx="3694429" cy="911860"/>
            <a:chOff x="146304" y="1045210"/>
            <a:chExt cx="3694429" cy="91186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970" y="1045210"/>
              <a:ext cx="213867" cy="767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858" y="1045210"/>
              <a:ext cx="104140" cy="7670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6304" y="1097280"/>
              <a:ext cx="3694176" cy="85953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74320" y="1188720"/>
              <a:ext cx="3474720" cy="640080"/>
            </a:xfrm>
            <a:custGeom>
              <a:avLst/>
              <a:gdLst/>
              <a:ahLst/>
              <a:cxnLst/>
              <a:rect l="l" t="t" r="r" b="b"/>
              <a:pathLst>
                <a:path w="3474720" h="640080">
                  <a:moveTo>
                    <a:pt x="3474720" y="0"/>
                  </a:moveTo>
                  <a:lnTo>
                    <a:pt x="0" y="0"/>
                  </a:lnTo>
                  <a:lnTo>
                    <a:pt x="0" y="640079"/>
                  </a:lnTo>
                  <a:lnTo>
                    <a:pt x="3474720" y="640079"/>
                  </a:lnTo>
                  <a:lnTo>
                    <a:pt x="3474720" y="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4320" y="1188720"/>
              <a:ext cx="3474720" cy="640080"/>
            </a:xfrm>
            <a:custGeom>
              <a:avLst/>
              <a:gdLst/>
              <a:ahLst/>
              <a:cxnLst/>
              <a:rect l="l" t="t" r="r" b="b"/>
              <a:pathLst>
                <a:path w="3474720" h="640080">
                  <a:moveTo>
                    <a:pt x="0" y="640079"/>
                  </a:moveTo>
                  <a:lnTo>
                    <a:pt x="3474720" y="640079"/>
                  </a:lnTo>
                  <a:lnTo>
                    <a:pt x="3474720" y="0"/>
                  </a:lnTo>
                  <a:lnTo>
                    <a:pt x="0" y="0"/>
                  </a:lnTo>
                  <a:lnTo>
                    <a:pt x="0" y="640079"/>
                  </a:lnTo>
                  <a:close/>
                </a:path>
              </a:pathLst>
            </a:custGeom>
            <a:ln w="12699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4320" y="1188720"/>
              <a:ext cx="50800" cy="640080"/>
            </a:xfrm>
            <a:custGeom>
              <a:avLst/>
              <a:gdLst/>
              <a:ahLst/>
              <a:cxnLst/>
              <a:rect l="l" t="t" r="r" b="b"/>
              <a:pathLst>
                <a:path w="50800" h="640080">
                  <a:moveTo>
                    <a:pt x="50292" y="0"/>
                  </a:moveTo>
                  <a:lnTo>
                    <a:pt x="0" y="0"/>
                  </a:lnTo>
                  <a:lnTo>
                    <a:pt x="0" y="640079"/>
                  </a:lnTo>
                  <a:lnTo>
                    <a:pt x="50292" y="640079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4320" y="1188720"/>
              <a:ext cx="50800" cy="640080"/>
            </a:xfrm>
            <a:custGeom>
              <a:avLst/>
              <a:gdLst/>
              <a:ahLst/>
              <a:cxnLst/>
              <a:rect l="l" t="t" r="r" b="b"/>
              <a:pathLst>
                <a:path w="50800" h="640080">
                  <a:moveTo>
                    <a:pt x="0" y="640079"/>
                  </a:moveTo>
                  <a:lnTo>
                    <a:pt x="50292" y="640079"/>
                  </a:lnTo>
                  <a:lnTo>
                    <a:pt x="50292" y="0"/>
                  </a:lnTo>
                  <a:lnTo>
                    <a:pt x="0" y="0"/>
                  </a:lnTo>
                  <a:lnTo>
                    <a:pt x="0" y="640079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30961" y="1181780"/>
            <a:ext cx="3411854" cy="514984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5730">
              <a:lnSpc>
                <a:spcPct val="100000"/>
              </a:lnSpc>
              <a:spcBef>
                <a:spcPts val="540"/>
              </a:spcBef>
            </a:pPr>
            <a:r>
              <a:rPr sz="800" dirty="0">
                <a:solidFill>
                  <a:srgbClr val="8787AA"/>
                </a:solidFill>
                <a:latin typeface="Trebuchet MS"/>
                <a:cs typeface="Trebuchet MS"/>
              </a:rPr>
              <a:t>Team</a:t>
            </a:r>
            <a:r>
              <a:rPr sz="800" spc="-40" dirty="0">
                <a:solidFill>
                  <a:srgbClr val="8787AA"/>
                </a:solidFill>
                <a:latin typeface="Trebuchet MS"/>
                <a:cs typeface="Trebuchet MS"/>
              </a:rPr>
              <a:t> </a:t>
            </a:r>
            <a:r>
              <a:rPr sz="800" spc="-20" dirty="0">
                <a:solidFill>
                  <a:srgbClr val="8787AA"/>
                </a:solidFill>
                <a:latin typeface="Trebuchet MS"/>
                <a:cs typeface="Trebuchet MS"/>
              </a:rPr>
              <a:t>Name</a:t>
            </a:r>
            <a:endParaRPr sz="800">
              <a:latin typeface="Trebuchet MS"/>
              <a:cs typeface="Trebuchet MS"/>
            </a:endParaRPr>
          </a:p>
          <a:p>
            <a:pPr marL="125730">
              <a:lnSpc>
                <a:spcPct val="100000"/>
              </a:lnSpc>
              <a:spcBef>
                <a:spcPts val="770"/>
              </a:spcBef>
            </a:pPr>
            <a:r>
              <a:rPr sz="1400" b="1" dirty="0">
                <a:solidFill>
                  <a:srgbClr val="FFFFFF"/>
                </a:solidFill>
                <a:latin typeface="Trebuchet MS"/>
                <a:cs typeface="Trebuchet MS"/>
              </a:rPr>
              <a:t>[Team Name]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803903" y="1097280"/>
            <a:ext cx="5157470" cy="859790"/>
            <a:chOff x="3803903" y="1097280"/>
            <a:chExt cx="5157470" cy="85979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03903" y="1097280"/>
              <a:ext cx="5157215" cy="85953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931919" y="1188720"/>
              <a:ext cx="4937760" cy="640080"/>
            </a:xfrm>
            <a:custGeom>
              <a:avLst/>
              <a:gdLst/>
              <a:ahLst/>
              <a:cxnLst/>
              <a:rect l="l" t="t" r="r" b="b"/>
              <a:pathLst>
                <a:path w="4937759" h="640080">
                  <a:moveTo>
                    <a:pt x="4937760" y="0"/>
                  </a:moveTo>
                  <a:lnTo>
                    <a:pt x="0" y="0"/>
                  </a:lnTo>
                  <a:lnTo>
                    <a:pt x="0" y="640079"/>
                  </a:lnTo>
                  <a:lnTo>
                    <a:pt x="4937760" y="640079"/>
                  </a:lnTo>
                  <a:lnTo>
                    <a:pt x="4937760" y="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931919" y="1188720"/>
              <a:ext cx="4937760" cy="640080"/>
            </a:xfrm>
            <a:custGeom>
              <a:avLst/>
              <a:gdLst/>
              <a:ahLst/>
              <a:cxnLst/>
              <a:rect l="l" t="t" r="r" b="b"/>
              <a:pathLst>
                <a:path w="4937759" h="640080">
                  <a:moveTo>
                    <a:pt x="0" y="640079"/>
                  </a:moveTo>
                  <a:lnTo>
                    <a:pt x="4937760" y="640079"/>
                  </a:lnTo>
                  <a:lnTo>
                    <a:pt x="4937760" y="0"/>
                  </a:lnTo>
                  <a:lnTo>
                    <a:pt x="0" y="0"/>
                  </a:lnTo>
                  <a:lnTo>
                    <a:pt x="0" y="640079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931919" y="1188720"/>
              <a:ext cx="50800" cy="640080"/>
            </a:xfrm>
            <a:custGeom>
              <a:avLst/>
              <a:gdLst/>
              <a:ahLst/>
              <a:cxnLst/>
              <a:rect l="l" t="t" r="r" b="b"/>
              <a:pathLst>
                <a:path w="50800" h="640080">
                  <a:moveTo>
                    <a:pt x="50291" y="0"/>
                  </a:moveTo>
                  <a:lnTo>
                    <a:pt x="0" y="0"/>
                  </a:lnTo>
                  <a:lnTo>
                    <a:pt x="0" y="640079"/>
                  </a:lnTo>
                  <a:lnTo>
                    <a:pt x="50291" y="640079"/>
                  </a:lnTo>
                  <a:lnTo>
                    <a:pt x="50291" y="0"/>
                  </a:lnTo>
                  <a:close/>
                </a:path>
              </a:pathLst>
            </a:custGeom>
            <a:solidFill>
              <a:srgbClr val="00C7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931919" y="1188720"/>
              <a:ext cx="50800" cy="640080"/>
            </a:xfrm>
            <a:custGeom>
              <a:avLst/>
              <a:gdLst/>
              <a:ahLst/>
              <a:cxnLst/>
              <a:rect l="l" t="t" r="r" b="b"/>
              <a:pathLst>
                <a:path w="50800" h="640080">
                  <a:moveTo>
                    <a:pt x="0" y="640079"/>
                  </a:moveTo>
                  <a:lnTo>
                    <a:pt x="50291" y="640079"/>
                  </a:lnTo>
                  <a:lnTo>
                    <a:pt x="50291" y="0"/>
                  </a:lnTo>
                  <a:lnTo>
                    <a:pt x="0" y="0"/>
                  </a:lnTo>
                  <a:lnTo>
                    <a:pt x="0" y="640079"/>
                  </a:lnTo>
                  <a:close/>
                </a:path>
              </a:pathLst>
            </a:custGeom>
            <a:ln w="12699">
              <a:solidFill>
                <a:srgbClr val="00C7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988561" y="1171505"/>
            <a:ext cx="4874895" cy="518159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620"/>
              </a:spcBef>
            </a:pPr>
            <a:r>
              <a:rPr sz="800" dirty="0">
                <a:solidFill>
                  <a:srgbClr val="8787AA"/>
                </a:solidFill>
                <a:latin typeface="Trebuchet MS"/>
                <a:cs typeface="Trebuchet MS"/>
              </a:rPr>
              <a:t>Track</a:t>
            </a:r>
            <a:r>
              <a:rPr sz="800" spc="-35" dirty="0">
                <a:solidFill>
                  <a:srgbClr val="8787AA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8787AA"/>
                </a:solidFill>
                <a:latin typeface="Trebuchet MS"/>
                <a:cs typeface="Trebuchet MS"/>
              </a:rPr>
              <a:t>/</a:t>
            </a:r>
            <a:r>
              <a:rPr sz="800" spc="-15" dirty="0">
                <a:solidFill>
                  <a:srgbClr val="8787AA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8787AA"/>
                </a:solidFill>
                <a:latin typeface="Trebuchet MS"/>
                <a:cs typeface="Trebuchet MS"/>
              </a:rPr>
              <a:t>Category</a:t>
            </a:r>
            <a:endParaRPr sz="800">
              <a:latin typeface="Trebuchet MS"/>
              <a:cs typeface="Trebuchet MS"/>
            </a:endParaRPr>
          </a:p>
          <a:p>
            <a:pPr marL="126364">
              <a:lnSpc>
                <a:spcPct val="100000"/>
              </a:lnSpc>
              <a:spcBef>
                <a:spcPts val="835"/>
              </a:spcBef>
            </a:pP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AI / HealthTech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8100" y="1926335"/>
            <a:ext cx="9042400" cy="2882265"/>
            <a:chOff x="38100" y="1926335"/>
            <a:chExt cx="9042400" cy="2882265"/>
          </a:xfrm>
        </p:grpSpPr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100" y="1930907"/>
              <a:ext cx="1956816" cy="287121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66166" y="2077719"/>
              <a:ext cx="1737360" cy="2597150"/>
            </a:xfrm>
            <a:custGeom>
              <a:avLst/>
              <a:gdLst/>
              <a:ahLst/>
              <a:cxnLst/>
              <a:rect l="l" t="t" r="r" b="b"/>
              <a:pathLst>
                <a:path w="1737360" h="2597150">
                  <a:moveTo>
                    <a:pt x="0" y="2596934"/>
                  </a:moveTo>
                  <a:lnTo>
                    <a:pt x="1737360" y="2596934"/>
                  </a:lnTo>
                  <a:lnTo>
                    <a:pt x="1737360" y="0"/>
                  </a:lnTo>
                  <a:lnTo>
                    <a:pt x="0" y="0"/>
                  </a:lnTo>
                  <a:lnTo>
                    <a:pt x="0" y="2596934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9709" y="2155824"/>
              <a:ext cx="915035" cy="914400"/>
            </a:xfrm>
            <a:custGeom>
              <a:avLst/>
              <a:gdLst/>
              <a:ahLst/>
              <a:cxnLst/>
              <a:rect l="l" t="t" r="r" b="b"/>
              <a:pathLst>
                <a:path w="915035" h="914400">
                  <a:moveTo>
                    <a:pt x="457199" y="0"/>
                  </a:moveTo>
                  <a:lnTo>
                    <a:pt x="410452" y="2360"/>
                  </a:lnTo>
                  <a:lnTo>
                    <a:pt x="365055" y="9289"/>
                  </a:lnTo>
                  <a:lnTo>
                    <a:pt x="321239" y="20557"/>
                  </a:lnTo>
                  <a:lnTo>
                    <a:pt x="279233" y="35933"/>
                  </a:lnTo>
                  <a:lnTo>
                    <a:pt x="239267" y="55187"/>
                  </a:lnTo>
                  <a:lnTo>
                    <a:pt x="201570" y="78090"/>
                  </a:lnTo>
                  <a:lnTo>
                    <a:pt x="166374" y="104411"/>
                  </a:lnTo>
                  <a:lnTo>
                    <a:pt x="133907" y="133921"/>
                  </a:lnTo>
                  <a:lnTo>
                    <a:pt x="104399" y="166390"/>
                  </a:lnTo>
                  <a:lnTo>
                    <a:pt x="78080" y="201587"/>
                  </a:lnTo>
                  <a:lnTo>
                    <a:pt x="55179" y="239283"/>
                  </a:lnTo>
                  <a:lnTo>
                    <a:pt x="35927" y="279249"/>
                  </a:lnTo>
                  <a:lnTo>
                    <a:pt x="20553" y="321253"/>
                  </a:lnTo>
                  <a:lnTo>
                    <a:pt x="9288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8" y="549333"/>
                  </a:lnTo>
                  <a:lnTo>
                    <a:pt x="20553" y="593146"/>
                  </a:lnTo>
                  <a:lnTo>
                    <a:pt x="35927" y="635150"/>
                  </a:lnTo>
                  <a:lnTo>
                    <a:pt x="55179" y="675116"/>
                  </a:lnTo>
                  <a:lnTo>
                    <a:pt x="78080" y="712812"/>
                  </a:lnTo>
                  <a:lnTo>
                    <a:pt x="104399" y="748009"/>
                  </a:lnTo>
                  <a:lnTo>
                    <a:pt x="133907" y="780478"/>
                  </a:lnTo>
                  <a:lnTo>
                    <a:pt x="166374" y="809988"/>
                  </a:lnTo>
                  <a:lnTo>
                    <a:pt x="201570" y="836309"/>
                  </a:lnTo>
                  <a:lnTo>
                    <a:pt x="239267" y="859212"/>
                  </a:lnTo>
                  <a:lnTo>
                    <a:pt x="279233" y="878466"/>
                  </a:lnTo>
                  <a:lnTo>
                    <a:pt x="321239" y="893842"/>
                  </a:lnTo>
                  <a:lnTo>
                    <a:pt x="365055" y="905110"/>
                  </a:lnTo>
                  <a:lnTo>
                    <a:pt x="410452" y="912039"/>
                  </a:lnTo>
                  <a:lnTo>
                    <a:pt x="457199" y="914400"/>
                  </a:lnTo>
                  <a:lnTo>
                    <a:pt x="503943" y="912039"/>
                  </a:lnTo>
                  <a:lnTo>
                    <a:pt x="549337" y="905110"/>
                  </a:lnTo>
                  <a:lnTo>
                    <a:pt x="593152" y="893842"/>
                  </a:lnTo>
                  <a:lnTo>
                    <a:pt x="635158" y="878466"/>
                  </a:lnTo>
                  <a:lnTo>
                    <a:pt x="675124" y="859212"/>
                  </a:lnTo>
                  <a:lnTo>
                    <a:pt x="712821" y="836309"/>
                  </a:lnTo>
                  <a:lnTo>
                    <a:pt x="748020" y="809988"/>
                  </a:lnTo>
                  <a:lnTo>
                    <a:pt x="780489" y="780478"/>
                  </a:lnTo>
                  <a:lnTo>
                    <a:pt x="810000" y="748009"/>
                  </a:lnTo>
                  <a:lnTo>
                    <a:pt x="836321" y="712812"/>
                  </a:lnTo>
                  <a:lnTo>
                    <a:pt x="859224" y="675116"/>
                  </a:lnTo>
                  <a:lnTo>
                    <a:pt x="878479" y="635150"/>
                  </a:lnTo>
                  <a:lnTo>
                    <a:pt x="893855" y="593146"/>
                  </a:lnTo>
                  <a:lnTo>
                    <a:pt x="905122" y="549333"/>
                  </a:lnTo>
                  <a:lnTo>
                    <a:pt x="912051" y="503941"/>
                  </a:lnTo>
                  <a:lnTo>
                    <a:pt x="914412" y="457200"/>
                  </a:lnTo>
                  <a:lnTo>
                    <a:pt x="912051" y="410458"/>
                  </a:lnTo>
                  <a:lnTo>
                    <a:pt x="905122" y="365066"/>
                  </a:lnTo>
                  <a:lnTo>
                    <a:pt x="893855" y="321253"/>
                  </a:lnTo>
                  <a:lnTo>
                    <a:pt x="878479" y="279249"/>
                  </a:lnTo>
                  <a:lnTo>
                    <a:pt x="859224" y="239283"/>
                  </a:lnTo>
                  <a:lnTo>
                    <a:pt x="836321" y="201587"/>
                  </a:lnTo>
                  <a:lnTo>
                    <a:pt x="810000" y="166390"/>
                  </a:lnTo>
                  <a:lnTo>
                    <a:pt x="780489" y="133921"/>
                  </a:lnTo>
                  <a:lnTo>
                    <a:pt x="748020" y="104411"/>
                  </a:lnTo>
                  <a:lnTo>
                    <a:pt x="712821" y="78090"/>
                  </a:lnTo>
                  <a:lnTo>
                    <a:pt x="675124" y="55187"/>
                  </a:lnTo>
                  <a:lnTo>
                    <a:pt x="635158" y="35933"/>
                  </a:lnTo>
                  <a:lnTo>
                    <a:pt x="593152" y="20557"/>
                  </a:lnTo>
                  <a:lnTo>
                    <a:pt x="549337" y="9289"/>
                  </a:lnTo>
                  <a:lnTo>
                    <a:pt x="503943" y="2360"/>
                  </a:lnTo>
                  <a:lnTo>
                    <a:pt x="457199" y="0"/>
                  </a:lnTo>
                  <a:close/>
                </a:path>
              </a:pathLst>
            </a:custGeom>
            <a:solidFill>
              <a:srgbClr val="2A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69709" y="2155824"/>
              <a:ext cx="915035" cy="914400"/>
            </a:xfrm>
            <a:custGeom>
              <a:avLst/>
              <a:gdLst/>
              <a:ahLst/>
              <a:cxnLst/>
              <a:rect l="l" t="t" r="r" b="b"/>
              <a:pathLst>
                <a:path w="915035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8" y="365066"/>
                  </a:lnTo>
                  <a:lnTo>
                    <a:pt x="20553" y="321253"/>
                  </a:lnTo>
                  <a:lnTo>
                    <a:pt x="35927" y="279249"/>
                  </a:lnTo>
                  <a:lnTo>
                    <a:pt x="55179" y="239283"/>
                  </a:lnTo>
                  <a:lnTo>
                    <a:pt x="78080" y="201587"/>
                  </a:lnTo>
                  <a:lnTo>
                    <a:pt x="104399" y="166390"/>
                  </a:lnTo>
                  <a:lnTo>
                    <a:pt x="133907" y="133921"/>
                  </a:lnTo>
                  <a:lnTo>
                    <a:pt x="166374" y="104411"/>
                  </a:lnTo>
                  <a:lnTo>
                    <a:pt x="201570" y="78090"/>
                  </a:lnTo>
                  <a:lnTo>
                    <a:pt x="239267" y="55187"/>
                  </a:lnTo>
                  <a:lnTo>
                    <a:pt x="279233" y="35933"/>
                  </a:lnTo>
                  <a:lnTo>
                    <a:pt x="321239" y="20557"/>
                  </a:lnTo>
                  <a:lnTo>
                    <a:pt x="365055" y="9289"/>
                  </a:lnTo>
                  <a:lnTo>
                    <a:pt x="410452" y="2360"/>
                  </a:lnTo>
                  <a:lnTo>
                    <a:pt x="457199" y="0"/>
                  </a:lnTo>
                  <a:lnTo>
                    <a:pt x="503943" y="2360"/>
                  </a:lnTo>
                  <a:lnTo>
                    <a:pt x="549337" y="9289"/>
                  </a:lnTo>
                  <a:lnTo>
                    <a:pt x="593152" y="20557"/>
                  </a:lnTo>
                  <a:lnTo>
                    <a:pt x="635158" y="35933"/>
                  </a:lnTo>
                  <a:lnTo>
                    <a:pt x="675124" y="55187"/>
                  </a:lnTo>
                  <a:lnTo>
                    <a:pt x="712821" y="78090"/>
                  </a:lnTo>
                  <a:lnTo>
                    <a:pt x="748020" y="104411"/>
                  </a:lnTo>
                  <a:lnTo>
                    <a:pt x="780489" y="133921"/>
                  </a:lnTo>
                  <a:lnTo>
                    <a:pt x="810000" y="166390"/>
                  </a:lnTo>
                  <a:lnTo>
                    <a:pt x="836321" y="201587"/>
                  </a:lnTo>
                  <a:lnTo>
                    <a:pt x="859224" y="239283"/>
                  </a:lnTo>
                  <a:lnTo>
                    <a:pt x="878479" y="279249"/>
                  </a:lnTo>
                  <a:lnTo>
                    <a:pt x="893855" y="321253"/>
                  </a:lnTo>
                  <a:lnTo>
                    <a:pt x="905122" y="365066"/>
                  </a:lnTo>
                  <a:lnTo>
                    <a:pt x="912051" y="410458"/>
                  </a:lnTo>
                  <a:lnTo>
                    <a:pt x="914412" y="457200"/>
                  </a:lnTo>
                  <a:lnTo>
                    <a:pt x="912051" y="503941"/>
                  </a:lnTo>
                  <a:lnTo>
                    <a:pt x="905122" y="549333"/>
                  </a:lnTo>
                  <a:lnTo>
                    <a:pt x="893855" y="593146"/>
                  </a:lnTo>
                  <a:lnTo>
                    <a:pt x="878479" y="635150"/>
                  </a:lnTo>
                  <a:lnTo>
                    <a:pt x="859224" y="675116"/>
                  </a:lnTo>
                  <a:lnTo>
                    <a:pt x="836321" y="712812"/>
                  </a:lnTo>
                  <a:lnTo>
                    <a:pt x="810000" y="748009"/>
                  </a:lnTo>
                  <a:lnTo>
                    <a:pt x="780489" y="780478"/>
                  </a:lnTo>
                  <a:lnTo>
                    <a:pt x="748020" y="809988"/>
                  </a:lnTo>
                  <a:lnTo>
                    <a:pt x="712821" y="836309"/>
                  </a:lnTo>
                  <a:lnTo>
                    <a:pt x="675124" y="859212"/>
                  </a:lnTo>
                  <a:lnTo>
                    <a:pt x="635158" y="878466"/>
                  </a:lnTo>
                  <a:lnTo>
                    <a:pt x="593152" y="893842"/>
                  </a:lnTo>
                  <a:lnTo>
                    <a:pt x="549337" y="905110"/>
                  </a:lnTo>
                  <a:lnTo>
                    <a:pt x="503943" y="912039"/>
                  </a:lnTo>
                  <a:lnTo>
                    <a:pt x="457199" y="914400"/>
                  </a:lnTo>
                  <a:lnTo>
                    <a:pt x="410452" y="912039"/>
                  </a:lnTo>
                  <a:lnTo>
                    <a:pt x="365055" y="905110"/>
                  </a:lnTo>
                  <a:lnTo>
                    <a:pt x="321239" y="893842"/>
                  </a:lnTo>
                  <a:lnTo>
                    <a:pt x="279233" y="878466"/>
                  </a:lnTo>
                  <a:lnTo>
                    <a:pt x="239267" y="859212"/>
                  </a:lnTo>
                  <a:lnTo>
                    <a:pt x="201570" y="836309"/>
                  </a:lnTo>
                  <a:lnTo>
                    <a:pt x="166374" y="809988"/>
                  </a:lnTo>
                  <a:lnTo>
                    <a:pt x="133907" y="780478"/>
                  </a:lnTo>
                  <a:lnTo>
                    <a:pt x="104399" y="748009"/>
                  </a:lnTo>
                  <a:lnTo>
                    <a:pt x="78080" y="712812"/>
                  </a:lnTo>
                  <a:lnTo>
                    <a:pt x="55179" y="675116"/>
                  </a:lnTo>
                  <a:lnTo>
                    <a:pt x="35927" y="635150"/>
                  </a:lnTo>
                  <a:lnTo>
                    <a:pt x="20553" y="593146"/>
                  </a:lnTo>
                  <a:lnTo>
                    <a:pt x="9288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1905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21652" y="1926335"/>
              <a:ext cx="1958340" cy="287121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250176" y="2072893"/>
              <a:ext cx="1737360" cy="2597150"/>
            </a:xfrm>
            <a:custGeom>
              <a:avLst/>
              <a:gdLst/>
              <a:ahLst/>
              <a:cxnLst/>
              <a:rect l="l" t="t" r="r" b="b"/>
              <a:pathLst>
                <a:path w="1737359" h="2597150">
                  <a:moveTo>
                    <a:pt x="0" y="2596845"/>
                  </a:moveTo>
                  <a:lnTo>
                    <a:pt x="1737360" y="2596845"/>
                  </a:lnTo>
                  <a:lnTo>
                    <a:pt x="1737360" y="0"/>
                  </a:lnTo>
                  <a:lnTo>
                    <a:pt x="0" y="0"/>
                  </a:lnTo>
                  <a:lnTo>
                    <a:pt x="0" y="2596845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653655" y="215087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62"/>
                  </a:lnTo>
                  <a:lnTo>
                    <a:pt x="9289" y="549370"/>
                  </a:lnTo>
                  <a:lnTo>
                    <a:pt x="20557" y="593193"/>
                  </a:lnTo>
                  <a:lnTo>
                    <a:pt x="35933" y="635204"/>
                  </a:lnTo>
                  <a:lnTo>
                    <a:pt x="55187" y="675172"/>
                  </a:lnTo>
                  <a:lnTo>
                    <a:pt x="78090" y="712868"/>
                  </a:lnTo>
                  <a:lnTo>
                    <a:pt x="104411" y="748062"/>
                  </a:lnTo>
                  <a:lnTo>
                    <a:pt x="133921" y="780526"/>
                  </a:lnTo>
                  <a:lnTo>
                    <a:pt x="166390" y="810029"/>
                  </a:lnTo>
                  <a:lnTo>
                    <a:pt x="201587" y="836343"/>
                  </a:lnTo>
                  <a:lnTo>
                    <a:pt x="239283" y="859238"/>
                  </a:lnTo>
                  <a:lnTo>
                    <a:pt x="279249" y="878484"/>
                  </a:lnTo>
                  <a:lnTo>
                    <a:pt x="321253" y="893853"/>
                  </a:lnTo>
                  <a:lnTo>
                    <a:pt x="365066" y="905115"/>
                  </a:lnTo>
                  <a:lnTo>
                    <a:pt x="410458" y="912040"/>
                  </a:lnTo>
                  <a:lnTo>
                    <a:pt x="457200" y="914400"/>
                  </a:lnTo>
                  <a:lnTo>
                    <a:pt x="503941" y="912040"/>
                  </a:lnTo>
                  <a:lnTo>
                    <a:pt x="549333" y="905115"/>
                  </a:lnTo>
                  <a:lnTo>
                    <a:pt x="593146" y="893853"/>
                  </a:lnTo>
                  <a:lnTo>
                    <a:pt x="635150" y="878484"/>
                  </a:lnTo>
                  <a:lnTo>
                    <a:pt x="675116" y="859238"/>
                  </a:lnTo>
                  <a:lnTo>
                    <a:pt x="712812" y="836343"/>
                  </a:lnTo>
                  <a:lnTo>
                    <a:pt x="748009" y="810029"/>
                  </a:lnTo>
                  <a:lnTo>
                    <a:pt x="780478" y="780526"/>
                  </a:lnTo>
                  <a:lnTo>
                    <a:pt x="809988" y="748062"/>
                  </a:lnTo>
                  <a:lnTo>
                    <a:pt x="836309" y="712868"/>
                  </a:lnTo>
                  <a:lnTo>
                    <a:pt x="859212" y="675172"/>
                  </a:lnTo>
                  <a:lnTo>
                    <a:pt x="878466" y="635204"/>
                  </a:lnTo>
                  <a:lnTo>
                    <a:pt x="893842" y="593193"/>
                  </a:lnTo>
                  <a:lnTo>
                    <a:pt x="905110" y="549370"/>
                  </a:lnTo>
                  <a:lnTo>
                    <a:pt x="912039" y="503962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2A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653655" y="215087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62"/>
                  </a:lnTo>
                  <a:lnTo>
                    <a:pt x="905110" y="549370"/>
                  </a:lnTo>
                  <a:lnTo>
                    <a:pt x="893842" y="593193"/>
                  </a:lnTo>
                  <a:lnTo>
                    <a:pt x="878466" y="635204"/>
                  </a:lnTo>
                  <a:lnTo>
                    <a:pt x="859212" y="675172"/>
                  </a:lnTo>
                  <a:lnTo>
                    <a:pt x="836309" y="712868"/>
                  </a:lnTo>
                  <a:lnTo>
                    <a:pt x="809988" y="748062"/>
                  </a:lnTo>
                  <a:lnTo>
                    <a:pt x="780478" y="780526"/>
                  </a:lnTo>
                  <a:lnTo>
                    <a:pt x="748009" y="810029"/>
                  </a:lnTo>
                  <a:lnTo>
                    <a:pt x="712812" y="836343"/>
                  </a:lnTo>
                  <a:lnTo>
                    <a:pt x="675116" y="859238"/>
                  </a:lnTo>
                  <a:lnTo>
                    <a:pt x="635150" y="878484"/>
                  </a:lnTo>
                  <a:lnTo>
                    <a:pt x="593146" y="893853"/>
                  </a:lnTo>
                  <a:lnTo>
                    <a:pt x="549333" y="905115"/>
                  </a:lnTo>
                  <a:lnTo>
                    <a:pt x="503941" y="912040"/>
                  </a:lnTo>
                  <a:lnTo>
                    <a:pt x="457200" y="914400"/>
                  </a:lnTo>
                  <a:lnTo>
                    <a:pt x="410458" y="912040"/>
                  </a:lnTo>
                  <a:lnTo>
                    <a:pt x="365066" y="905115"/>
                  </a:lnTo>
                  <a:lnTo>
                    <a:pt x="321253" y="893853"/>
                  </a:lnTo>
                  <a:lnTo>
                    <a:pt x="279249" y="878484"/>
                  </a:lnTo>
                  <a:lnTo>
                    <a:pt x="239283" y="859238"/>
                  </a:lnTo>
                  <a:lnTo>
                    <a:pt x="201587" y="836343"/>
                  </a:lnTo>
                  <a:lnTo>
                    <a:pt x="166390" y="810029"/>
                  </a:lnTo>
                  <a:lnTo>
                    <a:pt x="133921" y="780526"/>
                  </a:lnTo>
                  <a:lnTo>
                    <a:pt x="104411" y="748062"/>
                  </a:lnTo>
                  <a:lnTo>
                    <a:pt x="78090" y="712868"/>
                  </a:lnTo>
                  <a:lnTo>
                    <a:pt x="55187" y="675172"/>
                  </a:lnTo>
                  <a:lnTo>
                    <a:pt x="35933" y="635204"/>
                  </a:lnTo>
                  <a:lnTo>
                    <a:pt x="20557" y="593193"/>
                  </a:lnTo>
                  <a:lnTo>
                    <a:pt x="9289" y="549370"/>
                  </a:lnTo>
                  <a:lnTo>
                    <a:pt x="2360" y="503962"/>
                  </a:lnTo>
                  <a:lnTo>
                    <a:pt x="0" y="457200"/>
                  </a:lnTo>
                  <a:close/>
                </a:path>
              </a:pathLst>
            </a:custGeom>
            <a:ln w="1905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47715" y="1930907"/>
              <a:ext cx="1956815" cy="287121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475478" y="2077719"/>
              <a:ext cx="1737360" cy="2597150"/>
            </a:xfrm>
            <a:custGeom>
              <a:avLst/>
              <a:gdLst/>
              <a:ahLst/>
              <a:cxnLst/>
              <a:rect l="l" t="t" r="r" b="b"/>
              <a:pathLst>
                <a:path w="1737359" h="2597150">
                  <a:moveTo>
                    <a:pt x="0" y="2596934"/>
                  </a:moveTo>
                  <a:lnTo>
                    <a:pt x="1737360" y="2596934"/>
                  </a:lnTo>
                  <a:lnTo>
                    <a:pt x="1737360" y="0"/>
                  </a:lnTo>
                  <a:lnTo>
                    <a:pt x="0" y="0"/>
                  </a:lnTo>
                  <a:lnTo>
                    <a:pt x="0" y="2596934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878957" y="2155824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399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2A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878957" y="2155824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399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19049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82923" y="1935479"/>
              <a:ext cx="1956816" cy="287274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710559" y="2082672"/>
              <a:ext cx="1737360" cy="2597150"/>
            </a:xfrm>
            <a:custGeom>
              <a:avLst/>
              <a:gdLst/>
              <a:ahLst/>
              <a:cxnLst/>
              <a:rect l="l" t="t" r="r" b="b"/>
              <a:pathLst>
                <a:path w="1737360" h="2597150">
                  <a:moveTo>
                    <a:pt x="0" y="2596908"/>
                  </a:moveTo>
                  <a:lnTo>
                    <a:pt x="1737360" y="2596908"/>
                  </a:lnTo>
                  <a:lnTo>
                    <a:pt x="1737360" y="0"/>
                  </a:lnTo>
                  <a:lnTo>
                    <a:pt x="0" y="0"/>
                  </a:lnTo>
                  <a:lnTo>
                    <a:pt x="0" y="2596908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114165" y="2160777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2A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114165" y="2160777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1905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07464" y="1930907"/>
              <a:ext cx="1958339" cy="2871216"/>
            </a:xfrm>
            <a:prstGeom prst="rect">
              <a:avLst/>
            </a:prstGeom>
          </p:spPr>
        </p:pic>
      </p:grpSp>
      <p:grpSp>
        <p:nvGrpSpPr>
          <p:cNvPr id="44" name="object 44"/>
          <p:cNvGrpSpPr/>
          <p:nvPr/>
        </p:nvGrpSpPr>
        <p:grpSpPr>
          <a:xfrm>
            <a:off x="1935988" y="2077720"/>
            <a:ext cx="1737360" cy="2597150"/>
            <a:chOff x="1935988" y="2077720"/>
            <a:chExt cx="1737360" cy="2597150"/>
          </a:xfrm>
        </p:grpSpPr>
        <p:sp>
          <p:nvSpPr>
            <p:cNvPr id="45" name="object 45"/>
            <p:cNvSpPr/>
            <p:nvPr/>
          </p:nvSpPr>
          <p:spPr>
            <a:xfrm>
              <a:off x="1935988" y="2077720"/>
              <a:ext cx="1737360" cy="2597150"/>
            </a:xfrm>
            <a:custGeom>
              <a:avLst/>
              <a:gdLst/>
              <a:ahLst/>
              <a:cxnLst/>
              <a:rect l="l" t="t" r="r" b="b"/>
              <a:pathLst>
                <a:path w="1737360" h="2597150">
                  <a:moveTo>
                    <a:pt x="0" y="2596946"/>
                  </a:moveTo>
                  <a:lnTo>
                    <a:pt x="1737360" y="2596946"/>
                  </a:lnTo>
                  <a:lnTo>
                    <a:pt x="1737360" y="0"/>
                  </a:lnTo>
                  <a:lnTo>
                    <a:pt x="0" y="0"/>
                  </a:lnTo>
                  <a:lnTo>
                    <a:pt x="0" y="2596946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339467" y="2155825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399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2A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339467" y="2155825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399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1905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8" name="object 48"/>
          <p:cNvGraphicFramePr>
            <a:graphicFrameLocks noGrp="1"/>
          </p:cNvGraphicFramePr>
          <p:nvPr/>
        </p:nvGraphicFramePr>
        <p:xfrm>
          <a:off x="159816" y="2014067"/>
          <a:ext cx="8821419" cy="26257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3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2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9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9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92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2476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solidFill>
                            <a:srgbClr val="8787AA"/>
                          </a:solidFill>
                          <a:latin typeface="Trebuchet MS"/>
                          <a:cs typeface="Trebuchet MS"/>
                        </a:rPr>
                        <a:t>PHOTO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2A2A44"/>
                      </a:solidFill>
                      <a:prstDash val="solid"/>
                    </a:lnL>
                    <a:lnR w="12700">
                      <a:solidFill>
                        <a:srgbClr val="2A2A44"/>
                      </a:solidFill>
                      <a:prstDash val="solid"/>
                    </a:lnR>
                    <a:lnT w="76200">
                      <a:solidFill>
                        <a:srgbClr val="F5A62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1079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solidFill>
                            <a:srgbClr val="8787AA"/>
                          </a:solidFill>
                          <a:latin typeface="Trebuchet MS"/>
                          <a:cs typeface="Trebuchet MS"/>
                        </a:rPr>
                        <a:t>PHOTO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2A2A44"/>
                      </a:solidFill>
                      <a:prstDash val="solid"/>
                    </a:lnL>
                    <a:lnR w="12700">
                      <a:solidFill>
                        <a:srgbClr val="2A2A44"/>
                      </a:solidFill>
                      <a:prstDash val="solid"/>
                    </a:lnR>
                    <a:lnT w="76200">
                      <a:solidFill>
                        <a:srgbClr val="F5A62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175"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8787AA"/>
                          </a:solidFill>
                          <a:latin typeface="Trebuchet MS"/>
                          <a:cs typeface="Trebuchet MS"/>
                        </a:rPr>
                        <a:t>PHOTO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2A2A44"/>
                      </a:solidFill>
                      <a:prstDash val="solid"/>
                    </a:lnL>
                    <a:lnR w="12700">
                      <a:solidFill>
                        <a:srgbClr val="2A2A44"/>
                      </a:solidFill>
                      <a:prstDash val="solid"/>
                    </a:lnR>
                    <a:lnT w="76200">
                      <a:solidFill>
                        <a:srgbClr val="F5A62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1206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solidFill>
                            <a:srgbClr val="8787AA"/>
                          </a:solidFill>
                          <a:latin typeface="Trebuchet MS"/>
                          <a:cs typeface="Trebuchet MS"/>
                        </a:rPr>
                        <a:t>PHOTO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2A2A44"/>
                      </a:solidFill>
                      <a:prstDash val="solid"/>
                    </a:lnL>
                    <a:lnR w="12700">
                      <a:solidFill>
                        <a:srgbClr val="2A2A44"/>
                      </a:solidFill>
                      <a:prstDash val="solid"/>
                    </a:lnR>
                    <a:lnT w="76200">
                      <a:solidFill>
                        <a:srgbClr val="F5A62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8787AA"/>
                          </a:solidFill>
                          <a:latin typeface="Trebuchet MS"/>
                          <a:cs typeface="Trebuchet MS"/>
                        </a:rPr>
                        <a:t>PHOTO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2A2A44"/>
                      </a:solidFill>
                      <a:prstDash val="solid"/>
                    </a:lnL>
                    <a:lnR w="12700">
                      <a:solidFill>
                        <a:srgbClr val="2A2A44"/>
                      </a:solidFill>
                      <a:prstDash val="solid"/>
                    </a:lnR>
                    <a:lnT w="76200">
                      <a:solidFill>
                        <a:srgbClr val="F5A622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08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[Member 1]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2A2A44"/>
                      </a:solidFill>
                      <a:prstDash val="solid"/>
                    </a:lnL>
                    <a:lnR w="12700">
                      <a:solidFill>
                        <a:srgbClr val="2A2A4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968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[Member 2]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2A2A44"/>
                      </a:solidFill>
                      <a:prstDash val="solid"/>
                    </a:lnL>
                    <a:lnR w="12700">
                      <a:solidFill>
                        <a:srgbClr val="2A2A4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7940" algn="ctr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[Member 3]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2A2A44"/>
                      </a:solidFill>
                      <a:prstDash val="solid"/>
                    </a:lnL>
                    <a:lnR w="12700">
                      <a:solidFill>
                        <a:srgbClr val="2A2A4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841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[Member 4]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2A2A44"/>
                      </a:solidFill>
                      <a:prstDash val="solid"/>
                    </a:lnL>
                    <a:lnR w="12700">
                      <a:solidFill>
                        <a:srgbClr val="2A2A4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1910" algn="ctr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[Member 5]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2A2A44"/>
                      </a:solidFill>
                      <a:prstDash val="solid"/>
                    </a:lnL>
                    <a:lnR w="12700">
                      <a:solidFill>
                        <a:srgbClr val="2A2A44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79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850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[Role]</a:t>
                      </a:r>
                      <a:endParaRPr sz="850">
                        <a:latin typeface="Trebuchet MS"/>
                        <a:cs typeface="Trebuchet MS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2A2A44"/>
                      </a:solidFill>
                      <a:prstDash val="solid"/>
                    </a:lnL>
                    <a:lnR w="12700">
                      <a:solidFill>
                        <a:srgbClr val="2A2A4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850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[</a:t>
                      </a:r>
                      <a:r>
                        <a:rPr sz="850" spc="-20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50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Role</a:t>
                      </a:r>
                      <a:r>
                        <a:rPr sz="850" spc="-25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50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850" spc="-15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50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Designation</a:t>
                      </a:r>
                      <a:r>
                        <a:rPr sz="850" spc="-50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 ]</a:t>
                      </a:r>
                      <a:endParaRPr sz="850">
                        <a:latin typeface="Trebuchet MS"/>
                        <a:cs typeface="Trebuchet MS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2A2A44"/>
                      </a:solidFill>
                      <a:prstDash val="solid"/>
                    </a:lnL>
                    <a:lnR w="12700">
                      <a:solidFill>
                        <a:srgbClr val="2A2A4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850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[</a:t>
                      </a:r>
                      <a:r>
                        <a:rPr sz="850" spc="-20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50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Role</a:t>
                      </a:r>
                      <a:r>
                        <a:rPr sz="850" spc="-25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50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850" spc="-15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50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Designation</a:t>
                      </a:r>
                      <a:r>
                        <a:rPr sz="850" spc="-50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 ]</a:t>
                      </a:r>
                      <a:endParaRPr sz="850">
                        <a:latin typeface="Trebuchet MS"/>
                        <a:cs typeface="Trebuchet MS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2A2A44"/>
                      </a:solidFill>
                      <a:prstDash val="solid"/>
                    </a:lnL>
                    <a:lnR w="12700">
                      <a:solidFill>
                        <a:srgbClr val="2A2A4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850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[</a:t>
                      </a:r>
                      <a:r>
                        <a:rPr sz="850" spc="-20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50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Role</a:t>
                      </a:r>
                      <a:r>
                        <a:rPr sz="850" spc="-25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50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850" spc="-15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50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Designation</a:t>
                      </a:r>
                      <a:r>
                        <a:rPr sz="850" spc="-50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 ]</a:t>
                      </a:r>
                      <a:endParaRPr sz="850">
                        <a:latin typeface="Trebuchet MS"/>
                        <a:cs typeface="Trebuchet MS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2A2A44"/>
                      </a:solidFill>
                      <a:prstDash val="solid"/>
                    </a:lnL>
                    <a:lnR w="12700">
                      <a:solidFill>
                        <a:srgbClr val="2A2A4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127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850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[</a:t>
                      </a:r>
                      <a:r>
                        <a:rPr sz="850" spc="-20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50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Role</a:t>
                      </a:r>
                      <a:r>
                        <a:rPr sz="850" spc="-25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50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850" spc="-15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50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Designation</a:t>
                      </a:r>
                      <a:r>
                        <a:rPr sz="850" spc="-50" dirty="0">
                          <a:solidFill>
                            <a:srgbClr val="F5A622"/>
                          </a:solidFill>
                          <a:latin typeface="Trebuchet MS"/>
                          <a:cs typeface="Trebuchet MS"/>
                        </a:rPr>
                        <a:t> ]</a:t>
                      </a:r>
                      <a:endParaRPr sz="850">
                        <a:latin typeface="Trebuchet MS"/>
                        <a:cs typeface="Trebuchet MS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2A2A44"/>
                      </a:solidFill>
                      <a:prstDash val="solid"/>
                    </a:lnL>
                    <a:lnR w="12700">
                      <a:solidFill>
                        <a:srgbClr val="2A2A44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1235">
                <a:tc>
                  <a:txBody>
                    <a:bodyPr/>
                    <a:lstStyle/>
                    <a:p>
                      <a:pPr marL="3721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750" dirty="0">
                          <a:solidFill>
                            <a:srgbClr val="8787AA"/>
                          </a:solidFill>
                          <a:latin typeface="Trebuchet MS"/>
                          <a:cs typeface="Trebuchet MS"/>
                        </a:rPr>
                        <a:t>[email@example.com]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  <a:p>
                      <a:pPr marL="38227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750" dirty="0">
                          <a:solidFill>
                            <a:srgbClr val="E8E8EF"/>
                          </a:solidFill>
                          <a:latin typeface="Trebuchet MS"/>
                          <a:cs typeface="Trebuchet MS"/>
                        </a:rPr>
                        <a:t>[Institution]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2A2A44"/>
                      </a:solidFill>
                      <a:prstDash val="solid"/>
                    </a:lnL>
                    <a:lnR w="12700">
                      <a:solidFill>
                        <a:srgbClr val="2A2A44"/>
                      </a:solidFill>
                      <a:prstDash val="solid"/>
                    </a:lnR>
                    <a:lnB w="12700">
                      <a:solidFill>
                        <a:srgbClr val="2A2A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8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750" dirty="0">
                          <a:solidFill>
                            <a:srgbClr val="8787AA"/>
                          </a:solidFill>
                          <a:latin typeface="Trebuchet MS"/>
                          <a:cs typeface="Trebuchet MS"/>
                        </a:rPr>
                        <a:t>[</a:t>
                      </a:r>
                      <a:r>
                        <a:rPr sz="750" spc="50" dirty="0">
                          <a:solidFill>
                            <a:srgbClr val="8787A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10" dirty="0">
                          <a:solidFill>
                            <a:srgbClr val="8787AA"/>
                          </a:solidFill>
                          <a:latin typeface="Trebuchet MS"/>
                          <a:cs typeface="Trebuchet MS"/>
                          <a:hlinkClick r:id="rId11"/>
                        </a:rPr>
                        <a:t>email@example.com</a:t>
                      </a:r>
                      <a:r>
                        <a:rPr sz="750" spc="25" dirty="0">
                          <a:solidFill>
                            <a:srgbClr val="8787A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50" dirty="0">
                          <a:solidFill>
                            <a:srgbClr val="8787AA"/>
                          </a:solidFill>
                          <a:latin typeface="Trebuchet MS"/>
                          <a:cs typeface="Trebuchet MS"/>
                        </a:rPr>
                        <a:t>]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  <a:p>
                      <a:pPr marL="39941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750" dirty="0">
                          <a:solidFill>
                            <a:srgbClr val="E8E8EF"/>
                          </a:solidFill>
                          <a:latin typeface="Trebuchet MS"/>
                          <a:cs typeface="Trebuchet MS"/>
                        </a:rPr>
                        <a:t>[</a:t>
                      </a:r>
                      <a:r>
                        <a:rPr sz="750" spc="-5" dirty="0">
                          <a:solidFill>
                            <a:srgbClr val="E8E8E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dirty="0">
                          <a:solidFill>
                            <a:srgbClr val="E8E8EF"/>
                          </a:solidFill>
                          <a:latin typeface="Trebuchet MS"/>
                          <a:cs typeface="Trebuchet MS"/>
                        </a:rPr>
                        <a:t>Institution</a:t>
                      </a:r>
                      <a:r>
                        <a:rPr sz="750" spc="-35" dirty="0">
                          <a:solidFill>
                            <a:srgbClr val="E8E8E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dirty="0">
                          <a:solidFill>
                            <a:srgbClr val="E8E8EF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750" spc="-15" dirty="0">
                          <a:solidFill>
                            <a:srgbClr val="E8E8E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dirty="0">
                          <a:solidFill>
                            <a:srgbClr val="E8E8EF"/>
                          </a:solidFill>
                          <a:latin typeface="Trebuchet MS"/>
                          <a:cs typeface="Trebuchet MS"/>
                        </a:rPr>
                        <a:t>College</a:t>
                      </a:r>
                      <a:r>
                        <a:rPr sz="750" spc="-35" dirty="0">
                          <a:solidFill>
                            <a:srgbClr val="E8E8E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50" dirty="0">
                          <a:solidFill>
                            <a:srgbClr val="E8E8EF"/>
                          </a:solidFill>
                          <a:latin typeface="Trebuchet MS"/>
                          <a:cs typeface="Trebuchet MS"/>
                        </a:rPr>
                        <a:t>]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2A2A44"/>
                      </a:solidFill>
                      <a:prstDash val="solid"/>
                    </a:lnL>
                    <a:lnR w="12700">
                      <a:solidFill>
                        <a:srgbClr val="2A2A44"/>
                      </a:solidFill>
                      <a:prstDash val="solid"/>
                    </a:lnR>
                    <a:lnB w="12700">
                      <a:solidFill>
                        <a:srgbClr val="2A2A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1955" marR="355600" indent="-10795">
                        <a:lnSpc>
                          <a:spcPts val="1530"/>
                        </a:lnSpc>
                        <a:spcBef>
                          <a:spcPts val="25"/>
                        </a:spcBef>
                      </a:pPr>
                      <a:r>
                        <a:rPr sz="750" dirty="0">
                          <a:solidFill>
                            <a:srgbClr val="8787AA"/>
                          </a:solidFill>
                          <a:latin typeface="Trebuchet MS"/>
                          <a:cs typeface="Trebuchet MS"/>
                        </a:rPr>
                        <a:t>[email@example.com] · [Institution]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3175" marB="0">
                    <a:lnL w="12700">
                      <a:solidFill>
                        <a:srgbClr val="2A2A44"/>
                      </a:solidFill>
                      <a:prstDash val="solid"/>
                    </a:lnL>
                    <a:lnR w="12700">
                      <a:solidFill>
                        <a:srgbClr val="2A2A44"/>
                      </a:solidFill>
                      <a:prstDash val="solid"/>
                    </a:lnR>
                    <a:lnB w="12700">
                      <a:solidFill>
                        <a:srgbClr val="2A2A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671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750" dirty="0">
                          <a:solidFill>
                            <a:srgbClr val="8787AA"/>
                          </a:solidFill>
                          <a:latin typeface="Trebuchet MS"/>
                          <a:cs typeface="Trebuchet MS"/>
                        </a:rPr>
                        <a:t>[</a:t>
                      </a:r>
                      <a:r>
                        <a:rPr sz="750" spc="50" dirty="0">
                          <a:solidFill>
                            <a:srgbClr val="8787A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10" dirty="0">
                          <a:solidFill>
                            <a:srgbClr val="8787AA"/>
                          </a:solidFill>
                          <a:latin typeface="Trebuchet MS"/>
                          <a:cs typeface="Trebuchet MS"/>
                          <a:hlinkClick r:id="rId11"/>
                        </a:rPr>
                        <a:t>email@example.com</a:t>
                      </a:r>
                      <a:r>
                        <a:rPr sz="750" spc="25" dirty="0">
                          <a:solidFill>
                            <a:srgbClr val="8787A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50" dirty="0">
                          <a:solidFill>
                            <a:srgbClr val="8787AA"/>
                          </a:solidFill>
                          <a:latin typeface="Trebuchet MS"/>
                          <a:cs typeface="Trebuchet MS"/>
                        </a:rPr>
                        <a:t>]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  <a:p>
                      <a:pPr marL="39687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750" dirty="0">
                          <a:solidFill>
                            <a:srgbClr val="E8E8EF"/>
                          </a:solidFill>
                          <a:latin typeface="Trebuchet MS"/>
                          <a:cs typeface="Trebuchet MS"/>
                        </a:rPr>
                        <a:t>[</a:t>
                      </a:r>
                      <a:r>
                        <a:rPr sz="750" spc="15" dirty="0">
                          <a:solidFill>
                            <a:srgbClr val="E8E8E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10" dirty="0">
                          <a:solidFill>
                            <a:srgbClr val="E8E8EF"/>
                          </a:solidFill>
                          <a:latin typeface="Trebuchet MS"/>
                          <a:cs typeface="Trebuchet MS"/>
                        </a:rPr>
                        <a:t>Institution </a:t>
                      </a:r>
                      <a:r>
                        <a:rPr sz="750" dirty="0">
                          <a:solidFill>
                            <a:srgbClr val="E8E8EF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750" spc="5" dirty="0">
                          <a:solidFill>
                            <a:srgbClr val="E8E8E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dirty="0">
                          <a:solidFill>
                            <a:srgbClr val="E8E8EF"/>
                          </a:solidFill>
                          <a:latin typeface="Trebuchet MS"/>
                          <a:cs typeface="Trebuchet MS"/>
                        </a:rPr>
                        <a:t>College</a:t>
                      </a:r>
                      <a:r>
                        <a:rPr sz="750" spc="-15" dirty="0">
                          <a:solidFill>
                            <a:srgbClr val="E8E8E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50" dirty="0">
                          <a:solidFill>
                            <a:srgbClr val="E8E8EF"/>
                          </a:solidFill>
                          <a:latin typeface="Trebuchet MS"/>
                          <a:cs typeface="Trebuchet MS"/>
                        </a:rPr>
                        <a:t>]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2A2A44"/>
                      </a:solidFill>
                      <a:prstDash val="solid"/>
                    </a:lnL>
                    <a:lnR w="12700">
                      <a:solidFill>
                        <a:srgbClr val="2A2A44"/>
                      </a:solidFill>
                      <a:prstDash val="solid"/>
                    </a:lnR>
                    <a:lnB w="12700">
                      <a:solidFill>
                        <a:srgbClr val="2A2A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116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750" dirty="0">
                          <a:solidFill>
                            <a:srgbClr val="8787AA"/>
                          </a:solidFill>
                          <a:latin typeface="Trebuchet MS"/>
                          <a:cs typeface="Trebuchet MS"/>
                        </a:rPr>
                        <a:t>[</a:t>
                      </a:r>
                      <a:r>
                        <a:rPr sz="750" spc="50" dirty="0">
                          <a:solidFill>
                            <a:srgbClr val="8787A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10" dirty="0">
                          <a:solidFill>
                            <a:srgbClr val="8787AA"/>
                          </a:solidFill>
                          <a:latin typeface="Trebuchet MS"/>
                          <a:cs typeface="Trebuchet MS"/>
                          <a:hlinkClick r:id="rId11"/>
                        </a:rPr>
                        <a:t>email@example.com</a:t>
                      </a:r>
                      <a:r>
                        <a:rPr sz="750" spc="25" dirty="0">
                          <a:solidFill>
                            <a:srgbClr val="8787A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50" dirty="0">
                          <a:solidFill>
                            <a:srgbClr val="8787AA"/>
                          </a:solidFill>
                          <a:latin typeface="Trebuchet MS"/>
                          <a:cs typeface="Trebuchet MS"/>
                        </a:rPr>
                        <a:t>]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  <a:p>
                      <a:pPr marL="40195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750" dirty="0">
                          <a:solidFill>
                            <a:srgbClr val="E8E8EF"/>
                          </a:solidFill>
                          <a:latin typeface="Trebuchet MS"/>
                          <a:cs typeface="Trebuchet MS"/>
                        </a:rPr>
                        <a:t>[</a:t>
                      </a:r>
                      <a:r>
                        <a:rPr sz="750" spc="-5" dirty="0">
                          <a:solidFill>
                            <a:srgbClr val="E8E8E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dirty="0">
                          <a:solidFill>
                            <a:srgbClr val="E8E8EF"/>
                          </a:solidFill>
                          <a:latin typeface="Trebuchet MS"/>
                          <a:cs typeface="Trebuchet MS"/>
                        </a:rPr>
                        <a:t>Institution</a:t>
                      </a:r>
                      <a:r>
                        <a:rPr sz="750" spc="-35" dirty="0">
                          <a:solidFill>
                            <a:srgbClr val="E8E8E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dirty="0">
                          <a:solidFill>
                            <a:srgbClr val="E8E8EF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750" spc="-15" dirty="0">
                          <a:solidFill>
                            <a:srgbClr val="E8E8E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dirty="0">
                          <a:solidFill>
                            <a:srgbClr val="E8E8EF"/>
                          </a:solidFill>
                          <a:latin typeface="Trebuchet MS"/>
                          <a:cs typeface="Trebuchet MS"/>
                        </a:rPr>
                        <a:t>College</a:t>
                      </a:r>
                      <a:r>
                        <a:rPr sz="750" spc="-35" dirty="0">
                          <a:solidFill>
                            <a:srgbClr val="E8E8E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50" dirty="0">
                          <a:solidFill>
                            <a:srgbClr val="E8E8EF"/>
                          </a:solidFill>
                          <a:latin typeface="Trebuchet MS"/>
                          <a:cs typeface="Trebuchet MS"/>
                        </a:rPr>
                        <a:t>]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2A2A44"/>
                      </a:solidFill>
                      <a:prstDash val="solid"/>
                    </a:lnL>
                    <a:lnR w="12700">
                      <a:solidFill>
                        <a:srgbClr val="2A2A44"/>
                      </a:solidFill>
                      <a:prstDash val="solid"/>
                    </a:lnR>
                    <a:lnB w="12700">
                      <a:solidFill>
                        <a:srgbClr val="2A2A4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9" name="object 4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9658" y="0"/>
            <a:ext cx="791997" cy="696595"/>
          </a:xfrm>
          <a:prstGeom prst="rect">
            <a:avLst/>
          </a:prstGeom>
        </p:spPr>
      </p:pic>
      <p:sp>
        <p:nvSpPr>
          <p:cNvPr id="50" name="object 5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PRAGATI</a:t>
            </a:r>
            <a:r>
              <a:rPr spc="30" dirty="0"/>
              <a:t> </a:t>
            </a:r>
            <a:r>
              <a:rPr dirty="0"/>
              <a:t>2026</a:t>
            </a:r>
            <a:r>
              <a:rPr spc="10" dirty="0"/>
              <a:t> </a:t>
            </a:r>
            <a:r>
              <a:rPr dirty="0"/>
              <a:t>—</a:t>
            </a:r>
            <a:r>
              <a:rPr spc="-10" dirty="0"/>
              <a:t> bengalithub.com/hackfest-</a:t>
            </a:r>
            <a:r>
              <a:rPr spc="-20" dirty="0"/>
              <a:t>2026</a:t>
            </a: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884" y="179323"/>
            <a:ext cx="2318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PRAGATI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—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The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Bengal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Hack</a:t>
            </a:r>
            <a:r>
              <a:rPr sz="1000" b="1" spc="-1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Fest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2026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9718" y="186944"/>
            <a:ext cx="1415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787AA"/>
                </a:solidFill>
                <a:latin typeface="Trebuchet MS"/>
                <a:cs typeface="Trebuchet MS"/>
              </a:rPr>
              <a:t>Team: [Team Name]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Problem</a:t>
            </a:r>
            <a:r>
              <a:rPr spc="-40" dirty="0"/>
              <a:t> </a:t>
            </a:r>
            <a:r>
              <a:rPr spc="-10" dirty="0"/>
              <a:t>Statement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-6350" y="4977129"/>
            <a:ext cx="9156700" cy="172720"/>
            <a:chOff x="-6350" y="4977129"/>
            <a:chExt cx="9156700" cy="172720"/>
          </a:xfrm>
        </p:grpSpPr>
        <p:sp>
          <p:nvSpPr>
            <p:cNvPr id="6" name="object 6"/>
            <p:cNvSpPr/>
            <p:nvPr/>
          </p:nvSpPr>
          <p:spPr>
            <a:xfrm>
              <a:off x="0" y="4983479"/>
              <a:ext cx="9144000" cy="160020"/>
            </a:xfrm>
            <a:custGeom>
              <a:avLst/>
              <a:gdLst/>
              <a:ahLst/>
              <a:cxnLst/>
              <a:rect l="l" t="t" r="r" b="b"/>
              <a:pathLst>
                <a:path w="9144000" h="160020">
                  <a:moveTo>
                    <a:pt x="9144000" y="0"/>
                  </a:moveTo>
                  <a:lnTo>
                    <a:pt x="0" y="0"/>
                  </a:lnTo>
                  <a:lnTo>
                    <a:pt x="0" y="160020"/>
                  </a:lnTo>
                  <a:lnTo>
                    <a:pt x="9144000" y="1600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A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4983479"/>
              <a:ext cx="9144000" cy="160020"/>
            </a:xfrm>
            <a:custGeom>
              <a:avLst/>
              <a:gdLst/>
              <a:ahLst/>
              <a:cxnLst/>
              <a:rect l="l" t="t" r="r" b="b"/>
              <a:pathLst>
                <a:path w="9144000" h="160020">
                  <a:moveTo>
                    <a:pt x="0" y="160020"/>
                  </a:moveTo>
                  <a:lnTo>
                    <a:pt x="9144000" y="16002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60020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983479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914400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9144000" y="91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983479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9144"/>
                  </a:moveTo>
                  <a:lnTo>
                    <a:pt x="9144000" y="914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144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46304" y="1045210"/>
            <a:ext cx="4791710" cy="3764915"/>
            <a:chOff x="146304" y="1045210"/>
            <a:chExt cx="4791710" cy="376491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970" y="1045210"/>
              <a:ext cx="213867" cy="767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858" y="1045210"/>
              <a:ext cx="104140" cy="7670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6304" y="1115568"/>
              <a:ext cx="4791456" cy="369417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74320" y="1207008"/>
              <a:ext cx="4572000" cy="3474720"/>
            </a:xfrm>
            <a:custGeom>
              <a:avLst/>
              <a:gdLst/>
              <a:ahLst/>
              <a:cxnLst/>
              <a:rect l="l" t="t" r="r" b="b"/>
              <a:pathLst>
                <a:path w="4572000" h="3474720">
                  <a:moveTo>
                    <a:pt x="4572000" y="0"/>
                  </a:moveTo>
                  <a:lnTo>
                    <a:pt x="0" y="0"/>
                  </a:lnTo>
                  <a:lnTo>
                    <a:pt x="0" y="3474720"/>
                  </a:lnTo>
                  <a:lnTo>
                    <a:pt x="4572000" y="347472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4320" y="1207008"/>
              <a:ext cx="4572000" cy="3474720"/>
            </a:xfrm>
            <a:custGeom>
              <a:avLst/>
              <a:gdLst/>
              <a:ahLst/>
              <a:cxnLst/>
              <a:rect l="l" t="t" r="r" b="b"/>
              <a:pathLst>
                <a:path w="4572000" h="3474720">
                  <a:moveTo>
                    <a:pt x="0" y="3474720"/>
                  </a:moveTo>
                  <a:lnTo>
                    <a:pt x="4572000" y="3474720"/>
                  </a:lnTo>
                  <a:lnTo>
                    <a:pt x="4572000" y="0"/>
                  </a:lnTo>
                  <a:lnTo>
                    <a:pt x="0" y="0"/>
                  </a:lnTo>
                  <a:lnTo>
                    <a:pt x="0" y="3474720"/>
                  </a:lnTo>
                  <a:close/>
                </a:path>
              </a:pathLst>
            </a:custGeom>
            <a:ln w="12699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4320" y="1207008"/>
              <a:ext cx="50800" cy="3474720"/>
            </a:xfrm>
            <a:custGeom>
              <a:avLst/>
              <a:gdLst/>
              <a:ahLst/>
              <a:cxnLst/>
              <a:rect l="l" t="t" r="r" b="b"/>
              <a:pathLst>
                <a:path w="50800" h="3474720">
                  <a:moveTo>
                    <a:pt x="50292" y="0"/>
                  </a:moveTo>
                  <a:lnTo>
                    <a:pt x="0" y="0"/>
                  </a:lnTo>
                  <a:lnTo>
                    <a:pt x="0" y="3474720"/>
                  </a:lnTo>
                  <a:lnTo>
                    <a:pt x="50292" y="3474720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FF6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4320" y="1207008"/>
              <a:ext cx="50800" cy="3474720"/>
            </a:xfrm>
            <a:custGeom>
              <a:avLst/>
              <a:gdLst/>
              <a:ahLst/>
              <a:cxnLst/>
              <a:rect l="l" t="t" r="r" b="b"/>
              <a:pathLst>
                <a:path w="50800" h="3474720">
                  <a:moveTo>
                    <a:pt x="0" y="3474720"/>
                  </a:moveTo>
                  <a:lnTo>
                    <a:pt x="50292" y="3474720"/>
                  </a:lnTo>
                  <a:lnTo>
                    <a:pt x="50292" y="0"/>
                  </a:lnTo>
                  <a:lnTo>
                    <a:pt x="0" y="0"/>
                  </a:lnTo>
                  <a:lnTo>
                    <a:pt x="0" y="3474720"/>
                  </a:lnTo>
                  <a:close/>
                </a:path>
              </a:pathLst>
            </a:custGeom>
            <a:ln w="12700">
              <a:solidFill>
                <a:srgbClr val="FF6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57200" y="1340866"/>
            <a:ext cx="4074160" cy="840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Problem</a:t>
            </a:r>
            <a:r>
              <a:rPr sz="1000" b="1" spc="-4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F5A622"/>
                </a:solidFill>
                <a:latin typeface="Trebuchet MS"/>
                <a:cs typeface="Trebuchet MS"/>
              </a:rPr>
              <a:t>Overview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000">
              <a:latin typeface="Trebuchet MS"/>
              <a:cs typeface="Trebuchet MS"/>
            </a:endParaRPr>
          </a:p>
          <a:p>
            <a:pPr marL="91440" marR="5080">
              <a:lnSpc>
                <a:spcPct val="98600"/>
              </a:lnSpc>
            </a:pPr>
            <a:r>
              <a:rPr sz="1100" dirty="0">
                <a:solidFill>
                  <a:srgbClr val="E8E8EF"/>
                </a:solidFill>
                <a:latin typeface="Trebuchet MS"/>
                <a:cs typeface="Trebuchet MS"/>
              </a:rPr>
              <a:t>Cardiovascular disease is the #1 global killer — 17.9 million lives per year. Yet 80% of premature heart attacks are preventable. Current healthcare is reactive: patients visit doctors only when symptoms appear, missing a critical prevention window. Wearables generate terabytes of health data daily, but no unified AI system converts this into actionable, personalized prevention strategies.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7200" y="2667380"/>
            <a:ext cx="9264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00C7B4"/>
                </a:solidFill>
                <a:latin typeface="Trebuchet MS"/>
                <a:cs typeface="Trebuchet MS"/>
              </a:rPr>
              <a:t>Key</a:t>
            </a:r>
            <a:r>
              <a:rPr sz="1000" b="1" spc="-20" dirty="0">
                <a:solidFill>
                  <a:srgbClr val="00C7B4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00C7B4"/>
                </a:solidFill>
                <a:latin typeface="Trebuchet MS"/>
                <a:cs typeface="Trebuchet MS"/>
              </a:rPr>
              <a:t>Pain</a:t>
            </a:r>
            <a:r>
              <a:rPr sz="1000" b="1" spc="-30" dirty="0">
                <a:solidFill>
                  <a:srgbClr val="00C7B4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00C7B4"/>
                </a:solidFill>
                <a:latin typeface="Trebuchet MS"/>
                <a:cs typeface="Trebuchet MS"/>
              </a:rPr>
              <a:t>Points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8640" y="3426333"/>
            <a:ext cx="398272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42265" algn="l"/>
              </a:tabLst>
            </a:pPr>
            <a:r>
              <a:rPr sz="1100" dirty="0">
                <a:solidFill>
                  <a:srgbClr val="E8E8EF"/>
                </a:solidFill>
                <a:latin typeface="Trebuchet MS"/>
                <a:cs typeface="Trebuchet MS"/>
              </a:rPr>
              <a:t>Reactive care: CVD often detected too late — after a heart attack or stroke</a:t>
            </a:r>
            <a:endParaRPr sz="1100" dirty="0">
              <a:latin typeface="Trebuchet MS"/>
              <a:cs typeface="Trebuchet MS"/>
            </a:endParaRPr>
          </a:p>
          <a:p>
            <a:pPr marL="342265" indent="-342265">
              <a:lnSpc>
                <a:spcPct val="100000"/>
              </a:lnSpc>
              <a:buChar char="•"/>
              <a:tabLst>
                <a:tab pos="342265" algn="l"/>
              </a:tabLst>
            </a:pPr>
            <a:r>
              <a:rPr sz="1100" dirty="0">
                <a:solidFill>
                  <a:srgbClr val="E8E8EF"/>
                </a:solidFill>
                <a:latin typeface="Trebuchet MS"/>
                <a:cs typeface="Trebuchet MS"/>
              </a:rPr>
              <a:t>Fragmented data: wearables, EHRs, and lifestyle data sit in isolated silos</a:t>
            </a:r>
            <a:endParaRPr sz="1100" dirty="0">
              <a:latin typeface="Trebuchet MS"/>
              <a:cs typeface="Trebuchet MS"/>
            </a:endParaRPr>
          </a:p>
          <a:p>
            <a:pPr marL="342265" indent="-342265">
              <a:lnSpc>
                <a:spcPct val="100000"/>
              </a:lnSpc>
              <a:spcBef>
                <a:spcPts val="5"/>
              </a:spcBef>
              <a:buChar char="•"/>
              <a:tabLst>
                <a:tab pos="342265" algn="l"/>
              </a:tabLst>
            </a:pPr>
            <a:r>
              <a:rPr sz="1100" dirty="0">
                <a:solidFill>
                  <a:srgbClr val="E8E8EF"/>
                </a:solidFill>
                <a:latin typeface="Trebuchet MS"/>
                <a:cs typeface="Trebuchet MS"/>
              </a:rPr>
              <a:t>No simulation tools: patients cannot model how lifestyle changes affect future risk</a:t>
            </a:r>
            <a:endParaRPr sz="1100" dirty="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074920" y="1207008"/>
            <a:ext cx="3749040" cy="3474720"/>
          </a:xfrm>
          <a:custGeom>
            <a:avLst/>
            <a:gdLst/>
            <a:ahLst/>
            <a:cxnLst/>
            <a:rect l="l" t="t" r="r" b="b"/>
            <a:pathLst>
              <a:path w="3749040" h="3474720">
                <a:moveTo>
                  <a:pt x="3749039" y="0"/>
                </a:moveTo>
                <a:lnTo>
                  <a:pt x="0" y="0"/>
                </a:lnTo>
                <a:lnTo>
                  <a:pt x="0" y="3474720"/>
                </a:lnTo>
                <a:lnTo>
                  <a:pt x="3749039" y="3474720"/>
                </a:lnTo>
                <a:lnTo>
                  <a:pt x="3749039" y="0"/>
                </a:lnTo>
                <a:close/>
              </a:path>
            </a:pathLst>
          </a:custGeom>
          <a:solidFill>
            <a:srgbClr val="1A1A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074920" y="1207008"/>
            <a:ext cx="3749040" cy="3474720"/>
          </a:xfrm>
          <a:prstGeom prst="rect">
            <a:avLst/>
          </a:prstGeom>
          <a:ln w="12700">
            <a:solidFill>
              <a:srgbClr val="2A2A4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0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1000" dirty="0">
                <a:solidFill>
                  <a:srgbClr val="8787AA"/>
                </a:solidFill>
                <a:latin typeface="Trebuchet MS"/>
                <a:cs typeface="Trebuchet MS"/>
              </a:rPr>
              <a:t>Problem: The Silent CVD Crisis</a:t>
            </a:r>
            <a:endParaRPr sz="1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000" dirty="0">
                <a:solidFill>
                  <a:srgbClr val="8787AA"/>
                </a:solidFill>
                <a:latin typeface="Trebuchet MS"/>
                <a:cs typeface="Trebuchet MS"/>
              </a:rPr>
              <a:t>17.9M deaths/year · $320B annual economic burden</a:t>
            </a:r>
            <a:endParaRPr sz="1000">
              <a:latin typeface="Trebuchet MS"/>
              <a:cs typeface="Trebuchet MS"/>
            </a:endParaRPr>
          </a:p>
        </p:txBody>
      </p:sp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52335" y="1417319"/>
            <a:ext cx="502920" cy="502920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5257800" y="3383279"/>
            <a:ext cx="1463040" cy="822960"/>
          </a:xfrm>
          <a:prstGeom prst="rect">
            <a:avLst/>
          </a:prstGeom>
          <a:solidFill>
            <a:srgbClr val="12121F"/>
          </a:solidFill>
          <a:ln w="12700">
            <a:solidFill>
              <a:srgbClr val="F5A622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340"/>
              </a:spcBef>
            </a:pPr>
            <a:r>
              <a:rPr sz="1800" b="1" dirty="0">
                <a:solidFill>
                  <a:srgbClr val="F5A622"/>
                </a:solidFill>
                <a:latin typeface="Trebuchet MS"/>
                <a:cs typeface="Trebuchet MS"/>
              </a:rPr>
              <a:t>80%</a:t>
            </a:r>
            <a:endParaRPr sz="1800">
              <a:latin typeface="Trebuchet MS"/>
              <a:cs typeface="Trebuchet MS"/>
            </a:endParaRPr>
          </a:p>
          <a:p>
            <a:pPr marL="2540" algn="ctr">
              <a:lnSpc>
                <a:spcPct val="100000"/>
              </a:lnSpc>
              <a:spcBef>
                <a:spcPts val="975"/>
              </a:spcBef>
            </a:pPr>
            <a:r>
              <a:rPr sz="750" dirty="0">
                <a:solidFill>
                  <a:srgbClr val="8787AA"/>
                </a:solidFill>
                <a:latin typeface="Trebuchet MS"/>
                <a:cs typeface="Trebuchet MS"/>
              </a:rPr>
              <a:t>CVD deaths preventable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49440" y="3383279"/>
            <a:ext cx="1737360" cy="822960"/>
          </a:xfrm>
          <a:prstGeom prst="rect">
            <a:avLst/>
          </a:prstGeom>
          <a:solidFill>
            <a:srgbClr val="12121F"/>
          </a:solidFill>
          <a:ln w="12700">
            <a:solidFill>
              <a:srgbClr val="00C7B4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340"/>
              </a:spcBef>
            </a:pPr>
            <a:r>
              <a:rPr sz="1800" b="1" dirty="0">
                <a:solidFill>
                  <a:srgbClr val="00C7B4"/>
                </a:solidFill>
                <a:latin typeface="Trebuchet MS"/>
                <a:cs typeface="Trebuchet MS"/>
              </a:rPr>
              <a:t>3.5 Bn</a:t>
            </a:r>
            <a:endParaRPr sz="1800">
              <a:latin typeface="Trebuchet MS"/>
              <a:cs typeface="Trebuchet MS"/>
            </a:endParaRPr>
          </a:p>
          <a:p>
            <a:pPr marL="1270" algn="ctr">
              <a:lnSpc>
                <a:spcPct val="100000"/>
              </a:lnSpc>
              <a:spcBef>
                <a:spcPts val="975"/>
              </a:spcBef>
            </a:pPr>
            <a:r>
              <a:rPr sz="750" dirty="0">
                <a:solidFill>
                  <a:srgbClr val="8787AA"/>
                </a:solidFill>
                <a:latin typeface="Trebuchet MS"/>
                <a:cs typeface="Trebuchet MS"/>
              </a:rPr>
              <a:t>wearable users by 2025</a:t>
            </a:r>
            <a:endParaRPr sz="750">
              <a:latin typeface="Trebuchet MS"/>
              <a:cs typeface="Trebuchet MS"/>
            </a:endParaRPr>
          </a:p>
        </p:txBody>
      </p:sp>
      <p:pic>
        <p:nvPicPr>
          <p:cNvPr id="26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658" y="0"/>
            <a:ext cx="791997" cy="696595"/>
          </a:xfrm>
          <a:prstGeom prst="rect">
            <a:avLst/>
          </a:prstGeom>
        </p:spPr>
      </p:pic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PRAGATI</a:t>
            </a:r>
            <a:r>
              <a:rPr spc="30" dirty="0"/>
              <a:t> </a:t>
            </a:r>
            <a:r>
              <a:rPr dirty="0"/>
              <a:t>2026</a:t>
            </a:r>
            <a:r>
              <a:rPr spc="10" dirty="0"/>
              <a:t> </a:t>
            </a:r>
            <a:r>
              <a:rPr dirty="0"/>
              <a:t>—</a:t>
            </a:r>
            <a:r>
              <a:rPr spc="-10" dirty="0"/>
              <a:t> bengalithub.com/hackfest-</a:t>
            </a:r>
            <a:r>
              <a:rPr spc="-20" dirty="0"/>
              <a:t>2026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884" y="179323"/>
            <a:ext cx="2318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PRAGATI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—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The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Bengal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Hack</a:t>
            </a:r>
            <a:r>
              <a:rPr sz="1000" b="1" spc="-1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Fest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2026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9718" y="186944"/>
            <a:ext cx="1415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787AA"/>
                </a:solidFill>
                <a:latin typeface="Trebuchet MS"/>
                <a:cs typeface="Trebuchet MS"/>
              </a:rPr>
              <a:t>Team: [Team Name]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Objective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267970" y="1045210"/>
            <a:ext cx="351155" cy="76835"/>
            <a:chOff x="267970" y="1045210"/>
            <a:chExt cx="351155" cy="768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970" y="1045210"/>
              <a:ext cx="213867" cy="7670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858" y="1045210"/>
              <a:ext cx="104140" cy="76707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-6350" y="4977129"/>
            <a:ext cx="9156700" cy="172720"/>
            <a:chOff x="-6350" y="4977129"/>
            <a:chExt cx="9156700" cy="172720"/>
          </a:xfrm>
        </p:grpSpPr>
        <p:sp>
          <p:nvSpPr>
            <p:cNvPr id="9" name="object 9"/>
            <p:cNvSpPr/>
            <p:nvPr/>
          </p:nvSpPr>
          <p:spPr>
            <a:xfrm>
              <a:off x="0" y="4983479"/>
              <a:ext cx="9144000" cy="160020"/>
            </a:xfrm>
            <a:custGeom>
              <a:avLst/>
              <a:gdLst/>
              <a:ahLst/>
              <a:cxnLst/>
              <a:rect l="l" t="t" r="r" b="b"/>
              <a:pathLst>
                <a:path w="9144000" h="160020">
                  <a:moveTo>
                    <a:pt x="9144000" y="0"/>
                  </a:moveTo>
                  <a:lnTo>
                    <a:pt x="0" y="0"/>
                  </a:lnTo>
                  <a:lnTo>
                    <a:pt x="0" y="160020"/>
                  </a:lnTo>
                  <a:lnTo>
                    <a:pt x="9144000" y="1600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A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4983479"/>
              <a:ext cx="9144000" cy="160020"/>
            </a:xfrm>
            <a:custGeom>
              <a:avLst/>
              <a:gdLst/>
              <a:ahLst/>
              <a:cxnLst/>
              <a:rect l="l" t="t" r="r" b="b"/>
              <a:pathLst>
                <a:path w="9144000" h="160020">
                  <a:moveTo>
                    <a:pt x="0" y="160020"/>
                  </a:moveTo>
                  <a:lnTo>
                    <a:pt x="9144000" y="16002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60020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4983479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914400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9144000" y="91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4983479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9144"/>
                  </a:moveTo>
                  <a:lnTo>
                    <a:pt x="9144000" y="914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144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67970" y="1200658"/>
            <a:ext cx="8608060" cy="789940"/>
            <a:chOff x="267970" y="1200658"/>
            <a:chExt cx="8608060" cy="789940"/>
          </a:xfrm>
        </p:grpSpPr>
        <p:sp>
          <p:nvSpPr>
            <p:cNvPr id="14" name="object 14"/>
            <p:cNvSpPr/>
            <p:nvPr/>
          </p:nvSpPr>
          <p:spPr>
            <a:xfrm>
              <a:off x="274320" y="1207008"/>
              <a:ext cx="8595360" cy="777240"/>
            </a:xfrm>
            <a:custGeom>
              <a:avLst/>
              <a:gdLst/>
              <a:ahLst/>
              <a:cxnLst/>
              <a:rect l="l" t="t" r="r" b="b"/>
              <a:pathLst>
                <a:path w="8595360" h="777239">
                  <a:moveTo>
                    <a:pt x="8595360" y="0"/>
                  </a:moveTo>
                  <a:lnTo>
                    <a:pt x="0" y="0"/>
                  </a:lnTo>
                  <a:lnTo>
                    <a:pt x="0" y="777239"/>
                  </a:lnTo>
                  <a:lnTo>
                    <a:pt x="8595360" y="777239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4320" y="1207008"/>
              <a:ext cx="8595360" cy="777240"/>
            </a:xfrm>
            <a:custGeom>
              <a:avLst/>
              <a:gdLst/>
              <a:ahLst/>
              <a:cxnLst/>
              <a:rect l="l" t="t" r="r" b="b"/>
              <a:pathLst>
                <a:path w="8595360" h="777239">
                  <a:moveTo>
                    <a:pt x="0" y="777239"/>
                  </a:moveTo>
                  <a:lnTo>
                    <a:pt x="8595360" y="777239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777239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4320" y="1207008"/>
              <a:ext cx="8595360" cy="50800"/>
            </a:xfrm>
            <a:custGeom>
              <a:avLst/>
              <a:gdLst/>
              <a:ahLst/>
              <a:cxnLst/>
              <a:rect l="l" t="t" r="r" b="b"/>
              <a:pathLst>
                <a:path w="8595360" h="50800">
                  <a:moveTo>
                    <a:pt x="8595360" y="0"/>
                  </a:moveTo>
                  <a:lnTo>
                    <a:pt x="0" y="0"/>
                  </a:lnTo>
                  <a:lnTo>
                    <a:pt x="0" y="50291"/>
                  </a:lnTo>
                  <a:lnTo>
                    <a:pt x="8595360" y="50291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4320" y="1207008"/>
              <a:ext cx="8595360" cy="50800"/>
            </a:xfrm>
            <a:custGeom>
              <a:avLst/>
              <a:gdLst/>
              <a:ahLst/>
              <a:cxnLst/>
              <a:rect l="l" t="t" r="r" b="b"/>
              <a:pathLst>
                <a:path w="8595360" h="50800">
                  <a:moveTo>
                    <a:pt x="0" y="50291"/>
                  </a:moveTo>
                  <a:lnTo>
                    <a:pt x="8595360" y="50291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50291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80670" y="1325969"/>
            <a:ext cx="858266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105"/>
              </a:spcBef>
            </a:pPr>
            <a:r>
              <a:rPr sz="800" b="1" dirty="0">
                <a:solidFill>
                  <a:srgbClr val="F5A622"/>
                </a:solidFill>
                <a:latin typeface="Trebuchet MS"/>
                <a:cs typeface="Trebuchet MS"/>
              </a:rPr>
              <a:t>Mission</a:t>
            </a:r>
            <a:r>
              <a:rPr sz="800" b="1" spc="-3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800" b="1" spc="-10" dirty="0">
                <a:solidFill>
                  <a:srgbClr val="F5A622"/>
                </a:solidFill>
                <a:latin typeface="Trebuchet MS"/>
                <a:cs typeface="Trebuchet MS"/>
              </a:rPr>
              <a:t>Statement</a:t>
            </a:r>
            <a:endParaRPr sz="8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200" i="1" dirty="0">
                <a:solidFill>
                  <a:srgbClr val="E8E8EF"/>
                </a:solidFill>
                <a:latin typeface="Trebuchet MS"/>
                <a:cs typeface="Trebuchet MS"/>
              </a:rPr>
              <a:t>To build an AI-powered Digital Health Twin that continuously learns a patient's cardiovascular risk profile and empowers clinicians and individuals with real-time risk scores, explainable insights, and what-if preventive simulations.</a:t>
            </a:r>
            <a:endParaRPr sz="1200" dirty="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46304" y="2121407"/>
            <a:ext cx="2249805" cy="2670175"/>
            <a:chOff x="146304" y="2121407"/>
            <a:chExt cx="2249805" cy="267017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6304" y="2121407"/>
              <a:ext cx="2249424" cy="267004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74320" y="2285999"/>
              <a:ext cx="2030095" cy="2377440"/>
            </a:xfrm>
            <a:custGeom>
              <a:avLst/>
              <a:gdLst/>
              <a:ahLst/>
              <a:cxnLst/>
              <a:rect l="l" t="t" r="r" b="b"/>
              <a:pathLst>
                <a:path w="2030095" h="2377440">
                  <a:moveTo>
                    <a:pt x="0" y="2377440"/>
                  </a:moveTo>
                  <a:lnTo>
                    <a:pt x="2029968" y="2377440"/>
                  </a:lnTo>
                  <a:lnTo>
                    <a:pt x="2029968" y="0"/>
                  </a:lnTo>
                  <a:lnTo>
                    <a:pt x="0" y="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4320" y="2212847"/>
              <a:ext cx="2030095" cy="2451100"/>
            </a:xfrm>
            <a:custGeom>
              <a:avLst/>
              <a:gdLst/>
              <a:ahLst/>
              <a:cxnLst/>
              <a:rect l="l" t="t" r="r" b="b"/>
              <a:pathLst>
                <a:path w="2030095" h="2451100">
                  <a:moveTo>
                    <a:pt x="0" y="2450591"/>
                  </a:moveTo>
                  <a:lnTo>
                    <a:pt x="2029968" y="2450591"/>
                  </a:lnTo>
                  <a:lnTo>
                    <a:pt x="2029968" y="0"/>
                  </a:lnTo>
                  <a:lnTo>
                    <a:pt x="0" y="0"/>
                  </a:lnTo>
                  <a:lnTo>
                    <a:pt x="0" y="2450591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4320" y="2212847"/>
              <a:ext cx="2030095" cy="73660"/>
            </a:xfrm>
            <a:custGeom>
              <a:avLst/>
              <a:gdLst/>
              <a:ahLst/>
              <a:cxnLst/>
              <a:rect l="l" t="t" r="r" b="b"/>
              <a:pathLst>
                <a:path w="2030095" h="73660">
                  <a:moveTo>
                    <a:pt x="2029968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2029968" y="73151"/>
                  </a:lnTo>
                  <a:lnTo>
                    <a:pt x="2029968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4320" y="2212847"/>
              <a:ext cx="2030095" cy="73660"/>
            </a:xfrm>
            <a:custGeom>
              <a:avLst/>
              <a:gdLst/>
              <a:ahLst/>
              <a:cxnLst/>
              <a:rect l="l" t="t" r="r" b="b"/>
              <a:pathLst>
                <a:path w="2030095" h="73660">
                  <a:moveTo>
                    <a:pt x="0" y="73151"/>
                  </a:moveTo>
                  <a:lnTo>
                    <a:pt x="2029968" y="73151"/>
                  </a:lnTo>
                  <a:lnTo>
                    <a:pt x="2029968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23544" y="237743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19" h="731519">
                  <a:moveTo>
                    <a:pt x="365759" y="0"/>
                  </a:moveTo>
                  <a:lnTo>
                    <a:pt x="319879" y="2848"/>
                  </a:lnTo>
                  <a:lnTo>
                    <a:pt x="275699" y="11167"/>
                  </a:lnTo>
                  <a:lnTo>
                    <a:pt x="233563" y="24613"/>
                  </a:lnTo>
                  <a:lnTo>
                    <a:pt x="193813" y="42844"/>
                  </a:lnTo>
                  <a:lnTo>
                    <a:pt x="156792" y="65517"/>
                  </a:lnTo>
                  <a:lnTo>
                    <a:pt x="122843" y="92291"/>
                  </a:lnTo>
                  <a:lnTo>
                    <a:pt x="92308" y="122822"/>
                  </a:lnTo>
                  <a:lnTo>
                    <a:pt x="65531" y="156770"/>
                  </a:lnTo>
                  <a:lnTo>
                    <a:pt x="42854" y="193790"/>
                  </a:lnTo>
                  <a:lnTo>
                    <a:pt x="24619" y="233542"/>
                  </a:lnTo>
                  <a:lnTo>
                    <a:pt x="11170" y="275682"/>
                  </a:lnTo>
                  <a:lnTo>
                    <a:pt x="2849" y="319869"/>
                  </a:lnTo>
                  <a:lnTo>
                    <a:pt x="0" y="365760"/>
                  </a:lnTo>
                  <a:lnTo>
                    <a:pt x="2849" y="411650"/>
                  </a:lnTo>
                  <a:lnTo>
                    <a:pt x="11170" y="455837"/>
                  </a:lnTo>
                  <a:lnTo>
                    <a:pt x="24619" y="497977"/>
                  </a:lnTo>
                  <a:lnTo>
                    <a:pt x="42854" y="537729"/>
                  </a:lnTo>
                  <a:lnTo>
                    <a:pt x="65531" y="574749"/>
                  </a:lnTo>
                  <a:lnTo>
                    <a:pt x="92308" y="608697"/>
                  </a:lnTo>
                  <a:lnTo>
                    <a:pt x="122843" y="639228"/>
                  </a:lnTo>
                  <a:lnTo>
                    <a:pt x="156792" y="666002"/>
                  </a:lnTo>
                  <a:lnTo>
                    <a:pt x="193813" y="688675"/>
                  </a:lnTo>
                  <a:lnTo>
                    <a:pt x="233563" y="706906"/>
                  </a:lnTo>
                  <a:lnTo>
                    <a:pt x="275699" y="720352"/>
                  </a:lnTo>
                  <a:lnTo>
                    <a:pt x="319879" y="728671"/>
                  </a:lnTo>
                  <a:lnTo>
                    <a:pt x="365759" y="731520"/>
                  </a:lnTo>
                  <a:lnTo>
                    <a:pt x="411650" y="728671"/>
                  </a:lnTo>
                  <a:lnTo>
                    <a:pt x="455837" y="720352"/>
                  </a:lnTo>
                  <a:lnTo>
                    <a:pt x="497977" y="706906"/>
                  </a:lnTo>
                  <a:lnTo>
                    <a:pt x="537729" y="688675"/>
                  </a:lnTo>
                  <a:lnTo>
                    <a:pt x="574749" y="666002"/>
                  </a:lnTo>
                  <a:lnTo>
                    <a:pt x="608697" y="639228"/>
                  </a:lnTo>
                  <a:lnTo>
                    <a:pt x="639228" y="608697"/>
                  </a:lnTo>
                  <a:lnTo>
                    <a:pt x="666002" y="574749"/>
                  </a:lnTo>
                  <a:lnTo>
                    <a:pt x="688675" y="537729"/>
                  </a:lnTo>
                  <a:lnTo>
                    <a:pt x="706906" y="497977"/>
                  </a:lnTo>
                  <a:lnTo>
                    <a:pt x="720352" y="455837"/>
                  </a:lnTo>
                  <a:lnTo>
                    <a:pt x="728671" y="411650"/>
                  </a:lnTo>
                  <a:lnTo>
                    <a:pt x="731519" y="365760"/>
                  </a:lnTo>
                  <a:lnTo>
                    <a:pt x="728671" y="319869"/>
                  </a:lnTo>
                  <a:lnTo>
                    <a:pt x="720352" y="275682"/>
                  </a:lnTo>
                  <a:lnTo>
                    <a:pt x="706906" y="233542"/>
                  </a:lnTo>
                  <a:lnTo>
                    <a:pt x="688675" y="193790"/>
                  </a:lnTo>
                  <a:lnTo>
                    <a:pt x="666002" y="156770"/>
                  </a:lnTo>
                  <a:lnTo>
                    <a:pt x="639228" y="122822"/>
                  </a:lnTo>
                  <a:lnTo>
                    <a:pt x="608697" y="92291"/>
                  </a:lnTo>
                  <a:lnTo>
                    <a:pt x="574749" y="65517"/>
                  </a:lnTo>
                  <a:lnTo>
                    <a:pt x="537729" y="42844"/>
                  </a:lnTo>
                  <a:lnTo>
                    <a:pt x="497977" y="24613"/>
                  </a:lnTo>
                  <a:lnTo>
                    <a:pt x="455837" y="11167"/>
                  </a:lnTo>
                  <a:lnTo>
                    <a:pt x="411650" y="284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121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23544" y="237743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19" h="731519">
                  <a:moveTo>
                    <a:pt x="0" y="365760"/>
                  </a:moveTo>
                  <a:lnTo>
                    <a:pt x="2849" y="319869"/>
                  </a:lnTo>
                  <a:lnTo>
                    <a:pt x="11170" y="275682"/>
                  </a:lnTo>
                  <a:lnTo>
                    <a:pt x="24619" y="233542"/>
                  </a:lnTo>
                  <a:lnTo>
                    <a:pt x="42854" y="193790"/>
                  </a:lnTo>
                  <a:lnTo>
                    <a:pt x="65531" y="156770"/>
                  </a:lnTo>
                  <a:lnTo>
                    <a:pt x="92308" y="122822"/>
                  </a:lnTo>
                  <a:lnTo>
                    <a:pt x="122843" y="92291"/>
                  </a:lnTo>
                  <a:lnTo>
                    <a:pt x="156792" y="65517"/>
                  </a:lnTo>
                  <a:lnTo>
                    <a:pt x="193813" y="42844"/>
                  </a:lnTo>
                  <a:lnTo>
                    <a:pt x="233563" y="24613"/>
                  </a:lnTo>
                  <a:lnTo>
                    <a:pt x="275699" y="11167"/>
                  </a:lnTo>
                  <a:lnTo>
                    <a:pt x="319879" y="2848"/>
                  </a:lnTo>
                  <a:lnTo>
                    <a:pt x="365759" y="0"/>
                  </a:lnTo>
                  <a:lnTo>
                    <a:pt x="411650" y="2848"/>
                  </a:lnTo>
                  <a:lnTo>
                    <a:pt x="455837" y="11167"/>
                  </a:lnTo>
                  <a:lnTo>
                    <a:pt x="497977" y="24613"/>
                  </a:lnTo>
                  <a:lnTo>
                    <a:pt x="537729" y="42844"/>
                  </a:lnTo>
                  <a:lnTo>
                    <a:pt x="574749" y="65517"/>
                  </a:lnTo>
                  <a:lnTo>
                    <a:pt x="608697" y="92291"/>
                  </a:lnTo>
                  <a:lnTo>
                    <a:pt x="639228" y="122822"/>
                  </a:lnTo>
                  <a:lnTo>
                    <a:pt x="666002" y="156770"/>
                  </a:lnTo>
                  <a:lnTo>
                    <a:pt x="688675" y="193790"/>
                  </a:lnTo>
                  <a:lnTo>
                    <a:pt x="706906" y="233542"/>
                  </a:lnTo>
                  <a:lnTo>
                    <a:pt x="720352" y="275682"/>
                  </a:lnTo>
                  <a:lnTo>
                    <a:pt x="728671" y="319869"/>
                  </a:lnTo>
                  <a:lnTo>
                    <a:pt x="731519" y="365760"/>
                  </a:lnTo>
                  <a:lnTo>
                    <a:pt x="728671" y="411650"/>
                  </a:lnTo>
                  <a:lnTo>
                    <a:pt x="720352" y="455837"/>
                  </a:lnTo>
                  <a:lnTo>
                    <a:pt x="706906" y="497977"/>
                  </a:lnTo>
                  <a:lnTo>
                    <a:pt x="688675" y="537729"/>
                  </a:lnTo>
                  <a:lnTo>
                    <a:pt x="666002" y="574749"/>
                  </a:lnTo>
                  <a:lnTo>
                    <a:pt x="639228" y="608697"/>
                  </a:lnTo>
                  <a:lnTo>
                    <a:pt x="608697" y="639228"/>
                  </a:lnTo>
                  <a:lnTo>
                    <a:pt x="574749" y="666002"/>
                  </a:lnTo>
                  <a:lnTo>
                    <a:pt x="537729" y="688675"/>
                  </a:lnTo>
                  <a:lnTo>
                    <a:pt x="497977" y="706906"/>
                  </a:lnTo>
                  <a:lnTo>
                    <a:pt x="455837" y="720352"/>
                  </a:lnTo>
                  <a:lnTo>
                    <a:pt x="411650" y="728671"/>
                  </a:lnTo>
                  <a:lnTo>
                    <a:pt x="365759" y="731520"/>
                  </a:lnTo>
                  <a:lnTo>
                    <a:pt x="319879" y="728671"/>
                  </a:lnTo>
                  <a:lnTo>
                    <a:pt x="275699" y="720352"/>
                  </a:lnTo>
                  <a:lnTo>
                    <a:pt x="233563" y="706906"/>
                  </a:lnTo>
                  <a:lnTo>
                    <a:pt x="193813" y="688675"/>
                  </a:lnTo>
                  <a:lnTo>
                    <a:pt x="156792" y="666002"/>
                  </a:lnTo>
                  <a:lnTo>
                    <a:pt x="122843" y="639228"/>
                  </a:lnTo>
                  <a:lnTo>
                    <a:pt x="92308" y="608697"/>
                  </a:lnTo>
                  <a:lnTo>
                    <a:pt x="65531" y="574749"/>
                  </a:lnTo>
                  <a:lnTo>
                    <a:pt x="42854" y="537729"/>
                  </a:lnTo>
                  <a:lnTo>
                    <a:pt x="24619" y="497977"/>
                  </a:lnTo>
                  <a:lnTo>
                    <a:pt x="11170" y="455837"/>
                  </a:lnTo>
                  <a:lnTo>
                    <a:pt x="2849" y="411650"/>
                  </a:lnTo>
                  <a:lnTo>
                    <a:pt x="0" y="365760"/>
                  </a:lnTo>
                  <a:close/>
                </a:path>
              </a:pathLst>
            </a:custGeom>
            <a:ln w="1905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9556" y="2468879"/>
              <a:ext cx="530351" cy="530351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280670" y="3232785"/>
            <a:ext cx="2017395" cy="485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5A622"/>
                </a:solidFill>
                <a:latin typeface="Trebuchet MS"/>
                <a:cs typeface="Trebuchet MS"/>
              </a:rPr>
              <a:t>Primary</a:t>
            </a:r>
            <a:r>
              <a:rPr sz="1100" b="1" spc="-4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100" b="1" spc="-20" dirty="0">
                <a:solidFill>
                  <a:srgbClr val="F5A622"/>
                </a:solidFill>
                <a:latin typeface="Trebuchet MS"/>
                <a:cs typeface="Trebuchet MS"/>
              </a:rPr>
              <a:t>Goal</a:t>
            </a:r>
            <a:endParaRPr sz="11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sz="950" dirty="0">
                <a:solidFill>
                  <a:srgbClr val="E8E8EF"/>
                </a:solidFill>
                <a:latin typeface="Trebuchet MS"/>
                <a:cs typeface="Trebuchet MS"/>
              </a:rPr>
              <a:t>Predict CVD, diabetes, hypertension, sleep disorders &amp; stress risk in real time using 25 clinical + lifestyle features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386583" y="2121407"/>
            <a:ext cx="2249805" cy="2670175"/>
            <a:chOff x="2386583" y="2121407"/>
            <a:chExt cx="2249805" cy="2670175"/>
          </a:xfrm>
        </p:grpSpPr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6583" y="2121407"/>
              <a:ext cx="2249423" cy="2670048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514599" y="2285999"/>
              <a:ext cx="2030095" cy="2377440"/>
            </a:xfrm>
            <a:custGeom>
              <a:avLst/>
              <a:gdLst/>
              <a:ahLst/>
              <a:cxnLst/>
              <a:rect l="l" t="t" r="r" b="b"/>
              <a:pathLst>
                <a:path w="2030095" h="2377440">
                  <a:moveTo>
                    <a:pt x="0" y="2377440"/>
                  </a:moveTo>
                  <a:lnTo>
                    <a:pt x="2029968" y="2377440"/>
                  </a:lnTo>
                  <a:lnTo>
                    <a:pt x="2029968" y="0"/>
                  </a:lnTo>
                  <a:lnTo>
                    <a:pt x="0" y="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14599" y="2212847"/>
              <a:ext cx="2030095" cy="2451100"/>
            </a:xfrm>
            <a:custGeom>
              <a:avLst/>
              <a:gdLst/>
              <a:ahLst/>
              <a:cxnLst/>
              <a:rect l="l" t="t" r="r" b="b"/>
              <a:pathLst>
                <a:path w="2030095" h="2451100">
                  <a:moveTo>
                    <a:pt x="0" y="2450591"/>
                  </a:moveTo>
                  <a:lnTo>
                    <a:pt x="2029968" y="2450591"/>
                  </a:lnTo>
                  <a:lnTo>
                    <a:pt x="2029968" y="0"/>
                  </a:lnTo>
                  <a:lnTo>
                    <a:pt x="0" y="0"/>
                  </a:lnTo>
                  <a:lnTo>
                    <a:pt x="0" y="2450591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14599" y="2212847"/>
              <a:ext cx="2030095" cy="73660"/>
            </a:xfrm>
            <a:custGeom>
              <a:avLst/>
              <a:gdLst/>
              <a:ahLst/>
              <a:cxnLst/>
              <a:rect l="l" t="t" r="r" b="b"/>
              <a:pathLst>
                <a:path w="2030095" h="73660">
                  <a:moveTo>
                    <a:pt x="2029968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2029968" y="73151"/>
                  </a:lnTo>
                  <a:lnTo>
                    <a:pt x="2029968" y="0"/>
                  </a:lnTo>
                  <a:close/>
                </a:path>
              </a:pathLst>
            </a:custGeom>
            <a:solidFill>
              <a:srgbClr val="FF6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514599" y="2212847"/>
              <a:ext cx="2030095" cy="73660"/>
            </a:xfrm>
            <a:custGeom>
              <a:avLst/>
              <a:gdLst/>
              <a:ahLst/>
              <a:cxnLst/>
              <a:rect l="l" t="t" r="r" b="b"/>
              <a:pathLst>
                <a:path w="2030095" h="73660">
                  <a:moveTo>
                    <a:pt x="0" y="73151"/>
                  </a:moveTo>
                  <a:lnTo>
                    <a:pt x="2029968" y="73151"/>
                  </a:lnTo>
                  <a:lnTo>
                    <a:pt x="2029968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FF6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163823" y="237743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60" y="0"/>
                  </a:moveTo>
                  <a:lnTo>
                    <a:pt x="319869" y="2848"/>
                  </a:lnTo>
                  <a:lnTo>
                    <a:pt x="275682" y="11167"/>
                  </a:lnTo>
                  <a:lnTo>
                    <a:pt x="233542" y="24613"/>
                  </a:lnTo>
                  <a:lnTo>
                    <a:pt x="193790" y="42844"/>
                  </a:lnTo>
                  <a:lnTo>
                    <a:pt x="156770" y="65517"/>
                  </a:lnTo>
                  <a:lnTo>
                    <a:pt x="122822" y="92291"/>
                  </a:lnTo>
                  <a:lnTo>
                    <a:pt x="92291" y="122822"/>
                  </a:lnTo>
                  <a:lnTo>
                    <a:pt x="65517" y="156770"/>
                  </a:lnTo>
                  <a:lnTo>
                    <a:pt x="42844" y="193790"/>
                  </a:lnTo>
                  <a:lnTo>
                    <a:pt x="24613" y="233542"/>
                  </a:lnTo>
                  <a:lnTo>
                    <a:pt x="11167" y="275682"/>
                  </a:lnTo>
                  <a:lnTo>
                    <a:pt x="2848" y="319869"/>
                  </a:lnTo>
                  <a:lnTo>
                    <a:pt x="0" y="365760"/>
                  </a:lnTo>
                  <a:lnTo>
                    <a:pt x="2848" y="411650"/>
                  </a:lnTo>
                  <a:lnTo>
                    <a:pt x="11167" y="455837"/>
                  </a:lnTo>
                  <a:lnTo>
                    <a:pt x="24613" y="497977"/>
                  </a:lnTo>
                  <a:lnTo>
                    <a:pt x="42844" y="537729"/>
                  </a:lnTo>
                  <a:lnTo>
                    <a:pt x="65517" y="574749"/>
                  </a:lnTo>
                  <a:lnTo>
                    <a:pt x="92291" y="608697"/>
                  </a:lnTo>
                  <a:lnTo>
                    <a:pt x="122822" y="639228"/>
                  </a:lnTo>
                  <a:lnTo>
                    <a:pt x="156770" y="666002"/>
                  </a:lnTo>
                  <a:lnTo>
                    <a:pt x="193790" y="688675"/>
                  </a:lnTo>
                  <a:lnTo>
                    <a:pt x="233542" y="706906"/>
                  </a:lnTo>
                  <a:lnTo>
                    <a:pt x="275682" y="720352"/>
                  </a:lnTo>
                  <a:lnTo>
                    <a:pt x="319869" y="728671"/>
                  </a:lnTo>
                  <a:lnTo>
                    <a:pt x="365760" y="731520"/>
                  </a:lnTo>
                  <a:lnTo>
                    <a:pt x="411650" y="728671"/>
                  </a:lnTo>
                  <a:lnTo>
                    <a:pt x="455837" y="720352"/>
                  </a:lnTo>
                  <a:lnTo>
                    <a:pt x="497977" y="706906"/>
                  </a:lnTo>
                  <a:lnTo>
                    <a:pt x="537729" y="688675"/>
                  </a:lnTo>
                  <a:lnTo>
                    <a:pt x="574749" y="666002"/>
                  </a:lnTo>
                  <a:lnTo>
                    <a:pt x="608697" y="639228"/>
                  </a:lnTo>
                  <a:lnTo>
                    <a:pt x="639228" y="608697"/>
                  </a:lnTo>
                  <a:lnTo>
                    <a:pt x="666002" y="574749"/>
                  </a:lnTo>
                  <a:lnTo>
                    <a:pt x="688675" y="537729"/>
                  </a:lnTo>
                  <a:lnTo>
                    <a:pt x="706906" y="497977"/>
                  </a:lnTo>
                  <a:lnTo>
                    <a:pt x="720352" y="455837"/>
                  </a:lnTo>
                  <a:lnTo>
                    <a:pt x="728671" y="411650"/>
                  </a:lnTo>
                  <a:lnTo>
                    <a:pt x="731520" y="365760"/>
                  </a:lnTo>
                  <a:lnTo>
                    <a:pt x="728671" y="319869"/>
                  </a:lnTo>
                  <a:lnTo>
                    <a:pt x="720352" y="275682"/>
                  </a:lnTo>
                  <a:lnTo>
                    <a:pt x="706906" y="233542"/>
                  </a:lnTo>
                  <a:lnTo>
                    <a:pt x="688675" y="193790"/>
                  </a:lnTo>
                  <a:lnTo>
                    <a:pt x="666002" y="156770"/>
                  </a:lnTo>
                  <a:lnTo>
                    <a:pt x="639228" y="122822"/>
                  </a:lnTo>
                  <a:lnTo>
                    <a:pt x="608697" y="92291"/>
                  </a:lnTo>
                  <a:lnTo>
                    <a:pt x="574749" y="65517"/>
                  </a:lnTo>
                  <a:lnTo>
                    <a:pt x="537729" y="42844"/>
                  </a:lnTo>
                  <a:lnTo>
                    <a:pt x="497977" y="24613"/>
                  </a:lnTo>
                  <a:lnTo>
                    <a:pt x="455837" y="11167"/>
                  </a:lnTo>
                  <a:lnTo>
                    <a:pt x="411650" y="284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121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163823" y="237743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0" y="365760"/>
                  </a:moveTo>
                  <a:lnTo>
                    <a:pt x="2848" y="319869"/>
                  </a:lnTo>
                  <a:lnTo>
                    <a:pt x="11167" y="275682"/>
                  </a:lnTo>
                  <a:lnTo>
                    <a:pt x="24613" y="233542"/>
                  </a:lnTo>
                  <a:lnTo>
                    <a:pt x="42844" y="193790"/>
                  </a:lnTo>
                  <a:lnTo>
                    <a:pt x="65517" y="156770"/>
                  </a:lnTo>
                  <a:lnTo>
                    <a:pt x="92291" y="122822"/>
                  </a:lnTo>
                  <a:lnTo>
                    <a:pt x="122822" y="92291"/>
                  </a:lnTo>
                  <a:lnTo>
                    <a:pt x="156770" y="65517"/>
                  </a:lnTo>
                  <a:lnTo>
                    <a:pt x="193790" y="42844"/>
                  </a:lnTo>
                  <a:lnTo>
                    <a:pt x="233542" y="24613"/>
                  </a:lnTo>
                  <a:lnTo>
                    <a:pt x="275682" y="11167"/>
                  </a:lnTo>
                  <a:lnTo>
                    <a:pt x="319869" y="2848"/>
                  </a:lnTo>
                  <a:lnTo>
                    <a:pt x="365760" y="0"/>
                  </a:lnTo>
                  <a:lnTo>
                    <a:pt x="411650" y="2848"/>
                  </a:lnTo>
                  <a:lnTo>
                    <a:pt x="455837" y="11167"/>
                  </a:lnTo>
                  <a:lnTo>
                    <a:pt x="497977" y="24613"/>
                  </a:lnTo>
                  <a:lnTo>
                    <a:pt x="537729" y="42844"/>
                  </a:lnTo>
                  <a:lnTo>
                    <a:pt x="574749" y="65517"/>
                  </a:lnTo>
                  <a:lnTo>
                    <a:pt x="608697" y="92291"/>
                  </a:lnTo>
                  <a:lnTo>
                    <a:pt x="639228" y="122822"/>
                  </a:lnTo>
                  <a:lnTo>
                    <a:pt x="666002" y="156770"/>
                  </a:lnTo>
                  <a:lnTo>
                    <a:pt x="688675" y="193790"/>
                  </a:lnTo>
                  <a:lnTo>
                    <a:pt x="706906" y="233542"/>
                  </a:lnTo>
                  <a:lnTo>
                    <a:pt x="720352" y="275682"/>
                  </a:lnTo>
                  <a:lnTo>
                    <a:pt x="728671" y="319869"/>
                  </a:lnTo>
                  <a:lnTo>
                    <a:pt x="731520" y="365760"/>
                  </a:lnTo>
                  <a:lnTo>
                    <a:pt x="728671" y="411650"/>
                  </a:lnTo>
                  <a:lnTo>
                    <a:pt x="720352" y="455837"/>
                  </a:lnTo>
                  <a:lnTo>
                    <a:pt x="706906" y="497977"/>
                  </a:lnTo>
                  <a:lnTo>
                    <a:pt x="688675" y="537729"/>
                  </a:lnTo>
                  <a:lnTo>
                    <a:pt x="666002" y="574749"/>
                  </a:lnTo>
                  <a:lnTo>
                    <a:pt x="639228" y="608697"/>
                  </a:lnTo>
                  <a:lnTo>
                    <a:pt x="608697" y="639228"/>
                  </a:lnTo>
                  <a:lnTo>
                    <a:pt x="574749" y="666002"/>
                  </a:lnTo>
                  <a:lnTo>
                    <a:pt x="537729" y="688675"/>
                  </a:lnTo>
                  <a:lnTo>
                    <a:pt x="497977" y="706906"/>
                  </a:lnTo>
                  <a:lnTo>
                    <a:pt x="455837" y="720352"/>
                  </a:lnTo>
                  <a:lnTo>
                    <a:pt x="411650" y="728671"/>
                  </a:lnTo>
                  <a:lnTo>
                    <a:pt x="365760" y="731520"/>
                  </a:lnTo>
                  <a:lnTo>
                    <a:pt x="319869" y="728671"/>
                  </a:lnTo>
                  <a:lnTo>
                    <a:pt x="275682" y="720352"/>
                  </a:lnTo>
                  <a:lnTo>
                    <a:pt x="233542" y="706906"/>
                  </a:lnTo>
                  <a:lnTo>
                    <a:pt x="193790" y="688675"/>
                  </a:lnTo>
                  <a:lnTo>
                    <a:pt x="156770" y="666002"/>
                  </a:lnTo>
                  <a:lnTo>
                    <a:pt x="122822" y="639228"/>
                  </a:lnTo>
                  <a:lnTo>
                    <a:pt x="92291" y="608697"/>
                  </a:lnTo>
                  <a:lnTo>
                    <a:pt x="65517" y="574749"/>
                  </a:lnTo>
                  <a:lnTo>
                    <a:pt x="42844" y="537729"/>
                  </a:lnTo>
                  <a:lnTo>
                    <a:pt x="24613" y="497977"/>
                  </a:lnTo>
                  <a:lnTo>
                    <a:pt x="11167" y="455837"/>
                  </a:lnTo>
                  <a:lnTo>
                    <a:pt x="2848" y="411650"/>
                  </a:lnTo>
                  <a:lnTo>
                    <a:pt x="0" y="365760"/>
                  </a:lnTo>
                  <a:close/>
                </a:path>
              </a:pathLst>
            </a:custGeom>
            <a:ln w="19050">
              <a:solidFill>
                <a:srgbClr val="FF6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59836" y="2468879"/>
              <a:ext cx="530351" cy="530351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2520950" y="3232785"/>
            <a:ext cx="2017395" cy="485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6B00"/>
                </a:solidFill>
                <a:latin typeface="Trebuchet MS"/>
                <a:cs typeface="Trebuchet MS"/>
              </a:rPr>
              <a:t>Innovation</a:t>
            </a:r>
            <a:r>
              <a:rPr sz="1100" b="1" spc="-55" dirty="0">
                <a:solidFill>
                  <a:srgbClr val="FF6B00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FF6B00"/>
                </a:solidFill>
                <a:latin typeface="Trebuchet MS"/>
                <a:cs typeface="Trebuchet MS"/>
              </a:rPr>
              <a:t>Focus</a:t>
            </a:r>
            <a:endParaRPr sz="11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sz="950" dirty="0">
                <a:solidFill>
                  <a:srgbClr val="E8E8EF"/>
                </a:solidFill>
                <a:latin typeface="Trebuchet MS"/>
                <a:cs typeface="Trebuchet MS"/>
              </a:rPr>
              <a:t>Multi-model GBM ensemble + XAI explainability + interactive What-If simulation engine for preventive care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626864" y="2121407"/>
            <a:ext cx="2249805" cy="2670175"/>
            <a:chOff x="4626864" y="2121407"/>
            <a:chExt cx="2249805" cy="2670175"/>
          </a:xfrm>
        </p:grpSpPr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26864" y="2121407"/>
              <a:ext cx="2249424" cy="2670048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754880" y="2285999"/>
              <a:ext cx="2030095" cy="2377440"/>
            </a:xfrm>
            <a:custGeom>
              <a:avLst/>
              <a:gdLst/>
              <a:ahLst/>
              <a:cxnLst/>
              <a:rect l="l" t="t" r="r" b="b"/>
              <a:pathLst>
                <a:path w="2030095" h="2377440">
                  <a:moveTo>
                    <a:pt x="0" y="2377440"/>
                  </a:moveTo>
                  <a:lnTo>
                    <a:pt x="2029968" y="2377440"/>
                  </a:lnTo>
                  <a:lnTo>
                    <a:pt x="2029968" y="0"/>
                  </a:lnTo>
                  <a:lnTo>
                    <a:pt x="0" y="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754880" y="2212847"/>
              <a:ext cx="2030095" cy="2451100"/>
            </a:xfrm>
            <a:custGeom>
              <a:avLst/>
              <a:gdLst/>
              <a:ahLst/>
              <a:cxnLst/>
              <a:rect l="l" t="t" r="r" b="b"/>
              <a:pathLst>
                <a:path w="2030095" h="2451100">
                  <a:moveTo>
                    <a:pt x="0" y="2450591"/>
                  </a:moveTo>
                  <a:lnTo>
                    <a:pt x="2029968" y="2450591"/>
                  </a:lnTo>
                  <a:lnTo>
                    <a:pt x="2029968" y="0"/>
                  </a:lnTo>
                  <a:lnTo>
                    <a:pt x="0" y="0"/>
                  </a:lnTo>
                  <a:lnTo>
                    <a:pt x="0" y="2450591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754880" y="2212847"/>
              <a:ext cx="2030095" cy="73660"/>
            </a:xfrm>
            <a:custGeom>
              <a:avLst/>
              <a:gdLst/>
              <a:ahLst/>
              <a:cxnLst/>
              <a:rect l="l" t="t" r="r" b="b"/>
              <a:pathLst>
                <a:path w="2030095" h="73660">
                  <a:moveTo>
                    <a:pt x="2029968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2029968" y="73151"/>
                  </a:lnTo>
                  <a:lnTo>
                    <a:pt x="2029968" y="0"/>
                  </a:lnTo>
                  <a:close/>
                </a:path>
              </a:pathLst>
            </a:custGeom>
            <a:solidFill>
              <a:srgbClr val="00C7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754880" y="2212847"/>
              <a:ext cx="2030095" cy="73660"/>
            </a:xfrm>
            <a:custGeom>
              <a:avLst/>
              <a:gdLst/>
              <a:ahLst/>
              <a:cxnLst/>
              <a:rect l="l" t="t" r="r" b="b"/>
              <a:pathLst>
                <a:path w="2030095" h="73660">
                  <a:moveTo>
                    <a:pt x="0" y="73151"/>
                  </a:moveTo>
                  <a:lnTo>
                    <a:pt x="2029968" y="73151"/>
                  </a:lnTo>
                  <a:lnTo>
                    <a:pt x="2029968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00C7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404104" y="237743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60" y="0"/>
                  </a:moveTo>
                  <a:lnTo>
                    <a:pt x="319869" y="2848"/>
                  </a:lnTo>
                  <a:lnTo>
                    <a:pt x="275682" y="11167"/>
                  </a:lnTo>
                  <a:lnTo>
                    <a:pt x="233542" y="24613"/>
                  </a:lnTo>
                  <a:lnTo>
                    <a:pt x="193790" y="42844"/>
                  </a:lnTo>
                  <a:lnTo>
                    <a:pt x="156770" y="65517"/>
                  </a:lnTo>
                  <a:lnTo>
                    <a:pt x="122822" y="92291"/>
                  </a:lnTo>
                  <a:lnTo>
                    <a:pt x="92291" y="122822"/>
                  </a:lnTo>
                  <a:lnTo>
                    <a:pt x="65517" y="156770"/>
                  </a:lnTo>
                  <a:lnTo>
                    <a:pt x="42844" y="193790"/>
                  </a:lnTo>
                  <a:lnTo>
                    <a:pt x="24613" y="233542"/>
                  </a:lnTo>
                  <a:lnTo>
                    <a:pt x="11167" y="275682"/>
                  </a:lnTo>
                  <a:lnTo>
                    <a:pt x="2848" y="319869"/>
                  </a:lnTo>
                  <a:lnTo>
                    <a:pt x="0" y="365760"/>
                  </a:lnTo>
                  <a:lnTo>
                    <a:pt x="2848" y="411650"/>
                  </a:lnTo>
                  <a:lnTo>
                    <a:pt x="11167" y="455837"/>
                  </a:lnTo>
                  <a:lnTo>
                    <a:pt x="24613" y="497977"/>
                  </a:lnTo>
                  <a:lnTo>
                    <a:pt x="42844" y="537729"/>
                  </a:lnTo>
                  <a:lnTo>
                    <a:pt x="65517" y="574749"/>
                  </a:lnTo>
                  <a:lnTo>
                    <a:pt x="92291" y="608697"/>
                  </a:lnTo>
                  <a:lnTo>
                    <a:pt x="122822" y="639228"/>
                  </a:lnTo>
                  <a:lnTo>
                    <a:pt x="156770" y="666002"/>
                  </a:lnTo>
                  <a:lnTo>
                    <a:pt x="193790" y="688675"/>
                  </a:lnTo>
                  <a:lnTo>
                    <a:pt x="233542" y="706906"/>
                  </a:lnTo>
                  <a:lnTo>
                    <a:pt x="275682" y="720352"/>
                  </a:lnTo>
                  <a:lnTo>
                    <a:pt x="319869" y="728671"/>
                  </a:lnTo>
                  <a:lnTo>
                    <a:pt x="365760" y="731520"/>
                  </a:lnTo>
                  <a:lnTo>
                    <a:pt x="411650" y="728671"/>
                  </a:lnTo>
                  <a:lnTo>
                    <a:pt x="455837" y="720352"/>
                  </a:lnTo>
                  <a:lnTo>
                    <a:pt x="497977" y="706906"/>
                  </a:lnTo>
                  <a:lnTo>
                    <a:pt x="537729" y="688675"/>
                  </a:lnTo>
                  <a:lnTo>
                    <a:pt x="574749" y="666002"/>
                  </a:lnTo>
                  <a:lnTo>
                    <a:pt x="608697" y="639228"/>
                  </a:lnTo>
                  <a:lnTo>
                    <a:pt x="639228" y="608697"/>
                  </a:lnTo>
                  <a:lnTo>
                    <a:pt x="666002" y="574749"/>
                  </a:lnTo>
                  <a:lnTo>
                    <a:pt x="688675" y="537729"/>
                  </a:lnTo>
                  <a:lnTo>
                    <a:pt x="706906" y="497977"/>
                  </a:lnTo>
                  <a:lnTo>
                    <a:pt x="720352" y="455837"/>
                  </a:lnTo>
                  <a:lnTo>
                    <a:pt x="728671" y="411650"/>
                  </a:lnTo>
                  <a:lnTo>
                    <a:pt x="731520" y="365760"/>
                  </a:lnTo>
                  <a:lnTo>
                    <a:pt x="728671" y="319869"/>
                  </a:lnTo>
                  <a:lnTo>
                    <a:pt x="720352" y="275682"/>
                  </a:lnTo>
                  <a:lnTo>
                    <a:pt x="706906" y="233542"/>
                  </a:lnTo>
                  <a:lnTo>
                    <a:pt x="688675" y="193790"/>
                  </a:lnTo>
                  <a:lnTo>
                    <a:pt x="666002" y="156770"/>
                  </a:lnTo>
                  <a:lnTo>
                    <a:pt x="639228" y="122822"/>
                  </a:lnTo>
                  <a:lnTo>
                    <a:pt x="608697" y="92291"/>
                  </a:lnTo>
                  <a:lnTo>
                    <a:pt x="574749" y="65517"/>
                  </a:lnTo>
                  <a:lnTo>
                    <a:pt x="537729" y="42844"/>
                  </a:lnTo>
                  <a:lnTo>
                    <a:pt x="497977" y="24613"/>
                  </a:lnTo>
                  <a:lnTo>
                    <a:pt x="455837" y="11167"/>
                  </a:lnTo>
                  <a:lnTo>
                    <a:pt x="411650" y="284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121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404104" y="237743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0" y="365760"/>
                  </a:moveTo>
                  <a:lnTo>
                    <a:pt x="2848" y="319869"/>
                  </a:lnTo>
                  <a:lnTo>
                    <a:pt x="11167" y="275682"/>
                  </a:lnTo>
                  <a:lnTo>
                    <a:pt x="24613" y="233542"/>
                  </a:lnTo>
                  <a:lnTo>
                    <a:pt x="42844" y="193790"/>
                  </a:lnTo>
                  <a:lnTo>
                    <a:pt x="65517" y="156770"/>
                  </a:lnTo>
                  <a:lnTo>
                    <a:pt x="92291" y="122822"/>
                  </a:lnTo>
                  <a:lnTo>
                    <a:pt x="122822" y="92291"/>
                  </a:lnTo>
                  <a:lnTo>
                    <a:pt x="156770" y="65517"/>
                  </a:lnTo>
                  <a:lnTo>
                    <a:pt x="193790" y="42844"/>
                  </a:lnTo>
                  <a:lnTo>
                    <a:pt x="233542" y="24613"/>
                  </a:lnTo>
                  <a:lnTo>
                    <a:pt x="275682" y="11167"/>
                  </a:lnTo>
                  <a:lnTo>
                    <a:pt x="319869" y="2848"/>
                  </a:lnTo>
                  <a:lnTo>
                    <a:pt x="365760" y="0"/>
                  </a:lnTo>
                  <a:lnTo>
                    <a:pt x="411650" y="2848"/>
                  </a:lnTo>
                  <a:lnTo>
                    <a:pt x="455837" y="11167"/>
                  </a:lnTo>
                  <a:lnTo>
                    <a:pt x="497977" y="24613"/>
                  </a:lnTo>
                  <a:lnTo>
                    <a:pt x="537729" y="42844"/>
                  </a:lnTo>
                  <a:lnTo>
                    <a:pt x="574749" y="65517"/>
                  </a:lnTo>
                  <a:lnTo>
                    <a:pt x="608697" y="92291"/>
                  </a:lnTo>
                  <a:lnTo>
                    <a:pt x="639228" y="122822"/>
                  </a:lnTo>
                  <a:lnTo>
                    <a:pt x="666002" y="156770"/>
                  </a:lnTo>
                  <a:lnTo>
                    <a:pt x="688675" y="193790"/>
                  </a:lnTo>
                  <a:lnTo>
                    <a:pt x="706906" y="233542"/>
                  </a:lnTo>
                  <a:lnTo>
                    <a:pt x="720352" y="275682"/>
                  </a:lnTo>
                  <a:lnTo>
                    <a:pt x="728671" y="319869"/>
                  </a:lnTo>
                  <a:lnTo>
                    <a:pt x="731520" y="365760"/>
                  </a:lnTo>
                  <a:lnTo>
                    <a:pt x="728671" y="411650"/>
                  </a:lnTo>
                  <a:lnTo>
                    <a:pt x="720352" y="455837"/>
                  </a:lnTo>
                  <a:lnTo>
                    <a:pt x="706906" y="497977"/>
                  </a:lnTo>
                  <a:lnTo>
                    <a:pt x="688675" y="537729"/>
                  </a:lnTo>
                  <a:lnTo>
                    <a:pt x="666002" y="574749"/>
                  </a:lnTo>
                  <a:lnTo>
                    <a:pt x="639228" y="608697"/>
                  </a:lnTo>
                  <a:lnTo>
                    <a:pt x="608697" y="639228"/>
                  </a:lnTo>
                  <a:lnTo>
                    <a:pt x="574749" y="666002"/>
                  </a:lnTo>
                  <a:lnTo>
                    <a:pt x="537729" y="688675"/>
                  </a:lnTo>
                  <a:lnTo>
                    <a:pt x="497977" y="706906"/>
                  </a:lnTo>
                  <a:lnTo>
                    <a:pt x="455837" y="720352"/>
                  </a:lnTo>
                  <a:lnTo>
                    <a:pt x="411650" y="728671"/>
                  </a:lnTo>
                  <a:lnTo>
                    <a:pt x="365760" y="731520"/>
                  </a:lnTo>
                  <a:lnTo>
                    <a:pt x="319869" y="728671"/>
                  </a:lnTo>
                  <a:lnTo>
                    <a:pt x="275682" y="720352"/>
                  </a:lnTo>
                  <a:lnTo>
                    <a:pt x="233542" y="706906"/>
                  </a:lnTo>
                  <a:lnTo>
                    <a:pt x="193790" y="688675"/>
                  </a:lnTo>
                  <a:lnTo>
                    <a:pt x="156770" y="666002"/>
                  </a:lnTo>
                  <a:lnTo>
                    <a:pt x="122822" y="639228"/>
                  </a:lnTo>
                  <a:lnTo>
                    <a:pt x="92291" y="608697"/>
                  </a:lnTo>
                  <a:lnTo>
                    <a:pt x="65517" y="574749"/>
                  </a:lnTo>
                  <a:lnTo>
                    <a:pt x="42844" y="537729"/>
                  </a:lnTo>
                  <a:lnTo>
                    <a:pt x="24613" y="497977"/>
                  </a:lnTo>
                  <a:lnTo>
                    <a:pt x="11167" y="455837"/>
                  </a:lnTo>
                  <a:lnTo>
                    <a:pt x="2848" y="411650"/>
                  </a:lnTo>
                  <a:lnTo>
                    <a:pt x="0" y="365760"/>
                  </a:lnTo>
                  <a:close/>
                </a:path>
              </a:pathLst>
            </a:custGeom>
            <a:ln w="19050">
              <a:solidFill>
                <a:srgbClr val="00C7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00116" y="2468879"/>
              <a:ext cx="530351" cy="530351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4761229" y="3232785"/>
            <a:ext cx="2017395" cy="485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0C7B4"/>
                </a:solidFill>
                <a:latin typeface="Trebuchet MS"/>
                <a:cs typeface="Trebuchet MS"/>
              </a:rPr>
              <a:t>Target</a:t>
            </a:r>
            <a:r>
              <a:rPr sz="1100" b="1" spc="-35" dirty="0">
                <a:solidFill>
                  <a:srgbClr val="00C7B4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00C7B4"/>
                </a:solidFill>
                <a:latin typeface="Trebuchet MS"/>
                <a:cs typeface="Trebuchet MS"/>
              </a:rPr>
              <a:t>Audience</a:t>
            </a:r>
            <a:endParaRPr sz="11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sz="950" dirty="0">
                <a:solidFill>
                  <a:srgbClr val="E8E8EF"/>
                </a:solidFill>
                <a:latin typeface="Trebuchet MS"/>
                <a:cs typeface="Trebuchet MS"/>
              </a:rPr>
              <a:t>Preventive care clinics, corporate wellness programs, individuals aged 30–75 with wearable devices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867143" y="2121407"/>
            <a:ext cx="2249805" cy="2670175"/>
            <a:chOff x="6867143" y="2121407"/>
            <a:chExt cx="2249805" cy="2670175"/>
          </a:xfrm>
        </p:grpSpPr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67143" y="2121407"/>
              <a:ext cx="2249424" cy="2670048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6995159" y="2285999"/>
              <a:ext cx="2030095" cy="2377440"/>
            </a:xfrm>
            <a:custGeom>
              <a:avLst/>
              <a:gdLst/>
              <a:ahLst/>
              <a:cxnLst/>
              <a:rect l="l" t="t" r="r" b="b"/>
              <a:pathLst>
                <a:path w="2030095" h="2377440">
                  <a:moveTo>
                    <a:pt x="0" y="2377440"/>
                  </a:moveTo>
                  <a:lnTo>
                    <a:pt x="2029968" y="2377440"/>
                  </a:lnTo>
                  <a:lnTo>
                    <a:pt x="2029968" y="0"/>
                  </a:lnTo>
                  <a:lnTo>
                    <a:pt x="0" y="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995159" y="2212847"/>
              <a:ext cx="2030095" cy="2451100"/>
            </a:xfrm>
            <a:custGeom>
              <a:avLst/>
              <a:gdLst/>
              <a:ahLst/>
              <a:cxnLst/>
              <a:rect l="l" t="t" r="r" b="b"/>
              <a:pathLst>
                <a:path w="2030095" h="2451100">
                  <a:moveTo>
                    <a:pt x="0" y="2450591"/>
                  </a:moveTo>
                  <a:lnTo>
                    <a:pt x="2029968" y="2450591"/>
                  </a:lnTo>
                  <a:lnTo>
                    <a:pt x="2029968" y="0"/>
                  </a:lnTo>
                  <a:lnTo>
                    <a:pt x="0" y="0"/>
                  </a:lnTo>
                  <a:lnTo>
                    <a:pt x="0" y="2450591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995159" y="2212847"/>
              <a:ext cx="2030095" cy="73660"/>
            </a:xfrm>
            <a:custGeom>
              <a:avLst/>
              <a:gdLst/>
              <a:ahLst/>
              <a:cxnLst/>
              <a:rect l="l" t="t" r="r" b="b"/>
              <a:pathLst>
                <a:path w="2030095" h="73660">
                  <a:moveTo>
                    <a:pt x="2029968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2029968" y="73151"/>
                  </a:lnTo>
                  <a:lnTo>
                    <a:pt x="2029968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995159" y="2212847"/>
              <a:ext cx="2030095" cy="73660"/>
            </a:xfrm>
            <a:custGeom>
              <a:avLst/>
              <a:gdLst/>
              <a:ahLst/>
              <a:cxnLst/>
              <a:rect l="l" t="t" r="r" b="b"/>
              <a:pathLst>
                <a:path w="2030095" h="73660">
                  <a:moveTo>
                    <a:pt x="0" y="73151"/>
                  </a:moveTo>
                  <a:lnTo>
                    <a:pt x="2029968" y="73151"/>
                  </a:lnTo>
                  <a:lnTo>
                    <a:pt x="2029968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644383" y="237743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60" y="0"/>
                  </a:moveTo>
                  <a:lnTo>
                    <a:pt x="319869" y="2848"/>
                  </a:lnTo>
                  <a:lnTo>
                    <a:pt x="275682" y="11167"/>
                  </a:lnTo>
                  <a:lnTo>
                    <a:pt x="233542" y="24613"/>
                  </a:lnTo>
                  <a:lnTo>
                    <a:pt x="193790" y="42844"/>
                  </a:lnTo>
                  <a:lnTo>
                    <a:pt x="156770" y="65517"/>
                  </a:lnTo>
                  <a:lnTo>
                    <a:pt x="122822" y="92291"/>
                  </a:lnTo>
                  <a:lnTo>
                    <a:pt x="92291" y="122822"/>
                  </a:lnTo>
                  <a:lnTo>
                    <a:pt x="65517" y="156770"/>
                  </a:lnTo>
                  <a:lnTo>
                    <a:pt x="42844" y="193790"/>
                  </a:lnTo>
                  <a:lnTo>
                    <a:pt x="24613" y="233542"/>
                  </a:lnTo>
                  <a:lnTo>
                    <a:pt x="11167" y="275682"/>
                  </a:lnTo>
                  <a:lnTo>
                    <a:pt x="2848" y="319869"/>
                  </a:lnTo>
                  <a:lnTo>
                    <a:pt x="0" y="365760"/>
                  </a:lnTo>
                  <a:lnTo>
                    <a:pt x="2848" y="411650"/>
                  </a:lnTo>
                  <a:lnTo>
                    <a:pt x="11167" y="455837"/>
                  </a:lnTo>
                  <a:lnTo>
                    <a:pt x="24613" y="497977"/>
                  </a:lnTo>
                  <a:lnTo>
                    <a:pt x="42844" y="537729"/>
                  </a:lnTo>
                  <a:lnTo>
                    <a:pt x="65517" y="574749"/>
                  </a:lnTo>
                  <a:lnTo>
                    <a:pt x="92291" y="608697"/>
                  </a:lnTo>
                  <a:lnTo>
                    <a:pt x="122822" y="639228"/>
                  </a:lnTo>
                  <a:lnTo>
                    <a:pt x="156770" y="666002"/>
                  </a:lnTo>
                  <a:lnTo>
                    <a:pt x="193790" y="688675"/>
                  </a:lnTo>
                  <a:lnTo>
                    <a:pt x="233542" y="706906"/>
                  </a:lnTo>
                  <a:lnTo>
                    <a:pt x="275682" y="720352"/>
                  </a:lnTo>
                  <a:lnTo>
                    <a:pt x="319869" y="728671"/>
                  </a:lnTo>
                  <a:lnTo>
                    <a:pt x="365760" y="731520"/>
                  </a:lnTo>
                  <a:lnTo>
                    <a:pt x="411650" y="728671"/>
                  </a:lnTo>
                  <a:lnTo>
                    <a:pt x="455837" y="720352"/>
                  </a:lnTo>
                  <a:lnTo>
                    <a:pt x="497977" y="706906"/>
                  </a:lnTo>
                  <a:lnTo>
                    <a:pt x="537729" y="688675"/>
                  </a:lnTo>
                  <a:lnTo>
                    <a:pt x="574749" y="666002"/>
                  </a:lnTo>
                  <a:lnTo>
                    <a:pt x="608697" y="639228"/>
                  </a:lnTo>
                  <a:lnTo>
                    <a:pt x="639228" y="608697"/>
                  </a:lnTo>
                  <a:lnTo>
                    <a:pt x="666002" y="574749"/>
                  </a:lnTo>
                  <a:lnTo>
                    <a:pt x="688675" y="537729"/>
                  </a:lnTo>
                  <a:lnTo>
                    <a:pt x="706906" y="497977"/>
                  </a:lnTo>
                  <a:lnTo>
                    <a:pt x="720352" y="455837"/>
                  </a:lnTo>
                  <a:lnTo>
                    <a:pt x="728671" y="411650"/>
                  </a:lnTo>
                  <a:lnTo>
                    <a:pt x="731520" y="365760"/>
                  </a:lnTo>
                  <a:lnTo>
                    <a:pt x="728671" y="319869"/>
                  </a:lnTo>
                  <a:lnTo>
                    <a:pt x="720352" y="275682"/>
                  </a:lnTo>
                  <a:lnTo>
                    <a:pt x="706906" y="233542"/>
                  </a:lnTo>
                  <a:lnTo>
                    <a:pt x="688675" y="193790"/>
                  </a:lnTo>
                  <a:lnTo>
                    <a:pt x="666002" y="156770"/>
                  </a:lnTo>
                  <a:lnTo>
                    <a:pt x="639228" y="122822"/>
                  </a:lnTo>
                  <a:lnTo>
                    <a:pt x="608697" y="92291"/>
                  </a:lnTo>
                  <a:lnTo>
                    <a:pt x="574749" y="65517"/>
                  </a:lnTo>
                  <a:lnTo>
                    <a:pt x="537729" y="42844"/>
                  </a:lnTo>
                  <a:lnTo>
                    <a:pt x="497977" y="24613"/>
                  </a:lnTo>
                  <a:lnTo>
                    <a:pt x="455837" y="11167"/>
                  </a:lnTo>
                  <a:lnTo>
                    <a:pt x="411650" y="284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121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644383" y="237743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0" y="365760"/>
                  </a:moveTo>
                  <a:lnTo>
                    <a:pt x="2848" y="319869"/>
                  </a:lnTo>
                  <a:lnTo>
                    <a:pt x="11167" y="275682"/>
                  </a:lnTo>
                  <a:lnTo>
                    <a:pt x="24613" y="233542"/>
                  </a:lnTo>
                  <a:lnTo>
                    <a:pt x="42844" y="193790"/>
                  </a:lnTo>
                  <a:lnTo>
                    <a:pt x="65517" y="156770"/>
                  </a:lnTo>
                  <a:lnTo>
                    <a:pt x="92291" y="122822"/>
                  </a:lnTo>
                  <a:lnTo>
                    <a:pt x="122822" y="92291"/>
                  </a:lnTo>
                  <a:lnTo>
                    <a:pt x="156770" y="65517"/>
                  </a:lnTo>
                  <a:lnTo>
                    <a:pt x="193790" y="42844"/>
                  </a:lnTo>
                  <a:lnTo>
                    <a:pt x="233542" y="24613"/>
                  </a:lnTo>
                  <a:lnTo>
                    <a:pt x="275682" y="11167"/>
                  </a:lnTo>
                  <a:lnTo>
                    <a:pt x="319869" y="2848"/>
                  </a:lnTo>
                  <a:lnTo>
                    <a:pt x="365760" y="0"/>
                  </a:lnTo>
                  <a:lnTo>
                    <a:pt x="411650" y="2848"/>
                  </a:lnTo>
                  <a:lnTo>
                    <a:pt x="455837" y="11167"/>
                  </a:lnTo>
                  <a:lnTo>
                    <a:pt x="497977" y="24613"/>
                  </a:lnTo>
                  <a:lnTo>
                    <a:pt x="537729" y="42844"/>
                  </a:lnTo>
                  <a:lnTo>
                    <a:pt x="574749" y="65517"/>
                  </a:lnTo>
                  <a:lnTo>
                    <a:pt x="608697" y="92291"/>
                  </a:lnTo>
                  <a:lnTo>
                    <a:pt x="639228" y="122822"/>
                  </a:lnTo>
                  <a:lnTo>
                    <a:pt x="666002" y="156770"/>
                  </a:lnTo>
                  <a:lnTo>
                    <a:pt x="688675" y="193790"/>
                  </a:lnTo>
                  <a:lnTo>
                    <a:pt x="706906" y="233542"/>
                  </a:lnTo>
                  <a:lnTo>
                    <a:pt x="720352" y="275682"/>
                  </a:lnTo>
                  <a:lnTo>
                    <a:pt x="728671" y="319869"/>
                  </a:lnTo>
                  <a:lnTo>
                    <a:pt x="731520" y="365760"/>
                  </a:lnTo>
                  <a:lnTo>
                    <a:pt x="728671" y="411650"/>
                  </a:lnTo>
                  <a:lnTo>
                    <a:pt x="720352" y="455837"/>
                  </a:lnTo>
                  <a:lnTo>
                    <a:pt x="706906" y="497977"/>
                  </a:lnTo>
                  <a:lnTo>
                    <a:pt x="688675" y="537729"/>
                  </a:lnTo>
                  <a:lnTo>
                    <a:pt x="666002" y="574749"/>
                  </a:lnTo>
                  <a:lnTo>
                    <a:pt x="639228" y="608697"/>
                  </a:lnTo>
                  <a:lnTo>
                    <a:pt x="608697" y="639228"/>
                  </a:lnTo>
                  <a:lnTo>
                    <a:pt x="574749" y="666002"/>
                  </a:lnTo>
                  <a:lnTo>
                    <a:pt x="537729" y="688675"/>
                  </a:lnTo>
                  <a:lnTo>
                    <a:pt x="497977" y="706906"/>
                  </a:lnTo>
                  <a:lnTo>
                    <a:pt x="455837" y="720352"/>
                  </a:lnTo>
                  <a:lnTo>
                    <a:pt x="411650" y="728671"/>
                  </a:lnTo>
                  <a:lnTo>
                    <a:pt x="365760" y="731520"/>
                  </a:lnTo>
                  <a:lnTo>
                    <a:pt x="319869" y="728671"/>
                  </a:lnTo>
                  <a:lnTo>
                    <a:pt x="275682" y="720352"/>
                  </a:lnTo>
                  <a:lnTo>
                    <a:pt x="233542" y="706906"/>
                  </a:lnTo>
                  <a:lnTo>
                    <a:pt x="193790" y="688675"/>
                  </a:lnTo>
                  <a:lnTo>
                    <a:pt x="156770" y="666002"/>
                  </a:lnTo>
                  <a:lnTo>
                    <a:pt x="122822" y="639228"/>
                  </a:lnTo>
                  <a:lnTo>
                    <a:pt x="92291" y="608697"/>
                  </a:lnTo>
                  <a:lnTo>
                    <a:pt x="65517" y="574749"/>
                  </a:lnTo>
                  <a:lnTo>
                    <a:pt x="42844" y="537729"/>
                  </a:lnTo>
                  <a:lnTo>
                    <a:pt x="24613" y="497977"/>
                  </a:lnTo>
                  <a:lnTo>
                    <a:pt x="11167" y="455837"/>
                  </a:lnTo>
                  <a:lnTo>
                    <a:pt x="2848" y="411650"/>
                  </a:lnTo>
                  <a:lnTo>
                    <a:pt x="0" y="365760"/>
                  </a:lnTo>
                  <a:close/>
                </a:path>
              </a:pathLst>
            </a:custGeom>
            <a:ln w="19050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40395" y="2468879"/>
              <a:ext cx="530351" cy="530351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7001509" y="3232785"/>
            <a:ext cx="2017395" cy="485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7B39EC"/>
                </a:solidFill>
                <a:latin typeface="Trebuchet MS"/>
                <a:cs typeface="Trebuchet MS"/>
              </a:rPr>
              <a:t>Expected</a:t>
            </a:r>
            <a:r>
              <a:rPr sz="1100" b="1" spc="-45" dirty="0">
                <a:solidFill>
                  <a:srgbClr val="7B39E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7B39EC"/>
                </a:solidFill>
                <a:latin typeface="Trebuchet MS"/>
                <a:cs typeface="Trebuchet MS"/>
              </a:rPr>
              <a:t>Reach</a:t>
            </a:r>
            <a:endParaRPr sz="11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sz="950" dirty="0">
                <a:solidFill>
                  <a:srgbClr val="E8E8EF"/>
                </a:solidFill>
                <a:latin typeface="Trebuchet MS"/>
                <a:cs typeface="Trebuchet MS"/>
              </a:rPr>
              <a:t>Pilot: 10,000 users · Year 1: 500K · Global rollout via API integration with EHR systems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9" name="object 5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9658" y="0"/>
            <a:ext cx="791997" cy="696595"/>
          </a:xfrm>
          <a:prstGeom prst="rect">
            <a:avLst/>
          </a:prstGeom>
        </p:spPr>
      </p:pic>
      <p:sp>
        <p:nvSpPr>
          <p:cNvPr id="60" name="object 6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PRAGATI</a:t>
            </a:r>
            <a:r>
              <a:rPr spc="30" dirty="0"/>
              <a:t> </a:t>
            </a:r>
            <a:r>
              <a:rPr dirty="0"/>
              <a:t>2026</a:t>
            </a:r>
            <a:r>
              <a:rPr spc="10" dirty="0"/>
              <a:t> </a:t>
            </a:r>
            <a:r>
              <a:rPr dirty="0"/>
              <a:t>—</a:t>
            </a:r>
            <a:r>
              <a:rPr spc="-10" dirty="0"/>
              <a:t> bengalithub.com/hackfest-</a:t>
            </a:r>
            <a:r>
              <a:rPr spc="-20" dirty="0"/>
              <a:t>2026</a:t>
            </a:r>
          </a:p>
        </p:txBody>
      </p:sp>
      <p:sp>
        <p:nvSpPr>
          <p:cNvPr id="61" name="object 6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884" y="179323"/>
            <a:ext cx="2318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PRAGATI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—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The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Bengal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Hack</a:t>
            </a:r>
            <a:r>
              <a:rPr sz="1000" b="1" spc="-1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Fest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2026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9718" y="186944"/>
            <a:ext cx="1415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787AA"/>
                </a:solidFill>
                <a:latin typeface="Trebuchet MS"/>
                <a:cs typeface="Trebuchet MS"/>
              </a:rPr>
              <a:t>Team: [Team Name]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Scope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-6350" y="4977129"/>
            <a:ext cx="9156700" cy="172720"/>
            <a:chOff x="-6350" y="4977129"/>
            <a:chExt cx="9156700" cy="172720"/>
          </a:xfrm>
        </p:grpSpPr>
        <p:sp>
          <p:nvSpPr>
            <p:cNvPr id="6" name="object 6"/>
            <p:cNvSpPr/>
            <p:nvPr/>
          </p:nvSpPr>
          <p:spPr>
            <a:xfrm>
              <a:off x="0" y="4983479"/>
              <a:ext cx="9144000" cy="160020"/>
            </a:xfrm>
            <a:custGeom>
              <a:avLst/>
              <a:gdLst/>
              <a:ahLst/>
              <a:cxnLst/>
              <a:rect l="l" t="t" r="r" b="b"/>
              <a:pathLst>
                <a:path w="9144000" h="160020">
                  <a:moveTo>
                    <a:pt x="9144000" y="0"/>
                  </a:moveTo>
                  <a:lnTo>
                    <a:pt x="0" y="0"/>
                  </a:lnTo>
                  <a:lnTo>
                    <a:pt x="0" y="160020"/>
                  </a:lnTo>
                  <a:lnTo>
                    <a:pt x="9144000" y="1600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A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4983479"/>
              <a:ext cx="9144000" cy="160020"/>
            </a:xfrm>
            <a:custGeom>
              <a:avLst/>
              <a:gdLst/>
              <a:ahLst/>
              <a:cxnLst/>
              <a:rect l="l" t="t" r="r" b="b"/>
              <a:pathLst>
                <a:path w="9144000" h="160020">
                  <a:moveTo>
                    <a:pt x="0" y="160020"/>
                  </a:moveTo>
                  <a:lnTo>
                    <a:pt x="9144000" y="16002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60020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983479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914400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9144000" y="91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983479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9144"/>
                  </a:moveTo>
                  <a:lnTo>
                    <a:pt x="9144000" y="914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144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46304" y="1045210"/>
            <a:ext cx="4425950" cy="3792220"/>
            <a:chOff x="146304" y="1045210"/>
            <a:chExt cx="4425950" cy="379222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970" y="1045210"/>
              <a:ext cx="213867" cy="767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858" y="1045210"/>
              <a:ext cx="104140" cy="7670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6304" y="1097280"/>
              <a:ext cx="4425696" cy="373989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74320" y="1572768"/>
              <a:ext cx="4206240" cy="3136900"/>
            </a:xfrm>
            <a:custGeom>
              <a:avLst/>
              <a:gdLst/>
              <a:ahLst/>
              <a:cxnLst/>
              <a:rect l="l" t="t" r="r" b="b"/>
              <a:pathLst>
                <a:path w="4206240" h="3136900">
                  <a:moveTo>
                    <a:pt x="0" y="3136392"/>
                  </a:moveTo>
                  <a:lnTo>
                    <a:pt x="4206240" y="3136392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3136392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4320" y="1188720"/>
              <a:ext cx="4206240" cy="3520440"/>
            </a:xfrm>
            <a:custGeom>
              <a:avLst/>
              <a:gdLst/>
              <a:ahLst/>
              <a:cxnLst/>
              <a:rect l="l" t="t" r="r" b="b"/>
              <a:pathLst>
                <a:path w="4206240" h="3520440">
                  <a:moveTo>
                    <a:pt x="0" y="3520440"/>
                  </a:moveTo>
                  <a:lnTo>
                    <a:pt x="4206240" y="3520440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3520440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4320" y="1188720"/>
              <a:ext cx="4206240" cy="384175"/>
            </a:xfrm>
            <a:custGeom>
              <a:avLst/>
              <a:gdLst/>
              <a:ahLst/>
              <a:cxnLst/>
              <a:rect l="l" t="t" r="r" b="b"/>
              <a:pathLst>
                <a:path w="4206240" h="384175">
                  <a:moveTo>
                    <a:pt x="4206240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4206240" y="384048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00C7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1479" y="1243584"/>
              <a:ext cx="274320" cy="27432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274320" y="1188719"/>
            <a:ext cx="4206240" cy="384175"/>
          </a:xfrm>
          <a:prstGeom prst="rect">
            <a:avLst/>
          </a:prstGeom>
          <a:ln w="12700">
            <a:solidFill>
              <a:srgbClr val="00C7B4"/>
            </a:solidFill>
          </a:ln>
        </p:spPr>
        <p:txBody>
          <a:bodyPr vert="horz" wrap="square" lIns="0" tIns="83185" rIns="0" bIns="0" rtlCol="0">
            <a:spAutoFit/>
          </a:bodyPr>
          <a:lstStyle/>
          <a:p>
            <a:pPr marL="502920">
              <a:lnSpc>
                <a:spcPct val="100000"/>
              </a:lnSpc>
              <a:spcBef>
                <a:spcPts val="655"/>
              </a:spcBef>
            </a:pPr>
            <a:r>
              <a:rPr sz="1300" b="1" spc="-10" dirty="0">
                <a:solidFill>
                  <a:srgbClr val="090913"/>
                </a:solidFill>
                <a:latin typeface="Trebuchet MS"/>
                <a:cs typeface="Trebuchet MS"/>
              </a:rPr>
              <a:t>I</a:t>
            </a:r>
            <a:r>
              <a:rPr sz="1300" b="1" spc="-190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090913"/>
                </a:solidFill>
                <a:latin typeface="Trebuchet MS"/>
                <a:cs typeface="Trebuchet MS"/>
              </a:rPr>
              <a:t>N</a:t>
            </a:r>
            <a:r>
              <a:rPr sz="1300" b="1" spc="380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090913"/>
                </a:solidFill>
                <a:latin typeface="Trebuchet MS"/>
                <a:cs typeface="Trebuchet MS"/>
              </a:rPr>
              <a:t>S</a:t>
            </a:r>
            <a:r>
              <a:rPr sz="1300" b="1" spc="-195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090913"/>
                </a:solidFill>
                <a:latin typeface="Trebuchet MS"/>
                <a:cs typeface="Trebuchet MS"/>
              </a:rPr>
              <a:t>C</a:t>
            </a:r>
            <a:r>
              <a:rPr sz="1300" b="1" spc="-190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090913"/>
                </a:solidFill>
                <a:latin typeface="Trebuchet MS"/>
                <a:cs typeface="Trebuchet MS"/>
              </a:rPr>
              <a:t>O</a:t>
            </a:r>
            <a:r>
              <a:rPr sz="1300" b="1" spc="-185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090913"/>
                </a:solidFill>
                <a:latin typeface="Trebuchet MS"/>
                <a:cs typeface="Trebuchet MS"/>
              </a:rPr>
              <a:t>P</a:t>
            </a:r>
            <a:r>
              <a:rPr sz="1300" b="1" spc="-195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1300" b="1" spc="-50" dirty="0">
                <a:solidFill>
                  <a:srgbClr val="090913"/>
                </a:solidFill>
                <a:latin typeface="Trebuchet MS"/>
                <a:cs typeface="Trebuchet MS"/>
              </a:rPr>
              <a:t>E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4858" y="1764158"/>
            <a:ext cx="3218942" cy="170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42265" algn="l"/>
              </a:tabLst>
            </a:pPr>
            <a:r>
              <a:rPr sz="1100" dirty="0">
                <a:solidFill>
                  <a:srgbClr val="E8E8EF"/>
                </a:solidFill>
                <a:latin typeface="Trebuchet MS"/>
                <a:cs typeface="Trebuchet MS"/>
              </a:rPr>
              <a:t>Real-time CVD risk scoring from 25 clinical features (vitals, labs, lifestyle)</a:t>
            </a:r>
            <a:endParaRPr sz="1100" dirty="0">
              <a:latin typeface="Trebuchet MS"/>
              <a:cs typeface="Trebuchet MS"/>
            </a:endParaRPr>
          </a:p>
          <a:p>
            <a:pPr marL="342265" indent="-342265">
              <a:lnSpc>
                <a:spcPct val="100000"/>
              </a:lnSpc>
              <a:buChar char="•"/>
              <a:tabLst>
                <a:tab pos="342265" algn="l"/>
              </a:tabLst>
            </a:pPr>
            <a:r>
              <a:rPr sz="1100" dirty="0">
                <a:solidFill>
                  <a:srgbClr val="E8E8EF"/>
                </a:solidFill>
                <a:latin typeface="Trebuchet MS"/>
                <a:cs typeface="Trebuchet MS"/>
              </a:rPr>
              <a:t>6-model comorbidity screening: Diabetes, Hypertension, Sleep, Stress, Obesity</a:t>
            </a:r>
            <a:endParaRPr sz="1100" dirty="0">
              <a:latin typeface="Trebuchet MS"/>
              <a:cs typeface="Trebuchet MS"/>
            </a:endParaRPr>
          </a:p>
          <a:p>
            <a:pPr marL="342265" indent="-342265">
              <a:lnSpc>
                <a:spcPct val="100000"/>
              </a:lnSpc>
              <a:buChar char="•"/>
              <a:tabLst>
                <a:tab pos="342265" algn="l"/>
              </a:tabLst>
            </a:pPr>
            <a:r>
              <a:rPr sz="1100" dirty="0">
                <a:solidFill>
                  <a:srgbClr val="E8E8EF"/>
                </a:solidFill>
                <a:latin typeface="Trebuchet MS"/>
                <a:cs typeface="Trebuchet MS"/>
              </a:rPr>
              <a:t>What-If simulation engine: model impact of diet, exercise, medication changes</a:t>
            </a:r>
            <a:endParaRPr sz="1100" dirty="0">
              <a:latin typeface="Trebuchet MS"/>
              <a:cs typeface="Trebuchet MS"/>
            </a:endParaRPr>
          </a:p>
          <a:p>
            <a:pPr marL="342265" indent="-342265">
              <a:lnSpc>
                <a:spcPct val="100000"/>
              </a:lnSpc>
              <a:buChar char="•"/>
              <a:tabLst>
                <a:tab pos="342265" algn="l"/>
              </a:tabLst>
            </a:pPr>
            <a:r>
              <a:rPr sz="1100" dirty="0">
                <a:solidFill>
                  <a:srgbClr val="E8E8EF"/>
                </a:solidFill>
                <a:latin typeface="Trebuchet MS"/>
                <a:cs typeface="Trebuchet MS"/>
              </a:rPr>
              <a:t>Explainable AI: SHAP-based feature importance per patient prediction</a:t>
            </a:r>
            <a:endParaRPr sz="1100" dirty="0">
              <a:latin typeface="Trebuchet MS"/>
              <a:cs typeface="Trebuchet MS"/>
            </a:endParaRPr>
          </a:p>
          <a:p>
            <a:pPr marL="342265" indent="-342265">
              <a:lnSpc>
                <a:spcPct val="100000"/>
              </a:lnSpc>
              <a:spcBef>
                <a:spcPts val="5"/>
              </a:spcBef>
              <a:buChar char="•"/>
              <a:tabLst>
                <a:tab pos="342265" algn="l"/>
              </a:tabLst>
            </a:pPr>
            <a:r>
              <a:rPr sz="1100" dirty="0">
                <a:solidFill>
                  <a:srgbClr val="E8E8EF"/>
                </a:solidFill>
                <a:latin typeface="Trebuchet MS"/>
                <a:cs typeface="Trebuchet MS"/>
              </a:rPr>
              <a:t>REST API backend + single-file frontend deployable on any device</a:t>
            </a:r>
            <a:endParaRPr sz="1100" dirty="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446778" y="1097280"/>
            <a:ext cx="4514850" cy="3740150"/>
            <a:chOff x="4446778" y="1097280"/>
            <a:chExt cx="4514850" cy="3740150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46778" y="2553969"/>
              <a:ext cx="250444" cy="25044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549140" y="1280160"/>
              <a:ext cx="45720" cy="1188720"/>
            </a:xfrm>
            <a:custGeom>
              <a:avLst/>
              <a:gdLst/>
              <a:ahLst/>
              <a:cxnLst/>
              <a:rect l="l" t="t" r="r" b="b"/>
              <a:pathLst>
                <a:path w="45720" h="1188720">
                  <a:moveTo>
                    <a:pt x="45720" y="0"/>
                  </a:moveTo>
                  <a:lnTo>
                    <a:pt x="0" y="0"/>
                  </a:lnTo>
                  <a:lnTo>
                    <a:pt x="0" y="1188720"/>
                  </a:lnTo>
                  <a:lnTo>
                    <a:pt x="45720" y="1188720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2A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49140" y="1280160"/>
              <a:ext cx="45720" cy="1188720"/>
            </a:xfrm>
            <a:custGeom>
              <a:avLst/>
              <a:gdLst/>
              <a:ahLst/>
              <a:cxnLst/>
              <a:rect l="l" t="t" r="r" b="b"/>
              <a:pathLst>
                <a:path w="45720" h="1188720">
                  <a:moveTo>
                    <a:pt x="0" y="1188720"/>
                  </a:moveTo>
                  <a:lnTo>
                    <a:pt x="45720" y="1188720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0" y="1188720"/>
                  </a:lnTo>
                  <a:close/>
                </a:path>
              </a:pathLst>
            </a:custGeom>
            <a:ln w="12699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49140" y="2880359"/>
              <a:ext cx="45720" cy="1737360"/>
            </a:xfrm>
            <a:custGeom>
              <a:avLst/>
              <a:gdLst/>
              <a:ahLst/>
              <a:cxnLst/>
              <a:rect l="l" t="t" r="r" b="b"/>
              <a:pathLst>
                <a:path w="45720" h="1737360">
                  <a:moveTo>
                    <a:pt x="45720" y="0"/>
                  </a:moveTo>
                  <a:lnTo>
                    <a:pt x="0" y="0"/>
                  </a:lnTo>
                  <a:lnTo>
                    <a:pt x="0" y="1737360"/>
                  </a:lnTo>
                  <a:lnTo>
                    <a:pt x="45720" y="1737360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2A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49140" y="2880359"/>
              <a:ext cx="45720" cy="1737360"/>
            </a:xfrm>
            <a:custGeom>
              <a:avLst/>
              <a:gdLst/>
              <a:ahLst/>
              <a:cxnLst/>
              <a:rect l="l" t="t" r="r" b="b"/>
              <a:pathLst>
                <a:path w="45720" h="1737360">
                  <a:moveTo>
                    <a:pt x="0" y="1737360"/>
                  </a:moveTo>
                  <a:lnTo>
                    <a:pt x="45720" y="1737360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0" y="1737360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35424" y="1097280"/>
              <a:ext cx="4425696" cy="373989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63440" y="1572768"/>
              <a:ext cx="4206240" cy="3136900"/>
            </a:xfrm>
            <a:custGeom>
              <a:avLst/>
              <a:gdLst/>
              <a:ahLst/>
              <a:cxnLst/>
              <a:rect l="l" t="t" r="r" b="b"/>
              <a:pathLst>
                <a:path w="4206240" h="3136900">
                  <a:moveTo>
                    <a:pt x="0" y="3136392"/>
                  </a:moveTo>
                  <a:lnTo>
                    <a:pt x="4206240" y="3136392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3136392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663440" y="1188720"/>
              <a:ext cx="4206240" cy="3520440"/>
            </a:xfrm>
            <a:custGeom>
              <a:avLst/>
              <a:gdLst/>
              <a:ahLst/>
              <a:cxnLst/>
              <a:rect l="l" t="t" r="r" b="b"/>
              <a:pathLst>
                <a:path w="4206240" h="3520440">
                  <a:moveTo>
                    <a:pt x="0" y="3520440"/>
                  </a:moveTo>
                  <a:lnTo>
                    <a:pt x="4206240" y="3520440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3520440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63440" y="1188720"/>
              <a:ext cx="4206240" cy="384175"/>
            </a:xfrm>
            <a:custGeom>
              <a:avLst/>
              <a:gdLst/>
              <a:ahLst/>
              <a:cxnLst/>
              <a:rect l="l" t="t" r="r" b="b"/>
              <a:pathLst>
                <a:path w="4206240" h="384175">
                  <a:moveTo>
                    <a:pt x="4206240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4206240" y="384048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FF6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00600" y="1243584"/>
              <a:ext cx="274320" cy="27432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4663440" y="1188719"/>
            <a:ext cx="4206240" cy="384175"/>
          </a:xfrm>
          <a:prstGeom prst="rect">
            <a:avLst/>
          </a:prstGeom>
          <a:ln w="12700">
            <a:solidFill>
              <a:srgbClr val="FF6B00"/>
            </a:solidFill>
          </a:ln>
        </p:spPr>
        <p:txBody>
          <a:bodyPr vert="horz" wrap="square" lIns="0" tIns="83185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655"/>
              </a:spcBef>
            </a:pPr>
            <a:r>
              <a:rPr sz="1300" b="1" spc="-10" dirty="0">
                <a:solidFill>
                  <a:srgbClr val="090913"/>
                </a:solidFill>
                <a:latin typeface="Trebuchet MS"/>
                <a:cs typeface="Trebuchet MS"/>
              </a:rPr>
              <a:t>O</a:t>
            </a:r>
            <a:r>
              <a:rPr sz="1300" b="1" spc="-190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090913"/>
                </a:solidFill>
                <a:latin typeface="Trebuchet MS"/>
                <a:cs typeface="Trebuchet MS"/>
              </a:rPr>
              <a:t>U</a:t>
            </a:r>
            <a:r>
              <a:rPr sz="1300" b="1" spc="-195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090913"/>
                </a:solidFill>
                <a:latin typeface="Trebuchet MS"/>
                <a:cs typeface="Trebuchet MS"/>
              </a:rPr>
              <a:t>T</a:t>
            </a:r>
            <a:r>
              <a:rPr sz="1300" b="1" spc="380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090913"/>
                </a:solidFill>
                <a:latin typeface="Trebuchet MS"/>
                <a:cs typeface="Trebuchet MS"/>
              </a:rPr>
              <a:t>O</a:t>
            </a:r>
            <a:r>
              <a:rPr sz="1300" b="1" spc="-190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090913"/>
                </a:solidFill>
                <a:latin typeface="Trebuchet MS"/>
                <a:cs typeface="Trebuchet MS"/>
              </a:rPr>
              <a:t>F</a:t>
            </a:r>
            <a:r>
              <a:rPr sz="1300" b="1" spc="375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090913"/>
                </a:solidFill>
                <a:latin typeface="Trebuchet MS"/>
                <a:cs typeface="Trebuchet MS"/>
              </a:rPr>
              <a:t>S</a:t>
            </a:r>
            <a:r>
              <a:rPr sz="1300" b="1" spc="-195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090913"/>
                </a:solidFill>
                <a:latin typeface="Trebuchet MS"/>
                <a:cs typeface="Trebuchet MS"/>
              </a:rPr>
              <a:t>C</a:t>
            </a:r>
            <a:r>
              <a:rPr sz="1300" b="1" spc="-190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090913"/>
                </a:solidFill>
                <a:latin typeface="Trebuchet MS"/>
                <a:cs typeface="Trebuchet MS"/>
              </a:rPr>
              <a:t>O</a:t>
            </a:r>
            <a:r>
              <a:rPr sz="1300" b="1" spc="-190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090913"/>
                </a:solidFill>
                <a:latin typeface="Trebuchet MS"/>
                <a:cs typeface="Trebuchet MS"/>
              </a:rPr>
              <a:t>P</a:t>
            </a:r>
            <a:r>
              <a:rPr sz="1300" b="1" spc="-195" dirty="0">
                <a:solidFill>
                  <a:srgbClr val="090913"/>
                </a:solidFill>
                <a:latin typeface="Trebuchet MS"/>
                <a:cs typeface="Trebuchet MS"/>
              </a:rPr>
              <a:t> </a:t>
            </a:r>
            <a:r>
              <a:rPr sz="1300" b="1" spc="-50" dirty="0">
                <a:solidFill>
                  <a:srgbClr val="090913"/>
                </a:solidFill>
                <a:latin typeface="Trebuchet MS"/>
                <a:cs typeface="Trebuchet MS"/>
              </a:rPr>
              <a:t>E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09882" y="1747640"/>
            <a:ext cx="3014918" cy="170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42900" algn="l"/>
              </a:tabLst>
            </a:pPr>
            <a:r>
              <a:rPr sz="1100" dirty="0">
                <a:solidFill>
                  <a:srgbClr val="E8E8EF"/>
                </a:solidFill>
                <a:latin typeface="Trebuchet MS"/>
                <a:cs typeface="Trebuchet MS"/>
              </a:rPr>
              <a:t>Real-time wearable streaming pipeline (Phase 2 roadmap)</a:t>
            </a:r>
            <a:endParaRPr sz="1100" dirty="0">
              <a:latin typeface="Trebuchet MS"/>
              <a:cs typeface="Trebuchet MS"/>
            </a:endParaRPr>
          </a:p>
          <a:p>
            <a:pPr marL="342900" indent="-342900">
              <a:lnSpc>
                <a:spcPct val="100000"/>
              </a:lnSpc>
              <a:buChar char="•"/>
              <a:tabLst>
                <a:tab pos="342900" algn="l"/>
              </a:tabLst>
            </a:pPr>
            <a:r>
              <a:rPr sz="1100" dirty="0">
                <a:solidFill>
                  <a:srgbClr val="E8E8EF"/>
                </a:solidFill>
                <a:latin typeface="Trebuchet MS"/>
                <a:cs typeface="Trebuchet MS"/>
              </a:rPr>
              <a:t>Federated learning across hospital nodes (privacy layer — Phase 2)</a:t>
            </a:r>
            <a:endParaRPr sz="1100" dirty="0">
              <a:latin typeface="Trebuchet MS"/>
              <a:cs typeface="Trebuchet MS"/>
            </a:endParaRPr>
          </a:p>
          <a:p>
            <a:pPr marL="342900" indent="-342900">
              <a:lnSpc>
                <a:spcPct val="100000"/>
              </a:lnSpc>
              <a:buChar char="•"/>
              <a:tabLst>
                <a:tab pos="342900" algn="l"/>
              </a:tabLst>
            </a:pPr>
            <a:r>
              <a:rPr sz="1100" dirty="0">
                <a:solidFill>
                  <a:srgbClr val="E8E8EF"/>
                </a:solidFill>
                <a:latin typeface="Trebuchet MS"/>
                <a:cs typeface="Trebuchet MS"/>
              </a:rPr>
              <a:t>FDA / CE medical device regulatory clearance — research use only</a:t>
            </a:r>
            <a:endParaRPr sz="1100" dirty="0">
              <a:latin typeface="Trebuchet MS"/>
              <a:cs typeface="Trebuchet MS"/>
            </a:endParaRPr>
          </a:p>
          <a:p>
            <a:pPr marL="342900" indent="-342900">
              <a:lnSpc>
                <a:spcPct val="100000"/>
              </a:lnSpc>
              <a:spcBef>
                <a:spcPts val="40"/>
              </a:spcBef>
              <a:buChar char="•"/>
              <a:tabLst>
                <a:tab pos="342900" algn="l"/>
              </a:tabLst>
            </a:pPr>
            <a:r>
              <a:rPr sz="1100" dirty="0">
                <a:solidFill>
                  <a:srgbClr val="E8E8EF"/>
                </a:solidFill>
                <a:latin typeface="Trebuchet MS"/>
                <a:cs typeface="Trebuchet MS"/>
              </a:rPr>
              <a:t>Genomic / DNA sequencing data integration</a:t>
            </a:r>
            <a:endParaRPr sz="1100" dirty="0">
              <a:latin typeface="Trebuchet MS"/>
              <a:cs typeface="Trebuchet MS"/>
            </a:endParaRPr>
          </a:p>
          <a:p>
            <a:pPr marL="342900" indent="-342900">
              <a:lnSpc>
                <a:spcPct val="100000"/>
              </a:lnSpc>
              <a:buChar char="•"/>
              <a:tabLst>
                <a:tab pos="342900" algn="l"/>
              </a:tabLst>
            </a:pPr>
            <a:r>
              <a:rPr sz="1100" dirty="0">
                <a:solidFill>
                  <a:srgbClr val="E8E8EF"/>
                </a:solidFill>
                <a:latin typeface="Trebuchet MS"/>
                <a:cs typeface="Trebuchet MS"/>
              </a:rPr>
              <a:t>Direct EHR system write-back without clinical validation</a:t>
            </a:r>
            <a:endParaRPr sz="1100" dirty="0">
              <a:latin typeface="Trebuchet MS"/>
              <a:cs typeface="Trebuchet MS"/>
            </a:endParaRPr>
          </a:p>
        </p:txBody>
      </p:sp>
      <p:pic>
        <p:nvPicPr>
          <p:cNvPr id="33" name="object 3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658" y="0"/>
            <a:ext cx="791997" cy="696595"/>
          </a:xfrm>
          <a:prstGeom prst="rect">
            <a:avLst/>
          </a:prstGeom>
        </p:spPr>
      </p:pic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PRAGATI</a:t>
            </a:r>
            <a:r>
              <a:rPr spc="30" dirty="0"/>
              <a:t> </a:t>
            </a:r>
            <a:r>
              <a:rPr dirty="0"/>
              <a:t>2026</a:t>
            </a:r>
            <a:r>
              <a:rPr spc="10" dirty="0"/>
              <a:t> </a:t>
            </a:r>
            <a:r>
              <a:rPr dirty="0"/>
              <a:t>—</a:t>
            </a:r>
            <a:r>
              <a:rPr spc="-10" dirty="0"/>
              <a:t> bengalithub.com/hackfest-</a:t>
            </a:r>
            <a:r>
              <a:rPr spc="-20" dirty="0"/>
              <a:t>2026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884" y="179323"/>
            <a:ext cx="2318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PRAGATI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—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The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Bengal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Hack</a:t>
            </a:r>
            <a:r>
              <a:rPr sz="1000" b="1" spc="-1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Fest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2026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9718" y="186944"/>
            <a:ext cx="1415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787AA"/>
                </a:solidFill>
                <a:latin typeface="Trebuchet MS"/>
                <a:cs typeface="Trebuchet MS"/>
              </a:rPr>
              <a:t>Team: [Team Name]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Proposed</a:t>
            </a:r>
            <a:r>
              <a:rPr spc="-40" dirty="0"/>
              <a:t> </a:t>
            </a:r>
            <a:r>
              <a:rPr spc="-10" dirty="0"/>
              <a:t>Solution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-6350" y="4977129"/>
            <a:ext cx="9156700" cy="172720"/>
            <a:chOff x="-6350" y="4977129"/>
            <a:chExt cx="9156700" cy="172720"/>
          </a:xfrm>
        </p:grpSpPr>
        <p:sp>
          <p:nvSpPr>
            <p:cNvPr id="6" name="object 6"/>
            <p:cNvSpPr/>
            <p:nvPr/>
          </p:nvSpPr>
          <p:spPr>
            <a:xfrm>
              <a:off x="0" y="4983479"/>
              <a:ext cx="9144000" cy="160020"/>
            </a:xfrm>
            <a:custGeom>
              <a:avLst/>
              <a:gdLst/>
              <a:ahLst/>
              <a:cxnLst/>
              <a:rect l="l" t="t" r="r" b="b"/>
              <a:pathLst>
                <a:path w="9144000" h="160020">
                  <a:moveTo>
                    <a:pt x="9144000" y="0"/>
                  </a:moveTo>
                  <a:lnTo>
                    <a:pt x="0" y="0"/>
                  </a:lnTo>
                  <a:lnTo>
                    <a:pt x="0" y="160020"/>
                  </a:lnTo>
                  <a:lnTo>
                    <a:pt x="9144000" y="1600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A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4983479"/>
              <a:ext cx="9144000" cy="160020"/>
            </a:xfrm>
            <a:custGeom>
              <a:avLst/>
              <a:gdLst/>
              <a:ahLst/>
              <a:cxnLst/>
              <a:rect l="l" t="t" r="r" b="b"/>
              <a:pathLst>
                <a:path w="9144000" h="160020">
                  <a:moveTo>
                    <a:pt x="0" y="160020"/>
                  </a:moveTo>
                  <a:lnTo>
                    <a:pt x="9144000" y="16002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60020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983479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914400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9144000" y="91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983479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9144"/>
                  </a:moveTo>
                  <a:lnTo>
                    <a:pt x="9144000" y="914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144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46304" y="1045210"/>
            <a:ext cx="5431790" cy="3783329"/>
            <a:chOff x="146304" y="1045210"/>
            <a:chExt cx="5431790" cy="3783329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970" y="1045210"/>
              <a:ext cx="213867" cy="767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858" y="1045210"/>
              <a:ext cx="104140" cy="7670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6304" y="1115568"/>
              <a:ext cx="5431536" cy="371246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74320" y="1207008"/>
              <a:ext cx="5212080" cy="3493135"/>
            </a:xfrm>
            <a:custGeom>
              <a:avLst/>
              <a:gdLst/>
              <a:ahLst/>
              <a:cxnLst/>
              <a:rect l="l" t="t" r="r" b="b"/>
              <a:pathLst>
                <a:path w="5212080" h="3493135">
                  <a:moveTo>
                    <a:pt x="5212080" y="0"/>
                  </a:moveTo>
                  <a:lnTo>
                    <a:pt x="0" y="0"/>
                  </a:lnTo>
                  <a:lnTo>
                    <a:pt x="0" y="3493008"/>
                  </a:lnTo>
                  <a:lnTo>
                    <a:pt x="5212080" y="3493008"/>
                  </a:lnTo>
                  <a:lnTo>
                    <a:pt x="5212080" y="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4320" y="1207008"/>
              <a:ext cx="5212080" cy="3493135"/>
            </a:xfrm>
            <a:custGeom>
              <a:avLst/>
              <a:gdLst/>
              <a:ahLst/>
              <a:cxnLst/>
              <a:rect l="l" t="t" r="r" b="b"/>
              <a:pathLst>
                <a:path w="5212080" h="3493135">
                  <a:moveTo>
                    <a:pt x="0" y="3493008"/>
                  </a:moveTo>
                  <a:lnTo>
                    <a:pt x="5212080" y="3493008"/>
                  </a:lnTo>
                  <a:lnTo>
                    <a:pt x="5212080" y="0"/>
                  </a:lnTo>
                  <a:lnTo>
                    <a:pt x="0" y="0"/>
                  </a:lnTo>
                  <a:lnTo>
                    <a:pt x="0" y="3493008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4320" y="1207008"/>
              <a:ext cx="50800" cy="3493135"/>
            </a:xfrm>
            <a:custGeom>
              <a:avLst/>
              <a:gdLst/>
              <a:ahLst/>
              <a:cxnLst/>
              <a:rect l="l" t="t" r="r" b="b"/>
              <a:pathLst>
                <a:path w="50800" h="3493135">
                  <a:moveTo>
                    <a:pt x="50292" y="0"/>
                  </a:moveTo>
                  <a:lnTo>
                    <a:pt x="0" y="0"/>
                  </a:lnTo>
                  <a:lnTo>
                    <a:pt x="0" y="3493008"/>
                  </a:lnTo>
                  <a:lnTo>
                    <a:pt x="50292" y="3493008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4320" y="1207008"/>
              <a:ext cx="50800" cy="3493135"/>
            </a:xfrm>
            <a:custGeom>
              <a:avLst/>
              <a:gdLst/>
              <a:ahLst/>
              <a:cxnLst/>
              <a:rect l="l" t="t" r="r" b="b"/>
              <a:pathLst>
                <a:path w="50800" h="3493135">
                  <a:moveTo>
                    <a:pt x="0" y="3493008"/>
                  </a:moveTo>
                  <a:lnTo>
                    <a:pt x="50292" y="3493008"/>
                  </a:lnTo>
                  <a:lnTo>
                    <a:pt x="50292" y="0"/>
                  </a:lnTo>
                  <a:lnTo>
                    <a:pt x="0" y="0"/>
                  </a:lnTo>
                  <a:lnTo>
                    <a:pt x="0" y="3493008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30961" y="1331722"/>
            <a:ext cx="5765039" cy="1499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573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Solution</a:t>
            </a:r>
            <a:r>
              <a:rPr sz="1000" b="1" spc="-4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F5A622"/>
                </a:solidFill>
                <a:latin typeface="Trebuchet MS"/>
                <a:cs typeface="Trebuchet MS"/>
              </a:rPr>
              <a:t>Overview</a:t>
            </a:r>
            <a:endParaRPr sz="1000" dirty="0">
              <a:latin typeface="Trebuchet MS"/>
              <a:cs typeface="Trebuchet MS"/>
            </a:endParaRPr>
          </a:p>
          <a:p>
            <a:pPr marL="217170" marR="670560">
              <a:lnSpc>
                <a:spcPts val="1280"/>
              </a:lnSpc>
            </a:pPr>
            <a:endParaRPr lang="en-US" sz="1100" dirty="0">
              <a:solidFill>
                <a:srgbClr val="E8E8EF"/>
              </a:solidFill>
              <a:latin typeface="Trebuchet MS"/>
              <a:cs typeface="Trebuchet MS"/>
            </a:endParaRPr>
          </a:p>
          <a:p>
            <a:pPr marL="217170" marR="670560">
              <a:lnSpc>
                <a:spcPts val="1280"/>
              </a:lnSpc>
            </a:pPr>
            <a:r>
              <a:rPr sz="1100" dirty="0" err="1">
                <a:solidFill>
                  <a:srgbClr val="E8E8EF"/>
                </a:solidFill>
                <a:latin typeface="Trebuchet MS"/>
                <a:cs typeface="Trebuchet MS"/>
              </a:rPr>
              <a:t>CardioRisk</a:t>
            </a:r>
            <a:r>
              <a:rPr sz="1100" dirty="0">
                <a:solidFill>
                  <a:srgbClr val="E8E8EF"/>
                </a:solidFill>
                <a:latin typeface="Trebuchet MS"/>
                <a:cs typeface="Trebuchet MS"/>
              </a:rPr>
              <a:t> AI builds a personalised Digital Health Twin from 25 clinical features. Seven independently trained ML models (GBM + XGBoost) run simultaneously on patient input to produce risk probabilities for CVD, Diabetes, Hypertension, Sleep Disorders, Stress/Anxiety, and Obesity. A What-If engine lets clinicians simulate interventions — treat BP, lose weight, quit alcohol — and see instant risk deltas. XAI explains every prediction. Stack: Python · scikit-learn · XGBoost · Flask API · HTML/JS frontend.</a:t>
            </a:r>
            <a:endParaRPr sz="1100" dirty="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50850" y="2919728"/>
            <a:ext cx="4855845" cy="1030415"/>
            <a:chOff x="450850" y="2919729"/>
            <a:chExt cx="4855845" cy="918210"/>
          </a:xfrm>
        </p:grpSpPr>
        <p:sp>
          <p:nvSpPr>
            <p:cNvPr id="20" name="object 20"/>
            <p:cNvSpPr/>
            <p:nvPr/>
          </p:nvSpPr>
          <p:spPr>
            <a:xfrm>
              <a:off x="512064" y="2926079"/>
              <a:ext cx="4791710" cy="402590"/>
            </a:xfrm>
            <a:custGeom>
              <a:avLst/>
              <a:gdLst/>
              <a:ahLst/>
              <a:cxnLst/>
              <a:rect l="l" t="t" r="r" b="b"/>
              <a:pathLst>
                <a:path w="4791710" h="402589">
                  <a:moveTo>
                    <a:pt x="0" y="402336"/>
                  </a:moveTo>
                  <a:lnTo>
                    <a:pt x="4791456" y="402336"/>
                  </a:lnTo>
                  <a:lnTo>
                    <a:pt x="4791456" y="0"/>
                  </a:lnTo>
                  <a:lnTo>
                    <a:pt x="0" y="0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21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200" y="2926079"/>
              <a:ext cx="4846320" cy="402590"/>
            </a:xfrm>
            <a:custGeom>
              <a:avLst/>
              <a:gdLst/>
              <a:ahLst/>
              <a:cxnLst/>
              <a:rect l="l" t="t" r="r" b="b"/>
              <a:pathLst>
                <a:path w="4846320" h="402589">
                  <a:moveTo>
                    <a:pt x="0" y="402336"/>
                  </a:moveTo>
                  <a:lnTo>
                    <a:pt x="4846320" y="402336"/>
                  </a:lnTo>
                  <a:lnTo>
                    <a:pt x="4846320" y="0"/>
                  </a:lnTo>
                  <a:lnTo>
                    <a:pt x="0" y="0"/>
                  </a:lnTo>
                  <a:lnTo>
                    <a:pt x="0" y="402336"/>
                  </a:lnTo>
                  <a:close/>
                </a:path>
              </a:pathLst>
            </a:custGeom>
            <a:ln w="635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7200" y="2926079"/>
              <a:ext cx="55244" cy="402590"/>
            </a:xfrm>
            <a:custGeom>
              <a:avLst/>
              <a:gdLst/>
              <a:ahLst/>
              <a:cxnLst/>
              <a:rect l="l" t="t" r="r" b="b"/>
              <a:pathLst>
                <a:path w="55245" h="402589">
                  <a:moveTo>
                    <a:pt x="54864" y="0"/>
                  </a:moveTo>
                  <a:lnTo>
                    <a:pt x="0" y="0"/>
                  </a:lnTo>
                  <a:lnTo>
                    <a:pt x="0" y="402336"/>
                  </a:lnTo>
                  <a:lnTo>
                    <a:pt x="54864" y="402336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7200" y="2926079"/>
              <a:ext cx="55244" cy="402590"/>
            </a:xfrm>
            <a:custGeom>
              <a:avLst/>
              <a:gdLst/>
              <a:ahLst/>
              <a:cxnLst/>
              <a:rect l="l" t="t" r="r" b="b"/>
              <a:pathLst>
                <a:path w="55245" h="402589">
                  <a:moveTo>
                    <a:pt x="0" y="402336"/>
                  </a:moveTo>
                  <a:lnTo>
                    <a:pt x="54864" y="402336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402336"/>
                  </a:lnTo>
                  <a:close/>
                </a:path>
              </a:pathLst>
            </a:custGeom>
            <a:ln w="12699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2064" y="3428999"/>
              <a:ext cx="4791710" cy="402590"/>
            </a:xfrm>
            <a:custGeom>
              <a:avLst/>
              <a:gdLst/>
              <a:ahLst/>
              <a:cxnLst/>
              <a:rect l="l" t="t" r="r" b="b"/>
              <a:pathLst>
                <a:path w="4791710" h="402589">
                  <a:moveTo>
                    <a:pt x="0" y="402336"/>
                  </a:moveTo>
                  <a:lnTo>
                    <a:pt x="4791456" y="402336"/>
                  </a:lnTo>
                  <a:lnTo>
                    <a:pt x="4791456" y="0"/>
                  </a:lnTo>
                  <a:lnTo>
                    <a:pt x="0" y="0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21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7200" y="3428999"/>
              <a:ext cx="4846320" cy="402590"/>
            </a:xfrm>
            <a:custGeom>
              <a:avLst/>
              <a:gdLst/>
              <a:ahLst/>
              <a:cxnLst/>
              <a:rect l="l" t="t" r="r" b="b"/>
              <a:pathLst>
                <a:path w="4846320" h="402589">
                  <a:moveTo>
                    <a:pt x="0" y="402336"/>
                  </a:moveTo>
                  <a:lnTo>
                    <a:pt x="4846320" y="402336"/>
                  </a:lnTo>
                  <a:lnTo>
                    <a:pt x="4846320" y="0"/>
                  </a:lnTo>
                  <a:lnTo>
                    <a:pt x="0" y="0"/>
                  </a:lnTo>
                  <a:lnTo>
                    <a:pt x="0" y="402336"/>
                  </a:lnTo>
                  <a:close/>
                </a:path>
              </a:pathLst>
            </a:custGeom>
            <a:ln w="6350">
              <a:solidFill>
                <a:srgbClr val="00C7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7200" y="3428999"/>
              <a:ext cx="55244" cy="402590"/>
            </a:xfrm>
            <a:custGeom>
              <a:avLst/>
              <a:gdLst/>
              <a:ahLst/>
              <a:cxnLst/>
              <a:rect l="l" t="t" r="r" b="b"/>
              <a:pathLst>
                <a:path w="55245" h="402589">
                  <a:moveTo>
                    <a:pt x="54864" y="0"/>
                  </a:moveTo>
                  <a:lnTo>
                    <a:pt x="0" y="0"/>
                  </a:lnTo>
                  <a:lnTo>
                    <a:pt x="0" y="402336"/>
                  </a:lnTo>
                  <a:lnTo>
                    <a:pt x="54864" y="402336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00C7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7200" y="3428999"/>
              <a:ext cx="55244" cy="402590"/>
            </a:xfrm>
            <a:custGeom>
              <a:avLst/>
              <a:gdLst/>
              <a:ahLst/>
              <a:cxnLst/>
              <a:rect l="l" t="t" r="r" b="b"/>
              <a:pathLst>
                <a:path w="55245" h="402589">
                  <a:moveTo>
                    <a:pt x="0" y="402336"/>
                  </a:moveTo>
                  <a:lnTo>
                    <a:pt x="54864" y="402336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402336"/>
                  </a:lnTo>
                  <a:close/>
                </a:path>
              </a:pathLst>
            </a:custGeom>
            <a:ln w="12699">
              <a:solidFill>
                <a:srgbClr val="00C7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66928" y="2956206"/>
            <a:ext cx="4782185" cy="11035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E8E8EF"/>
                </a:solidFill>
                <a:latin typeface="Trebuchet MS"/>
                <a:cs typeface="Trebuchet MS"/>
              </a:rPr>
              <a:t>7-Model AI Engine: GBM models (AUC 0.988) trained on 7,500 synthetic + 319,795 CDC patients run in parallel — delivering risk scores across 6 conditions in &lt; 200ms</a:t>
            </a:r>
            <a:endParaRPr lang="en-US" sz="1000" dirty="0">
              <a:solidFill>
                <a:srgbClr val="E8E8EF"/>
              </a:solidFill>
              <a:latin typeface="Trebuchet MS"/>
              <a:cs typeface="Trebuchet MS"/>
            </a:endParaRPr>
          </a:p>
          <a:p>
            <a:pPr marL="75565">
              <a:lnSpc>
                <a:spcPct val="100000"/>
              </a:lnSpc>
              <a:spcBef>
                <a:spcPts val="105"/>
              </a:spcBef>
            </a:pPr>
            <a:endParaRPr sz="1000" dirty="0">
              <a:latin typeface="Trebuchet MS"/>
              <a:cs typeface="Trebuchet MS"/>
            </a:endParaRPr>
          </a:p>
          <a:p>
            <a:pPr marL="75565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E8E8EF"/>
                </a:solidFill>
                <a:latin typeface="Trebuchet MS"/>
                <a:cs typeface="Trebuchet MS"/>
              </a:rPr>
              <a:t>What-If Simulation Lab: Interactive sliders for all 25 features with 8 clinical interventions (treat BP, lose 10kg, quit alcohol). Risk updates in real time — no server round-trip needed</a:t>
            </a:r>
            <a:endParaRPr sz="1000" dirty="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53136" y="4060252"/>
            <a:ext cx="4855845" cy="529782"/>
            <a:chOff x="450850" y="3925570"/>
            <a:chExt cx="4855845" cy="415290"/>
          </a:xfrm>
        </p:grpSpPr>
        <p:sp>
          <p:nvSpPr>
            <p:cNvPr id="30" name="object 30"/>
            <p:cNvSpPr/>
            <p:nvPr/>
          </p:nvSpPr>
          <p:spPr>
            <a:xfrm>
              <a:off x="512064" y="3931920"/>
              <a:ext cx="4791710" cy="402590"/>
            </a:xfrm>
            <a:custGeom>
              <a:avLst/>
              <a:gdLst/>
              <a:ahLst/>
              <a:cxnLst/>
              <a:rect l="l" t="t" r="r" b="b"/>
              <a:pathLst>
                <a:path w="4791710" h="402589">
                  <a:moveTo>
                    <a:pt x="0" y="402335"/>
                  </a:moveTo>
                  <a:lnTo>
                    <a:pt x="4791456" y="402335"/>
                  </a:lnTo>
                  <a:lnTo>
                    <a:pt x="4791456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solidFill>
              <a:srgbClr val="121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57200" y="3931920"/>
              <a:ext cx="4846320" cy="402590"/>
            </a:xfrm>
            <a:custGeom>
              <a:avLst/>
              <a:gdLst/>
              <a:ahLst/>
              <a:cxnLst/>
              <a:rect l="l" t="t" r="r" b="b"/>
              <a:pathLst>
                <a:path w="4846320" h="402589">
                  <a:moveTo>
                    <a:pt x="0" y="402335"/>
                  </a:moveTo>
                  <a:lnTo>
                    <a:pt x="4846320" y="402335"/>
                  </a:lnTo>
                  <a:lnTo>
                    <a:pt x="4846320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6350">
              <a:solidFill>
                <a:srgbClr val="FF6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57200" y="3931920"/>
              <a:ext cx="55244" cy="402590"/>
            </a:xfrm>
            <a:custGeom>
              <a:avLst/>
              <a:gdLst/>
              <a:ahLst/>
              <a:cxnLst/>
              <a:rect l="l" t="t" r="r" b="b"/>
              <a:pathLst>
                <a:path w="55245" h="402589">
                  <a:moveTo>
                    <a:pt x="54864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54864" y="402335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FF6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7200" y="3931920"/>
              <a:ext cx="55244" cy="402590"/>
            </a:xfrm>
            <a:custGeom>
              <a:avLst/>
              <a:gdLst/>
              <a:ahLst/>
              <a:cxnLst/>
              <a:rect l="l" t="t" r="r" b="b"/>
              <a:pathLst>
                <a:path w="55245" h="402589">
                  <a:moveTo>
                    <a:pt x="0" y="402335"/>
                  </a:moveTo>
                  <a:lnTo>
                    <a:pt x="54864" y="402335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12699">
              <a:solidFill>
                <a:srgbClr val="FF6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98082" y="4068353"/>
            <a:ext cx="478218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E8E8EF"/>
                </a:solidFill>
                <a:latin typeface="Trebuchet MS"/>
                <a:cs typeface="Trebuchet MS"/>
              </a:rPr>
              <a:t>Explainable AI Dashboard: SHAP-style feature importance bars per prediction, vital sign flags (Normal/Warning/Danger), patient-vs-population radar chart, and actionable clinical recommendations</a:t>
            </a:r>
            <a:endParaRPr sz="1050" dirty="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669279" y="1207008"/>
            <a:ext cx="3200400" cy="1783080"/>
          </a:xfrm>
          <a:prstGeom prst="rect">
            <a:avLst/>
          </a:prstGeom>
          <a:solidFill>
            <a:srgbClr val="1A1A2D"/>
          </a:solidFill>
          <a:ln w="12700">
            <a:solidFill>
              <a:srgbClr val="2A2A4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900">
              <a:latin typeface="Times New Roman"/>
              <a:cs typeface="Times New Roman"/>
            </a:endParaRPr>
          </a:p>
          <a:p>
            <a:pPr marL="800100">
              <a:lnSpc>
                <a:spcPct val="100000"/>
              </a:lnSpc>
            </a:pPr>
            <a:r>
              <a:rPr sz="900" dirty="0">
                <a:solidFill>
                  <a:srgbClr val="8787AA"/>
                </a:solidFill>
                <a:latin typeface="Trebuchet MS"/>
                <a:cs typeface="Trebuchet MS"/>
              </a:rPr>
              <a:t>CardioRisk AI — Live Dashboard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662929" y="3120898"/>
            <a:ext cx="3213100" cy="1585595"/>
            <a:chOff x="5662929" y="3120898"/>
            <a:chExt cx="3213100" cy="1585595"/>
          </a:xfrm>
        </p:grpSpPr>
        <p:sp>
          <p:nvSpPr>
            <p:cNvPr id="37" name="object 37"/>
            <p:cNvSpPr/>
            <p:nvPr/>
          </p:nvSpPr>
          <p:spPr>
            <a:xfrm>
              <a:off x="5669279" y="3200400"/>
              <a:ext cx="3200400" cy="1499870"/>
            </a:xfrm>
            <a:custGeom>
              <a:avLst/>
              <a:gdLst/>
              <a:ahLst/>
              <a:cxnLst/>
              <a:rect l="l" t="t" r="r" b="b"/>
              <a:pathLst>
                <a:path w="3200400" h="1499870">
                  <a:moveTo>
                    <a:pt x="0" y="1499616"/>
                  </a:moveTo>
                  <a:lnTo>
                    <a:pt x="3200400" y="1499616"/>
                  </a:lnTo>
                  <a:lnTo>
                    <a:pt x="3200400" y="0"/>
                  </a:lnTo>
                  <a:lnTo>
                    <a:pt x="0" y="0"/>
                  </a:lnTo>
                  <a:lnTo>
                    <a:pt x="0" y="1499616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669279" y="3127248"/>
              <a:ext cx="3200400" cy="1572895"/>
            </a:xfrm>
            <a:custGeom>
              <a:avLst/>
              <a:gdLst/>
              <a:ahLst/>
              <a:cxnLst/>
              <a:rect l="l" t="t" r="r" b="b"/>
              <a:pathLst>
                <a:path w="3200400" h="1572895">
                  <a:moveTo>
                    <a:pt x="0" y="1572767"/>
                  </a:moveTo>
                  <a:lnTo>
                    <a:pt x="3200400" y="1572767"/>
                  </a:lnTo>
                  <a:lnTo>
                    <a:pt x="3200400" y="0"/>
                  </a:lnTo>
                  <a:lnTo>
                    <a:pt x="0" y="0"/>
                  </a:lnTo>
                  <a:lnTo>
                    <a:pt x="0" y="1572767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669279" y="3127248"/>
              <a:ext cx="3200400" cy="73660"/>
            </a:xfrm>
            <a:custGeom>
              <a:avLst/>
              <a:gdLst/>
              <a:ahLst/>
              <a:cxnLst/>
              <a:rect l="l" t="t" r="r" b="b"/>
              <a:pathLst>
                <a:path w="3200400" h="73660">
                  <a:moveTo>
                    <a:pt x="320040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3200400" y="73151"/>
                  </a:lnTo>
                  <a:lnTo>
                    <a:pt x="3200400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669279" y="3127248"/>
              <a:ext cx="3200400" cy="73660"/>
            </a:xfrm>
            <a:custGeom>
              <a:avLst/>
              <a:gdLst/>
              <a:ahLst/>
              <a:cxnLst/>
              <a:rect l="l" t="t" r="r" b="b"/>
              <a:pathLst>
                <a:path w="3200400" h="73660">
                  <a:moveTo>
                    <a:pt x="0" y="73151"/>
                  </a:moveTo>
                  <a:lnTo>
                    <a:pt x="3200400" y="73151"/>
                  </a:lnTo>
                  <a:lnTo>
                    <a:pt x="320040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675629" y="3845763"/>
            <a:ext cx="31877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105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787AA"/>
                </a:solidFill>
                <a:latin typeface="Trebuchet MS"/>
                <a:cs typeface="Trebuchet MS"/>
              </a:rPr>
              <a:t>Patient Input → Feature Engineering → 7 ML Models → Risk Scores + XAI → What-If Engine → Clinical Recommendations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42" name="object 4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658" y="0"/>
            <a:ext cx="791997" cy="696595"/>
          </a:xfrm>
          <a:prstGeom prst="rect">
            <a:avLst/>
          </a:prstGeom>
        </p:spPr>
      </p:pic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PRAGATI</a:t>
            </a:r>
            <a:r>
              <a:rPr spc="30" dirty="0"/>
              <a:t> </a:t>
            </a:r>
            <a:r>
              <a:rPr dirty="0"/>
              <a:t>2026</a:t>
            </a:r>
            <a:r>
              <a:rPr spc="10" dirty="0"/>
              <a:t> </a:t>
            </a:r>
            <a:r>
              <a:rPr dirty="0"/>
              <a:t>—</a:t>
            </a:r>
            <a:r>
              <a:rPr spc="-10" dirty="0"/>
              <a:t> bengalithub.com/hackfest-</a:t>
            </a:r>
            <a:r>
              <a:rPr spc="-20" dirty="0"/>
              <a:t>2026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4884" y="179323"/>
            <a:ext cx="2318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F5A622"/>
                </a:solidFill>
              </a:rPr>
              <a:t>PRAGATI</a:t>
            </a:r>
            <a:r>
              <a:rPr sz="1000" spc="-35" dirty="0">
                <a:solidFill>
                  <a:srgbClr val="F5A622"/>
                </a:solidFill>
              </a:rPr>
              <a:t> </a:t>
            </a:r>
            <a:r>
              <a:rPr sz="1000" dirty="0">
                <a:solidFill>
                  <a:srgbClr val="F5A622"/>
                </a:solidFill>
              </a:rPr>
              <a:t>—</a:t>
            </a:r>
            <a:r>
              <a:rPr sz="1000" spc="-20" dirty="0">
                <a:solidFill>
                  <a:srgbClr val="F5A622"/>
                </a:solidFill>
              </a:rPr>
              <a:t> </a:t>
            </a:r>
            <a:r>
              <a:rPr sz="1000" dirty="0">
                <a:solidFill>
                  <a:srgbClr val="F5A622"/>
                </a:solidFill>
              </a:rPr>
              <a:t>The</a:t>
            </a:r>
            <a:r>
              <a:rPr sz="1000" spc="-35" dirty="0">
                <a:solidFill>
                  <a:srgbClr val="F5A622"/>
                </a:solidFill>
              </a:rPr>
              <a:t> </a:t>
            </a:r>
            <a:r>
              <a:rPr sz="1000" dirty="0">
                <a:solidFill>
                  <a:srgbClr val="F5A622"/>
                </a:solidFill>
              </a:rPr>
              <a:t>Bengal</a:t>
            </a:r>
            <a:r>
              <a:rPr sz="1000" spc="-20" dirty="0">
                <a:solidFill>
                  <a:srgbClr val="F5A622"/>
                </a:solidFill>
              </a:rPr>
              <a:t> </a:t>
            </a:r>
            <a:r>
              <a:rPr sz="1000" dirty="0">
                <a:solidFill>
                  <a:srgbClr val="F5A622"/>
                </a:solidFill>
              </a:rPr>
              <a:t>Hack</a:t>
            </a:r>
            <a:r>
              <a:rPr sz="1000" spc="-10" dirty="0">
                <a:solidFill>
                  <a:srgbClr val="F5A622"/>
                </a:solidFill>
              </a:rPr>
              <a:t> </a:t>
            </a:r>
            <a:r>
              <a:rPr sz="1000" dirty="0">
                <a:solidFill>
                  <a:srgbClr val="F5A622"/>
                </a:solidFill>
              </a:rPr>
              <a:t>Fest</a:t>
            </a:r>
            <a:r>
              <a:rPr sz="1000" spc="-35" dirty="0">
                <a:solidFill>
                  <a:srgbClr val="F5A622"/>
                </a:solidFill>
              </a:rPr>
              <a:t> </a:t>
            </a:r>
            <a:r>
              <a:rPr sz="1000" spc="-20" dirty="0">
                <a:solidFill>
                  <a:srgbClr val="F5A622"/>
                </a:solidFill>
              </a:rPr>
              <a:t>2026</a:t>
            </a: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7649718" y="186944"/>
            <a:ext cx="1415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787AA"/>
                </a:solidFill>
                <a:latin typeface="Trebuchet MS"/>
                <a:cs typeface="Trebuchet MS"/>
              </a:rPr>
              <a:t>Team: [Team Name]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1620" y="601726"/>
            <a:ext cx="168084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spc="-10" dirty="0">
                <a:solidFill>
                  <a:srgbClr val="FFFFFF"/>
                </a:solidFill>
                <a:latin typeface="Trebuchet MS"/>
                <a:cs typeface="Trebuchet MS"/>
              </a:rPr>
              <a:t>Challenges</a:t>
            </a:r>
            <a:endParaRPr sz="26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6350" y="4977129"/>
            <a:ext cx="9156700" cy="172720"/>
            <a:chOff x="-6350" y="4977129"/>
            <a:chExt cx="9156700" cy="172720"/>
          </a:xfrm>
        </p:grpSpPr>
        <p:sp>
          <p:nvSpPr>
            <p:cNvPr id="6" name="object 6"/>
            <p:cNvSpPr/>
            <p:nvPr/>
          </p:nvSpPr>
          <p:spPr>
            <a:xfrm>
              <a:off x="0" y="4983479"/>
              <a:ext cx="9144000" cy="160020"/>
            </a:xfrm>
            <a:custGeom>
              <a:avLst/>
              <a:gdLst/>
              <a:ahLst/>
              <a:cxnLst/>
              <a:rect l="l" t="t" r="r" b="b"/>
              <a:pathLst>
                <a:path w="9144000" h="160020">
                  <a:moveTo>
                    <a:pt x="9144000" y="0"/>
                  </a:moveTo>
                  <a:lnTo>
                    <a:pt x="0" y="0"/>
                  </a:lnTo>
                  <a:lnTo>
                    <a:pt x="0" y="160020"/>
                  </a:lnTo>
                  <a:lnTo>
                    <a:pt x="9144000" y="1600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A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4983479"/>
              <a:ext cx="9144000" cy="160020"/>
            </a:xfrm>
            <a:custGeom>
              <a:avLst/>
              <a:gdLst/>
              <a:ahLst/>
              <a:cxnLst/>
              <a:rect l="l" t="t" r="r" b="b"/>
              <a:pathLst>
                <a:path w="9144000" h="160020">
                  <a:moveTo>
                    <a:pt x="0" y="160020"/>
                  </a:moveTo>
                  <a:lnTo>
                    <a:pt x="9144000" y="16002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60020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983479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914400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9144000" y="91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983479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9144"/>
                  </a:moveTo>
                  <a:lnTo>
                    <a:pt x="9144000" y="914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144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72212" y="1045210"/>
            <a:ext cx="2910840" cy="1837055"/>
            <a:chOff x="172212" y="1045210"/>
            <a:chExt cx="2910840" cy="183705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970" y="1045210"/>
              <a:ext cx="213867" cy="767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857" y="1045210"/>
              <a:ext cx="104140" cy="7670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141476"/>
              <a:ext cx="2910840" cy="174040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74320" y="1207008"/>
              <a:ext cx="2743200" cy="1572895"/>
            </a:xfrm>
            <a:custGeom>
              <a:avLst/>
              <a:gdLst/>
              <a:ahLst/>
              <a:cxnLst/>
              <a:rect l="l" t="t" r="r" b="b"/>
              <a:pathLst>
                <a:path w="2743200" h="1572895">
                  <a:moveTo>
                    <a:pt x="2743200" y="0"/>
                  </a:moveTo>
                  <a:lnTo>
                    <a:pt x="0" y="0"/>
                  </a:lnTo>
                  <a:lnTo>
                    <a:pt x="0" y="1572768"/>
                  </a:lnTo>
                  <a:lnTo>
                    <a:pt x="2743200" y="1572768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4320" y="1207008"/>
              <a:ext cx="2743200" cy="1572895"/>
            </a:xfrm>
            <a:custGeom>
              <a:avLst/>
              <a:gdLst/>
              <a:ahLst/>
              <a:cxnLst/>
              <a:rect l="l" t="t" r="r" b="b"/>
              <a:pathLst>
                <a:path w="2743200" h="1572895">
                  <a:moveTo>
                    <a:pt x="0" y="1572768"/>
                  </a:moveTo>
                  <a:lnTo>
                    <a:pt x="2743200" y="1572768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572768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4320" y="1207008"/>
              <a:ext cx="2743200" cy="50800"/>
            </a:xfrm>
            <a:custGeom>
              <a:avLst/>
              <a:gdLst/>
              <a:ahLst/>
              <a:cxnLst/>
              <a:rect l="l" t="t" r="r" b="b"/>
              <a:pathLst>
                <a:path w="2743200" h="50800">
                  <a:moveTo>
                    <a:pt x="2743200" y="0"/>
                  </a:moveTo>
                  <a:lnTo>
                    <a:pt x="0" y="0"/>
                  </a:lnTo>
                  <a:lnTo>
                    <a:pt x="0" y="50291"/>
                  </a:lnTo>
                  <a:lnTo>
                    <a:pt x="2743200" y="50291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4320" y="1207008"/>
              <a:ext cx="2743200" cy="50800"/>
            </a:xfrm>
            <a:custGeom>
              <a:avLst/>
              <a:gdLst/>
              <a:ahLst/>
              <a:cxnLst/>
              <a:rect l="l" t="t" r="r" b="b"/>
              <a:pathLst>
                <a:path w="2743200" h="50800">
                  <a:moveTo>
                    <a:pt x="0" y="50291"/>
                  </a:moveTo>
                  <a:lnTo>
                    <a:pt x="2743200" y="50291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50291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4048" y="1316736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460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60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60" y="502919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20" y="251460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121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4048" y="1316736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0" y="251460"/>
                  </a:moveTo>
                  <a:lnTo>
                    <a:pt x="4051" y="206243"/>
                  </a:lnTo>
                  <a:lnTo>
                    <a:pt x="15732" y="163693"/>
                  </a:lnTo>
                  <a:lnTo>
                    <a:pt x="34332" y="124516"/>
                  </a:lnTo>
                  <a:lnTo>
                    <a:pt x="59141" y="89422"/>
                  </a:lnTo>
                  <a:lnTo>
                    <a:pt x="89448" y="59120"/>
                  </a:lnTo>
                  <a:lnTo>
                    <a:pt x="124544" y="34318"/>
                  </a:lnTo>
                  <a:lnTo>
                    <a:pt x="163718" y="15725"/>
                  </a:lnTo>
                  <a:lnTo>
                    <a:pt x="206260" y="4049"/>
                  </a:lnTo>
                  <a:lnTo>
                    <a:pt x="251460" y="0"/>
                  </a:lnTo>
                  <a:lnTo>
                    <a:pt x="296659" y="4049"/>
                  </a:lnTo>
                  <a:lnTo>
                    <a:pt x="339201" y="15725"/>
                  </a:lnTo>
                  <a:lnTo>
                    <a:pt x="378375" y="34318"/>
                  </a:lnTo>
                  <a:lnTo>
                    <a:pt x="413471" y="59120"/>
                  </a:lnTo>
                  <a:lnTo>
                    <a:pt x="443778" y="89422"/>
                  </a:lnTo>
                  <a:lnTo>
                    <a:pt x="468587" y="124516"/>
                  </a:lnTo>
                  <a:lnTo>
                    <a:pt x="487187" y="163693"/>
                  </a:lnTo>
                  <a:lnTo>
                    <a:pt x="498868" y="206243"/>
                  </a:lnTo>
                  <a:lnTo>
                    <a:pt x="502920" y="251460"/>
                  </a:lnTo>
                  <a:lnTo>
                    <a:pt x="498868" y="296676"/>
                  </a:lnTo>
                  <a:lnTo>
                    <a:pt x="487187" y="339226"/>
                  </a:lnTo>
                  <a:lnTo>
                    <a:pt x="468587" y="378403"/>
                  </a:lnTo>
                  <a:lnTo>
                    <a:pt x="443778" y="413497"/>
                  </a:lnTo>
                  <a:lnTo>
                    <a:pt x="413471" y="443799"/>
                  </a:lnTo>
                  <a:lnTo>
                    <a:pt x="378375" y="468601"/>
                  </a:lnTo>
                  <a:lnTo>
                    <a:pt x="339201" y="487194"/>
                  </a:lnTo>
                  <a:lnTo>
                    <a:pt x="296659" y="498870"/>
                  </a:lnTo>
                  <a:lnTo>
                    <a:pt x="251460" y="502919"/>
                  </a:lnTo>
                  <a:lnTo>
                    <a:pt x="206260" y="498870"/>
                  </a:lnTo>
                  <a:lnTo>
                    <a:pt x="163718" y="487194"/>
                  </a:lnTo>
                  <a:lnTo>
                    <a:pt x="124544" y="468601"/>
                  </a:lnTo>
                  <a:lnTo>
                    <a:pt x="89448" y="443799"/>
                  </a:lnTo>
                  <a:lnTo>
                    <a:pt x="59141" y="413497"/>
                  </a:lnTo>
                  <a:lnTo>
                    <a:pt x="34332" y="378403"/>
                  </a:lnTo>
                  <a:lnTo>
                    <a:pt x="15732" y="339226"/>
                  </a:lnTo>
                  <a:lnTo>
                    <a:pt x="4051" y="296676"/>
                  </a:lnTo>
                  <a:lnTo>
                    <a:pt x="0" y="251460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1480" y="1339596"/>
              <a:ext cx="438912" cy="438912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280670" y="1382013"/>
            <a:ext cx="2730500" cy="826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5151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Technical</a:t>
            </a:r>
            <a:r>
              <a:rPr sz="1000" b="1" spc="-4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F5A622"/>
                </a:solidFill>
                <a:latin typeface="Trebuchet MS"/>
                <a:cs typeface="Trebuchet MS"/>
              </a:rPr>
              <a:t>Challenge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000">
              <a:latin typeface="Trebuchet MS"/>
              <a:cs typeface="Trebuchet MS"/>
            </a:endParaRPr>
          </a:p>
          <a:p>
            <a:pPr marL="194310" marR="262890">
              <a:lnSpc>
                <a:spcPts val="1120"/>
              </a:lnSpc>
            </a:pPr>
            <a:r>
              <a:rPr sz="950" dirty="0">
                <a:solidFill>
                  <a:srgbClr val="E8E8EF"/>
                </a:solidFill>
                <a:latin typeface="Trebuchet MS"/>
                <a:cs typeface="Trebuchet MS"/>
              </a:rPr>
              <a:t>Multi-model inference latency — Solved by exporting LR coefficient matrices for in-browser JS inference; GBM used for batch/API calls only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144011" y="1141475"/>
            <a:ext cx="2910840" cy="1740535"/>
            <a:chOff x="3144011" y="1141475"/>
            <a:chExt cx="2910840" cy="1740535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44011" y="1141475"/>
              <a:ext cx="2910840" cy="174040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246119" y="1207007"/>
              <a:ext cx="2743200" cy="1572895"/>
            </a:xfrm>
            <a:custGeom>
              <a:avLst/>
              <a:gdLst/>
              <a:ahLst/>
              <a:cxnLst/>
              <a:rect l="l" t="t" r="r" b="b"/>
              <a:pathLst>
                <a:path w="2743200" h="1572895">
                  <a:moveTo>
                    <a:pt x="2743200" y="0"/>
                  </a:moveTo>
                  <a:lnTo>
                    <a:pt x="0" y="0"/>
                  </a:lnTo>
                  <a:lnTo>
                    <a:pt x="0" y="1572768"/>
                  </a:lnTo>
                  <a:lnTo>
                    <a:pt x="2743200" y="1572768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46119" y="1207007"/>
              <a:ext cx="2743200" cy="1572895"/>
            </a:xfrm>
            <a:custGeom>
              <a:avLst/>
              <a:gdLst/>
              <a:ahLst/>
              <a:cxnLst/>
              <a:rect l="l" t="t" r="r" b="b"/>
              <a:pathLst>
                <a:path w="2743200" h="1572895">
                  <a:moveTo>
                    <a:pt x="0" y="1572768"/>
                  </a:moveTo>
                  <a:lnTo>
                    <a:pt x="2743200" y="1572768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572768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46119" y="1207007"/>
              <a:ext cx="2743200" cy="50800"/>
            </a:xfrm>
            <a:custGeom>
              <a:avLst/>
              <a:gdLst/>
              <a:ahLst/>
              <a:cxnLst/>
              <a:rect l="l" t="t" r="r" b="b"/>
              <a:pathLst>
                <a:path w="2743200" h="50800">
                  <a:moveTo>
                    <a:pt x="2743200" y="0"/>
                  </a:moveTo>
                  <a:lnTo>
                    <a:pt x="0" y="0"/>
                  </a:lnTo>
                  <a:lnTo>
                    <a:pt x="0" y="50291"/>
                  </a:lnTo>
                  <a:lnTo>
                    <a:pt x="2743200" y="50291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FF6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46119" y="1207007"/>
              <a:ext cx="2743200" cy="50800"/>
            </a:xfrm>
            <a:custGeom>
              <a:avLst/>
              <a:gdLst/>
              <a:ahLst/>
              <a:cxnLst/>
              <a:rect l="l" t="t" r="r" b="b"/>
              <a:pathLst>
                <a:path w="2743200" h="50800">
                  <a:moveTo>
                    <a:pt x="0" y="50291"/>
                  </a:moveTo>
                  <a:lnTo>
                    <a:pt x="2743200" y="50291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50291"/>
                  </a:lnTo>
                  <a:close/>
                </a:path>
              </a:pathLst>
            </a:custGeom>
            <a:ln w="12700">
              <a:solidFill>
                <a:srgbClr val="FF6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355847" y="1316735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460" y="0"/>
                  </a:move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60"/>
                  </a:lnTo>
                  <a:lnTo>
                    <a:pt x="4049" y="296676"/>
                  </a:lnTo>
                  <a:lnTo>
                    <a:pt x="15725" y="339226"/>
                  </a:lnTo>
                  <a:lnTo>
                    <a:pt x="34318" y="378403"/>
                  </a:lnTo>
                  <a:lnTo>
                    <a:pt x="59120" y="413497"/>
                  </a:lnTo>
                  <a:lnTo>
                    <a:pt x="89422" y="443799"/>
                  </a:lnTo>
                  <a:lnTo>
                    <a:pt x="124516" y="468601"/>
                  </a:lnTo>
                  <a:lnTo>
                    <a:pt x="163693" y="487194"/>
                  </a:lnTo>
                  <a:lnTo>
                    <a:pt x="206243" y="498870"/>
                  </a:lnTo>
                  <a:lnTo>
                    <a:pt x="251460" y="502919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19" y="251460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121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355847" y="1316735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0" y="251460"/>
                  </a:moveTo>
                  <a:lnTo>
                    <a:pt x="4049" y="206243"/>
                  </a:lnTo>
                  <a:lnTo>
                    <a:pt x="15725" y="163693"/>
                  </a:lnTo>
                  <a:lnTo>
                    <a:pt x="34318" y="124516"/>
                  </a:lnTo>
                  <a:lnTo>
                    <a:pt x="59120" y="89422"/>
                  </a:lnTo>
                  <a:lnTo>
                    <a:pt x="89422" y="59120"/>
                  </a:lnTo>
                  <a:lnTo>
                    <a:pt x="124516" y="34318"/>
                  </a:lnTo>
                  <a:lnTo>
                    <a:pt x="163693" y="15725"/>
                  </a:lnTo>
                  <a:lnTo>
                    <a:pt x="206243" y="4049"/>
                  </a:lnTo>
                  <a:lnTo>
                    <a:pt x="251460" y="0"/>
                  </a:lnTo>
                  <a:lnTo>
                    <a:pt x="296676" y="4049"/>
                  </a:lnTo>
                  <a:lnTo>
                    <a:pt x="339226" y="15725"/>
                  </a:lnTo>
                  <a:lnTo>
                    <a:pt x="378403" y="34318"/>
                  </a:lnTo>
                  <a:lnTo>
                    <a:pt x="413497" y="59120"/>
                  </a:lnTo>
                  <a:lnTo>
                    <a:pt x="443799" y="89422"/>
                  </a:lnTo>
                  <a:lnTo>
                    <a:pt x="468601" y="124516"/>
                  </a:lnTo>
                  <a:lnTo>
                    <a:pt x="487194" y="163693"/>
                  </a:lnTo>
                  <a:lnTo>
                    <a:pt x="498870" y="206243"/>
                  </a:lnTo>
                  <a:lnTo>
                    <a:pt x="502919" y="251460"/>
                  </a:lnTo>
                  <a:lnTo>
                    <a:pt x="498870" y="296676"/>
                  </a:lnTo>
                  <a:lnTo>
                    <a:pt x="487194" y="339226"/>
                  </a:lnTo>
                  <a:lnTo>
                    <a:pt x="468601" y="378403"/>
                  </a:lnTo>
                  <a:lnTo>
                    <a:pt x="443799" y="413497"/>
                  </a:lnTo>
                  <a:lnTo>
                    <a:pt x="413497" y="443799"/>
                  </a:lnTo>
                  <a:lnTo>
                    <a:pt x="378403" y="468601"/>
                  </a:lnTo>
                  <a:lnTo>
                    <a:pt x="339226" y="487194"/>
                  </a:lnTo>
                  <a:lnTo>
                    <a:pt x="296676" y="498870"/>
                  </a:lnTo>
                  <a:lnTo>
                    <a:pt x="251460" y="502919"/>
                  </a:lnTo>
                  <a:lnTo>
                    <a:pt x="206243" y="498870"/>
                  </a:lnTo>
                  <a:lnTo>
                    <a:pt x="163693" y="487194"/>
                  </a:lnTo>
                  <a:lnTo>
                    <a:pt x="124516" y="468601"/>
                  </a:lnTo>
                  <a:lnTo>
                    <a:pt x="89422" y="443799"/>
                  </a:lnTo>
                  <a:lnTo>
                    <a:pt x="59120" y="413497"/>
                  </a:lnTo>
                  <a:lnTo>
                    <a:pt x="34318" y="378403"/>
                  </a:lnTo>
                  <a:lnTo>
                    <a:pt x="15725" y="339226"/>
                  </a:lnTo>
                  <a:lnTo>
                    <a:pt x="4049" y="296676"/>
                  </a:lnTo>
                  <a:lnTo>
                    <a:pt x="0" y="251460"/>
                  </a:lnTo>
                  <a:close/>
                </a:path>
              </a:pathLst>
            </a:custGeom>
            <a:ln w="12700">
              <a:solidFill>
                <a:srgbClr val="FF6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83279" y="1339595"/>
              <a:ext cx="438912" cy="438912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3252470" y="1382013"/>
            <a:ext cx="2730500" cy="826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52145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6B00"/>
                </a:solidFill>
                <a:latin typeface="Trebuchet MS"/>
                <a:cs typeface="Trebuchet MS"/>
              </a:rPr>
              <a:t>Resource</a:t>
            </a:r>
            <a:r>
              <a:rPr sz="1000" b="1" spc="-50" dirty="0">
                <a:solidFill>
                  <a:srgbClr val="FF6B00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FF6B00"/>
                </a:solidFill>
                <a:latin typeface="Trebuchet MS"/>
                <a:cs typeface="Trebuchet MS"/>
              </a:rPr>
              <a:t>Constraint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000">
              <a:latin typeface="Trebuchet MS"/>
              <a:cs typeface="Trebuchet MS"/>
            </a:endParaRPr>
          </a:p>
          <a:p>
            <a:pPr marL="194945" marR="262255">
              <a:lnSpc>
                <a:spcPts val="1120"/>
              </a:lnSpc>
            </a:pPr>
            <a:r>
              <a:rPr sz="950" dirty="0">
                <a:solidFill>
                  <a:srgbClr val="E8E8EF"/>
                </a:solidFill>
                <a:latin typeface="Trebuchet MS"/>
                <a:cs typeface="Trebuchet MS"/>
              </a:rPr>
              <a:t>Training on 319K+ rows with limited compute — Used stratified sampling (60K) + GBM subsample=0.8. AUC maintained at 0.988 with 60% training time reduction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115811" y="1141475"/>
            <a:ext cx="2910840" cy="1740535"/>
            <a:chOff x="6115811" y="1141475"/>
            <a:chExt cx="2910840" cy="1740535"/>
          </a:xfrm>
        </p:grpSpPr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15811" y="1141475"/>
              <a:ext cx="2910840" cy="174040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217919" y="1207007"/>
              <a:ext cx="2743200" cy="1572895"/>
            </a:xfrm>
            <a:custGeom>
              <a:avLst/>
              <a:gdLst/>
              <a:ahLst/>
              <a:cxnLst/>
              <a:rect l="l" t="t" r="r" b="b"/>
              <a:pathLst>
                <a:path w="2743200" h="1572895">
                  <a:moveTo>
                    <a:pt x="2743200" y="0"/>
                  </a:moveTo>
                  <a:lnTo>
                    <a:pt x="0" y="0"/>
                  </a:lnTo>
                  <a:lnTo>
                    <a:pt x="0" y="1572768"/>
                  </a:lnTo>
                  <a:lnTo>
                    <a:pt x="2743200" y="1572768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217919" y="1207007"/>
              <a:ext cx="2743200" cy="1572895"/>
            </a:xfrm>
            <a:custGeom>
              <a:avLst/>
              <a:gdLst/>
              <a:ahLst/>
              <a:cxnLst/>
              <a:rect l="l" t="t" r="r" b="b"/>
              <a:pathLst>
                <a:path w="2743200" h="1572895">
                  <a:moveTo>
                    <a:pt x="0" y="1572768"/>
                  </a:moveTo>
                  <a:lnTo>
                    <a:pt x="2743200" y="1572768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572768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217919" y="1207007"/>
              <a:ext cx="2743200" cy="50800"/>
            </a:xfrm>
            <a:custGeom>
              <a:avLst/>
              <a:gdLst/>
              <a:ahLst/>
              <a:cxnLst/>
              <a:rect l="l" t="t" r="r" b="b"/>
              <a:pathLst>
                <a:path w="2743200" h="50800">
                  <a:moveTo>
                    <a:pt x="2743200" y="0"/>
                  </a:moveTo>
                  <a:lnTo>
                    <a:pt x="0" y="0"/>
                  </a:lnTo>
                  <a:lnTo>
                    <a:pt x="0" y="50291"/>
                  </a:lnTo>
                  <a:lnTo>
                    <a:pt x="2743200" y="50291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217919" y="1207007"/>
              <a:ext cx="2743200" cy="50800"/>
            </a:xfrm>
            <a:custGeom>
              <a:avLst/>
              <a:gdLst/>
              <a:ahLst/>
              <a:cxnLst/>
              <a:rect l="l" t="t" r="r" b="b"/>
              <a:pathLst>
                <a:path w="2743200" h="50800">
                  <a:moveTo>
                    <a:pt x="0" y="50291"/>
                  </a:moveTo>
                  <a:lnTo>
                    <a:pt x="2743200" y="50291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50291"/>
                  </a:lnTo>
                  <a:close/>
                </a:path>
              </a:pathLst>
            </a:custGeom>
            <a:ln w="12700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327647" y="1316735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459" y="0"/>
                  </a:move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60"/>
                  </a:lnTo>
                  <a:lnTo>
                    <a:pt x="4049" y="296676"/>
                  </a:lnTo>
                  <a:lnTo>
                    <a:pt x="15725" y="339226"/>
                  </a:lnTo>
                  <a:lnTo>
                    <a:pt x="34318" y="378403"/>
                  </a:lnTo>
                  <a:lnTo>
                    <a:pt x="59120" y="413497"/>
                  </a:lnTo>
                  <a:lnTo>
                    <a:pt x="89422" y="443799"/>
                  </a:lnTo>
                  <a:lnTo>
                    <a:pt x="124516" y="468601"/>
                  </a:lnTo>
                  <a:lnTo>
                    <a:pt x="163693" y="487194"/>
                  </a:lnTo>
                  <a:lnTo>
                    <a:pt x="206243" y="498870"/>
                  </a:lnTo>
                  <a:lnTo>
                    <a:pt x="251459" y="502919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20" y="251460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121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327647" y="1316735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0" y="251460"/>
                  </a:moveTo>
                  <a:lnTo>
                    <a:pt x="4049" y="206243"/>
                  </a:lnTo>
                  <a:lnTo>
                    <a:pt x="15725" y="163693"/>
                  </a:lnTo>
                  <a:lnTo>
                    <a:pt x="34318" y="124516"/>
                  </a:lnTo>
                  <a:lnTo>
                    <a:pt x="59120" y="89422"/>
                  </a:lnTo>
                  <a:lnTo>
                    <a:pt x="89422" y="59120"/>
                  </a:lnTo>
                  <a:lnTo>
                    <a:pt x="124516" y="34318"/>
                  </a:lnTo>
                  <a:lnTo>
                    <a:pt x="163693" y="15725"/>
                  </a:lnTo>
                  <a:lnTo>
                    <a:pt x="206243" y="4049"/>
                  </a:lnTo>
                  <a:lnTo>
                    <a:pt x="251459" y="0"/>
                  </a:lnTo>
                  <a:lnTo>
                    <a:pt x="296676" y="4049"/>
                  </a:lnTo>
                  <a:lnTo>
                    <a:pt x="339226" y="15725"/>
                  </a:lnTo>
                  <a:lnTo>
                    <a:pt x="378403" y="34318"/>
                  </a:lnTo>
                  <a:lnTo>
                    <a:pt x="413497" y="59120"/>
                  </a:lnTo>
                  <a:lnTo>
                    <a:pt x="443799" y="89422"/>
                  </a:lnTo>
                  <a:lnTo>
                    <a:pt x="468601" y="124516"/>
                  </a:lnTo>
                  <a:lnTo>
                    <a:pt x="487194" y="163693"/>
                  </a:lnTo>
                  <a:lnTo>
                    <a:pt x="498870" y="206243"/>
                  </a:lnTo>
                  <a:lnTo>
                    <a:pt x="502920" y="251460"/>
                  </a:lnTo>
                  <a:lnTo>
                    <a:pt x="498870" y="296676"/>
                  </a:lnTo>
                  <a:lnTo>
                    <a:pt x="487194" y="339226"/>
                  </a:lnTo>
                  <a:lnTo>
                    <a:pt x="468601" y="378403"/>
                  </a:lnTo>
                  <a:lnTo>
                    <a:pt x="443799" y="413497"/>
                  </a:lnTo>
                  <a:lnTo>
                    <a:pt x="413497" y="443799"/>
                  </a:lnTo>
                  <a:lnTo>
                    <a:pt x="378403" y="468601"/>
                  </a:lnTo>
                  <a:lnTo>
                    <a:pt x="339226" y="487194"/>
                  </a:lnTo>
                  <a:lnTo>
                    <a:pt x="296676" y="498870"/>
                  </a:lnTo>
                  <a:lnTo>
                    <a:pt x="251459" y="502919"/>
                  </a:lnTo>
                  <a:lnTo>
                    <a:pt x="206243" y="498870"/>
                  </a:lnTo>
                  <a:lnTo>
                    <a:pt x="163693" y="487194"/>
                  </a:lnTo>
                  <a:lnTo>
                    <a:pt x="124516" y="468601"/>
                  </a:lnTo>
                  <a:lnTo>
                    <a:pt x="89422" y="443799"/>
                  </a:lnTo>
                  <a:lnTo>
                    <a:pt x="59120" y="413497"/>
                  </a:lnTo>
                  <a:lnTo>
                    <a:pt x="34318" y="378403"/>
                  </a:lnTo>
                  <a:lnTo>
                    <a:pt x="15725" y="339226"/>
                  </a:lnTo>
                  <a:lnTo>
                    <a:pt x="4049" y="296676"/>
                  </a:lnTo>
                  <a:lnTo>
                    <a:pt x="0" y="251460"/>
                  </a:lnTo>
                  <a:close/>
                </a:path>
              </a:pathLst>
            </a:custGeom>
            <a:ln w="12700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55079" y="1339595"/>
              <a:ext cx="438912" cy="438912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6224270" y="1382013"/>
            <a:ext cx="2730500" cy="826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5278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7B39EC"/>
                </a:solidFill>
                <a:latin typeface="Trebuchet MS"/>
                <a:cs typeface="Trebuchet MS"/>
              </a:rPr>
              <a:t>Complexity</a:t>
            </a:r>
            <a:r>
              <a:rPr sz="1000" b="1" spc="-55" dirty="0">
                <a:solidFill>
                  <a:srgbClr val="7B39EC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7B39EC"/>
                </a:solidFill>
                <a:latin typeface="Trebuchet MS"/>
                <a:cs typeface="Trebuchet MS"/>
              </a:rPr>
              <a:t>Issue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000">
              <a:latin typeface="Trebuchet MS"/>
              <a:cs typeface="Trebuchet MS"/>
            </a:endParaRPr>
          </a:p>
          <a:p>
            <a:pPr marL="195580" marR="261620">
              <a:lnSpc>
                <a:spcPts val="1120"/>
              </a:lnSpc>
            </a:pPr>
            <a:r>
              <a:rPr sz="950" dirty="0">
                <a:solidFill>
                  <a:srgbClr val="E8E8EF"/>
                </a:solidFill>
                <a:latin typeface="Trebuchet MS"/>
                <a:cs typeface="Trebuchet MS"/>
              </a:rPr>
              <a:t>Missing comorbidity features in heart_2020 dataset — Built a feature bridge: derived has_diabetes from Diabetic_Yes flag; mapped BMI, SleepTime, PhysicalHealth to our 25-feature schema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72212" y="2933700"/>
            <a:ext cx="2910840" cy="1740535"/>
            <a:chOff x="172212" y="2933700"/>
            <a:chExt cx="2910840" cy="1740535"/>
          </a:xfrm>
        </p:grpSpPr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2933700"/>
              <a:ext cx="2910840" cy="1740408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274320" y="2999231"/>
              <a:ext cx="2743200" cy="1572895"/>
            </a:xfrm>
            <a:custGeom>
              <a:avLst/>
              <a:gdLst/>
              <a:ahLst/>
              <a:cxnLst/>
              <a:rect l="l" t="t" r="r" b="b"/>
              <a:pathLst>
                <a:path w="2743200" h="1572895">
                  <a:moveTo>
                    <a:pt x="2743200" y="0"/>
                  </a:moveTo>
                  <a:lnTo>
                    <a:pt x="0" y="0"/>
                  </a:lnTo>
                  <a:lnTo>
                    <a:pt x="0" y="1572768"/>
                  </a:lnTo>
                  <a:lnTo>
                    <a:pt x="2743200" y="1572768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74320" y="2999231"/>
              <a:ext cx="2743200" cy="1572895"/>
            </a:xfrm>
            <a:custGeom>
              <a:avLst/>
              <a:gdLst/>
              <a:ahLst/>
              <a:cxnLst/>
              <a:rect l="l" t="t" r="r" b="b"/>
              <a:pathLst>
                <a:path w="2743200" h="1572895">
                  <a:moveTo>
                    <a:pt x="0" y="1572768"/>
                  </a:moveTo>
                  <a:lnTo>
                    <a:pt x="2743200" y="1572768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572768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74320" y="2999231"/>
              <a:ext cx="2743200" cy="50800"/>
            </a:xfrm>
            <a:custGeom>
              <a:avLst/>
              <a:gdLst/>
              <a:ahLst/>
              <a:cxnLst/>
              <a:rect l="l" t="t" r="r" b="b"/>
              <a:pathLst>
                <a:path w="2743200" h="50800">
                  <a:moveTo>
                    <a:pt x="2743200" y="0"/>
                  </a:moveTo>
                  <a:lnTo>
                    <a:pt x="0" y="0"/>
                  </a:lnTo>
                  <a:lnTo>
                    <a:pt x="0" y="50292"/>
                  </a:lnTo>
                  <a:lnTo>
                    <a:pt x="2743200" y="50292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00C7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74320" y="2999231"/>
              <a:ext cx="2743200" cy="50800"/>
            </a:xfrm>
            <a:custGeom>
              <a:avLst/>
              <a:gdLst/>
              <a:ahLst/>
              <a:cxnLst/>
              <a:rect l="l" t="t" r="r" b="b"/>
              <a:pathLst>
                <a:path w="2743200" h="50800">
                  <a:moveTo>
                    <a:pt x="0" y="50292"/>
                  </a:moveTo>
                  <a:lnTo>
                    <a:pt x="2743200" y="50292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50292"/>
                  </a:lnTo>
                  <a:close/>
                </a:path>
              </a:pathLst>
            </a:custGeom>
            <a:ln w="12699">
              <a:solidFill>
                <a:srgbClr val="00C7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84048" y="310896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460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59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60" y="502919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20" y="251459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121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84048" y="310896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0" y="251459"/>
                  </a:moveTo>
                  <a:lnTo>
                    <a:pt x="4051" y="206243"/>
                  </a:lnTo>
                  <a:lnTo>
                    <a:pt x="15732" y="163693"/>
                  </a:lnTo>
                  <a:lnTo>
                    <a:pt x="34332" y="124516"/>
                  </a:lnTo>
                  <a:lnTo>
                    <a:pt x="59141" y="89422"/>
                  </a:lnTo>
                  <a:lnTo>
                    <a:pt x="89448" y="59120"/>
                  </a:lnTo>
                  <a:lnTo>
                    <a:pt x="124544" y="34318"/>
                  </a:lnTo>
                  <a:lnTo>
                    <a:pt x="163718" y="15725"/>
                  </a:lnTo>
                  <a:lnTo>
                    <a:pt x="206260" y="4049"/>
                  </a:lnTo>
                  <a:lnTo>
                    <a:pt x="251460" y="0"/>
                  </a:lnTo>
                  <a:lnTo>
                    <a:pt x="296659" y="4049"/>
                  </a:lnTo>
                  <a:lnTo>
                    <a:pt x="339201" y="15725"/>
                  </a:lnTo>
                  <a:lnTo>
                    <a:pt x="378375" y="34318"/>
                  </a:lnTo>
                  <a:lnTo>
                    <a:pt x="413471" y="59120"/>
                  </a:lnTo>
                  <a:lnTo>
                    <a:pt x="443778" y="89422"/>
                  </a:lnTo>
                  <a:lnTo>
                    <a:pt x="468587" y="124516"/>
                  </a:lnTo>
                  <a:lnTo>
                    <a:pt x="487187" y="163693"/>
                  </a:lnTo>
                  <a:lnTo>
                    <a:pt x="498868" y="206243"/>
                  </a:lnTo>
                  <a:lnTo>
                    <a:pt x="502920" y="251459"/>
                  </a:lnTo>
                  <a:lnTo>
                    <a:pt x="498868" y="296676"/>
                  </a:lnTo>
                  <a:lnTo>
                    <a:pt x="487187" y="339226"/>
                  </a:lnTo>
                  <a:lnTo>
                    <a:pt x="468587" y="378403"/>
                  </a:lnTo>
                  <a:lnTo>
                    <a:pt x="443778" y="413497"/>
                  </a:lnTo>
                  <a:lnTo>
                    <a:pt x="413471" y="443799"/>
                  </a:lnTo>
                  <a:lnTo>
                    <a:pt x="378375" y="468601"/>
                  </a:lnTo>
                  <a:lnTo>
                    <a:pt x="339201" y="487194"/>
                  </a:lnTo>
                  <a:lnTo>
                    <a:pt x="296659" y="498870"/>
                  </a:lnTo>
                  <a:lnTo>
                    <a:pt x="251460" y="502919"/>
                  </a:lnTo>
                  <a:lnTo>
                    <a:pt x="206260" y="498870"/>
                  </a:lnTo>
                  <a:lnTo>
                    <a:pt x="163718" y="487194"/>
                  </a:lnTo>
                  <a:lnTo>
                    <a:pt x="124544" y="468601"/>
                  </a:lnTo>
                  <a:lnTo>
                    <a:pt x="89448" y="443799"/>
                  </a:lnTo>
                  <a:lnTo>
                    <a:pt x="59141" y="413497"/>
                  </a:lnTo>
                  <a:lnTo>
                    <a:pt x="34332" y="378403"/>
                  </a:lnTo>
                  <a:lnTo>
                    <a:pt x="15732" y="339226"/>
                  </a:lnTo>
                  <a:lnTo>
                    <a:pt x="4051" y="296676"/>
                  </a:lnTo>
                  <a:lnTo>
                    <a:pt x="0" y="251459"/>
                  </a:lnTo>
                  <a:close/>
                </a:path>
              </a:pathLst>
            </a:custGeom>
            <a:ln w="12699">
              <a:solidFill>
                <a:srgbClr val="00C7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1480" y="3131820"/>
              <a:ext cx="438912" cy="438912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280670" y="3174872"/>
            <a:ext cx="2730500" cy="826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5151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00C7B4"/>
                </a:solidFill>
                <a:latin typeface="Trebuchet MS"/>
                <a:cs typeface="Trebuchet MS"/>
              </a:rPr>
              <a:t>Integration</a:t>
            </a:r>
            <a:r>
              <a:rPr sz="1000" b="1" spc="-70" dirty="0">
                <a:solidFill>
                  <a:srgbClr val="00C7B4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00C7B4"/>
                </a:solidFill>
                <a:latin typeface="Trebuchet MS"/>
                <a:cs typeface="Trebuchet MS"/>
              </a:rPr>
              <a:t>Challenge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000">
              <a:latin typeface="Trebuchet MS"/>
              <a:cs typeface="Trebuchet MS"/>
            </a:endParaRPr>
          </a:p>
          <a:p>
            <a:pPr marL="194310">
              <a:lnSpc>
                <a:spcPts val="1130"/>
              </a:lnSpc>
            </a:pPr>
            <a:r>
              <a:rPr sz="950" dirty="0">
                <a:solidFill>
                  <a:srgbClr val="E8E8EF"/>
                </a:solidFill>
                <a:latin typeface="Trebuchet MS"/>
                <a:cs typeface="Trebuchet MS"/>
              </a:rPr>
              <a:t>Connecting XGBoost sleep model (14 unique features: wakeups, snoring, stress_level_num) with our CVD pipeline — Solved with modular API endpoints per model with independent feature schemas</a:t>
            </a:r>
            <a:endParaRPr sz="950">
              <a:latin typeface="Trebuchet MS"/>
              <a:cs typeface="Trebuchet MS"/>
            </a:endParaRPr>
          </a:p>
          <a:p>
            <a:pPr marL="194310">
              <a:lnSpc>
                <a:spcPts val="1130"/>
              </a:lnSpc>
            </a:pPr>
            <a:endParaRPr sz="950">
              <a:latin typeface="Trebuchet MS"/>
              <a:cs typeface="Trebuchet MS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3144011" y="2933700"/>
            <a:ext cx="2910840" cy="1740535"/>
            <a:chOff x="3144011" y="2933700"/>
            <a:chExt cx="2910840" cy="1740535"/>
          </a:xfrm>
        </p:grpSpPr>
        <p:pic>
          <p:nvPicPr>
            <p:cNvPr id="53" name="object 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44011" y="2933700"/>
              <a:ext cx="2910840" cy="1740408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3246119" y="2999231"/>
              <a:ext cx="2743200" cy="1572895"/>
            </a:xfrm>
            <a:custGeom>
              <a:avLst/>
              <a:gdLst/>
              <a:ahLst/>
              <a:cxnLst/>
              <a:rect l="l" t="t" r="r" b="b"/>
              <a:pathLst>
                <a:path w="2743200" h="1572895">
                  <a:moveTo>
                    <a:pt x="2743200" y="0"/>
                  </a:moveTo>
                  <a:lnTo>
                    <a:pt x="0" y="0"/>
                  </a:lnTo>
                  <a:lnTo>
                    <a:pt x="0" y="1572768"/>
                  </a:lnTo>
                  <a:lnTo>
                    <a:pt x="2743200" y="1572768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246119" y="2999231"/>
              <a:ext cx="2743200" cy="1572895"/>
            </a:xfrm>
            <a:custGeom>
              <a:avLst/>
              <a:gdLst/>
              <a:ahLst/>
              <a:cxnLst/>
              <a:rect l="l" t="t" r="r" b="b"/>
              <a:pathLst>
                <a:path w="2743200" h="1572895">
                  <a:moveTo>
                    <a:pt x="0" y="1572768"/>
                  </a:moveTo>
                  <a:lnTo>
                    <a:pt x="2743200" y="1572768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572768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246119" y="2999231"/>
              <a:ext cx="2743200" cy="50800"/>
            </a:xfrm>
            <a:custGeom>
              <a:avLst/>
              <a:gdLst/>
              <a:ahLst/>
              <a:cxnLst/>
              <a:rect l="l" t="t" r="r" b="b"/>
              <a:pathLst>
                <a:path w="2743200" h="50800">
                  <a:moveTo>
                    <a:pt x="2743200" y="0"/>
                  </a:moveTo>
                  <a:lnTo>
                    <a:pt x="0" y="0"/>
                  </a:lnTo>
                  <a:lnTo>
                    <a:pt x="0" y="50292"/>
                  </a:lnTo>
                  <a:lnTo>
                    <a:pt x="2743200" y="50292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246119" y="2999231"/>
              <a:ext cx="2743200" cy="50800"/>
            </a:xfrm>
            <a:custGeom>
              <a:avLst/>
              <a:gdLst/>
              <a:ahLst/>
              <a:cxnLst/>
              <a:rect l="l" t="t" r="r" b="b"/>
              <a:pathLst>
                <a:path w="2743200" h="50800">
                  <a:moveTo>
                    <a:pt x="0" y="50292"/>
                  </a:moveTo>
                  <a:lnTo>
                    <a:pt x="2743200" y="50292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50292"/>
                  </a:lnTo>
                  <a:close/>
                </a:path>
              </a:pathLst>
            </a:custGeom>
            <a:ln w="12699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355847" y="310896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51460" y="0"/>
                  </a:move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59"/>
                  </a:lnTo>
                  <a:lnTo>
                    <a:pt x="4049" y="296676"/>
                  </a:lnTo>
                  <a:lnTo>
                    <a:pt x="15725" y="339226"/>
                  </a:lnTo>
                  <a:lnTo>
                    <a:pt x="34318" y="378403"/>
                  </a:lnTo>
                  <a:lnTo>
                    <a:pt x="59120" y="413497"/>
                  </a:lnTo>
                  <a:lnTo>
                    <a:pt x="89422" y="443799"/>
                  </a:lnTo>
                  <a:lnTo>
                    <a:pt x="124516" y="468601"/>
                  </a:lnTo>
                  <a:lnTo>
                    <a:pt x="163693" y="487194"/>
                  </a:lnTo>
                  <a:lnTo>
                    <a:pt x="206243" y="498870"/>
                  </a:lnTo>
                  <a:lnTo>
                    <a:pt x="251460" y="502919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19" y="251459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121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355847" y="310896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0" y="251459"/>
                  </a:moveTo>
                  <a:lnTo>
                    <a:pt x="4049" y="206243"/>
                  </a:lnTo>
                  <a:lnTo>
                    <a:pt x="15725" y="163693"/>
                  </a:lnTo>
                  <a:lnTo>
                    <a:pt x="34318" y="124516"/>
                  </a:lnTo>
                  <a:lnTo>
                    <a:pt x="59120" y="89422"/>
                  </a:lnTo>
                  <a:lnTo>
                    <a:pt x="89422" y="59120"/>
                  </a:lnTo>
                  <a:lnTo>
                    <a:pt x="124516" y="34318"/>
                  </a:lnTo>
                  <a:lnTo>
                    <a:pt x="163693" y="15725"/>
                  </a:lnTo>
                  <a:lnTo>
                    <a:pt x="206243" y="4049"/>
                  </a:lnTo>
                  <a:lnTo>
                    <a:pt x="251460" y="0"/>
                  </a:lnTo>
                  <a:lnTo>
                    <a:pt x="296676" y="4049"/>
                  </a:lnTo>
                  <a:lnTo>
                    <a:pt x="339226" y="15725"/>
                  </a:lnTo>
                  <a:lnTo>
                    <a:pt x="378403" y="34318"/>
                  </a:lnTo>
                  <a:lnTo>
                    <a:pt x="413497" y="59120"/>
                  </a:lnTo>
                  <a:lnTo>
                    <a:pt x="443799" y="89422"/>
                  </a:lnTo>
                  <a:lnTo>
                    <a:pt x="468601" y="124516"/>
                  </a:lnTo>
                  <a:lnTo>
                    <a:pt x="487194" y="163693"/>
                  </a:lnTo>
                  <a:lnTo>
                    <a:pt x="498870" y="206243"/>
                  </a:lnTo>
                  <a:lnTo>
                    <a:pt x="502919" y="251459"/>
                  </a:lnTo>
                  <a:lnTo>
                    <a:pt x="498870" y="296676"/>
                  </a:lnTo>
                  <a:lnTo>
                    <a:pt x="487194" y="339226"/>
                  </a:lnTo>
                  <a:lnTo>
                    <a:pt x="468601" y="378403"/>
                  </a:lnTo>
                  <a:lnTo>
                    <a:pt x="443799" y="413497"/>
                  </a:lnTo>
                  <a:lnTo>
                    <a:pt x="413497" y="443799"/>
                  </a:lnTo>
                  <a:lnTo>
                    <a:pt x="378403" y="468601"/>
                  </a:lnTo>
                  <a:lnTo>
                    <a:pt x="339226" y="487194"/>
                  </a:lnTo>
                  <a:lnTo>
                    <a:pt x="296676" y="498870"/>
                  </a:lnTo>
                  <a:lnTo>
                    <a:pt x="251460" y="502919"/>
                  </a:lnTo>
                  <a:lnTo>
                    <a:pt x="206243" y="498870"/>
                  </a:lnTo>
                  <a:lnTo>
                    <a:pt x="163693" y="487194"/>
                  </a:lnTo>
                  <a:lnTo>
                    <a:pt x="124516" y="468601"/>
                  </a:lnTo>
                  <a:lnTo>
                    <a:pt x="89422" y="443799"/>
                  </a:lnTo>
                  <a:lnTo>
                    <a:pt x="59120" y="413497"/>
                  </a:lnTo>
                  <a:lnTo>
                    <a:pt x="34318" y="378403"/>
                  </a:lnTo>
                  <a:lnTo>
                    <a:pt x="15725" y="339226"/>
                  </a:lnTo>
                  <a:lnTo>
                    <a:pt x="4049" y="296676"/>
                  </a:lnTo>
                  <a:lnTo>
                    <a:pt x="0" y="251459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83279" y="3131820"/>
              <a:ext cx="438912" cy="438912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3252470" y="3174872"/>
            <a:ext cx="2730500" cy="826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52145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Data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F5A622"/>
                </a:solidFill>
                <a:latin typeface="Trebuchet MS"/>
                <a:cs typeface="Trebuchet MS"/>
              </a:rPr>
              <a:t>Challenge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000">
              <a:latin typeface="Trebuchet MS"/>
              <a:cs typeface="Trebuchet MS"/>
            </a:endParaRPr>
          </a:p>
          <a:p>
            <a:pPr marL="194945">
              <a:lnSpc>
                <a:spcPts val="1130"/>
              </a:lnSpc>
            </a:pPr>
            <a:r>
              <a:rPr sz="950" dirty="0">
                <a:solidFill>
                  <a:srgbClr val="E8E8EF"/>
                </a:solidFill>
                <a:latin typeface="Trebuchet MS"/>
                <a:cs typeface="Trebuchet MS"/>
              </a:rPr>
              <a:t>Synthetic data imbalance for sleep disorder (originally near-random AUC 0.5) — Re-generated sleep labels using validated clinical risk factors: obesity, stress, male sex, hypertension, alcohol. AUC improved to 0.67</a:t>
            </a:r>
            <a:endParaRPr sz="950">
              <a:latin typeface="Trebuchet MS"/>
              <a:cs typeface="Trebuchet MS"/>
            </a:endParaRPr>
          </a:p>
          <a:p>
            <a:pPr marL="194945">
              <a:lnSpc>
                <a:spcPts val="1130"/>
              </a:lnSpc>
            </a:pPr>
            <a:endParaRPr sz="950">
              <a:latin typeface="Trebuchet MS"/>
              <a:cs typeface="Trebuchet MS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6115811" y="2933700"/>
            <a:ext cx="2910840" cy="1740535"/>
            <a:chOff x="6115811" y="2933700"/>
            <a:chExt cx="2910840" cy="1740535"/>
          </a:xfrm>
        </p:grpSpPr>
        <p:pic>
          <p:nvPicPr>
            <p:cNvPr id="63" name="object 6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15811" y="2933700"/>
              <a:ext cx="2910840" cy="1740408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6217919" y="2999231"/>
              <a:ext cx="2743200" cy="1572895"/>
            </a:xfrm>
            <a:custGeom>
              <a:avLst/>
              <a:gdLst/>
              <a:ahLst/>
              <a:cxnLst/>
              <a:rect l="l" t="t" r="r" b="b"/>
              <a:pathLst>
                <a:path w="2743200" h="1572895">
                  <a:moveTo>
                    <a:pt x="2743200" y="0"/>
                  </a:moveTo>
                  <a:lnTo>
                    <a:pt x="0" y="0"/>
                  </a:lnTo>
                  <a:lnTo>
                    <a:pt x="0" y="1572768"/>
                  </a:lnTo>
                  <a:lnTo>
                    <a:pt x="2743200" y="1572768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217919" y="2999231"/>
              <a:ext cx="2743200" cy="1572895"/>
            </a:xfrm>
            <a:custGeom>
              <a:avLst/>
              <a:gdLst/>
              <a:ahLst/>
              <a:cxnLst/>
              <a:rect l="l" t="t" r="r" b="b"/>
              <a:pathLst>
                <a:path w="2743200" h="1572895">
                  <a:moveTo>
                    <a:pt x="0" y="1572768"/>
                  </a:moveTo>
                  <a:lnTo>
                    <a:pt x="2743200" y="1572768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572768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217919" y="2999231"/>
              <a:ext cx="2743200" cy="50800"/>
            </a:xfrm>
            <a:custGeom>
              <a:avLst/>
              <a:gdLst/>
              <a:ahLst/>
              <a:cxnLst/>
              <a:rect l="l" t="t" r="r" b="b"/>
              <a:pathLst>
                <a:path w="2743200" h="50800">
                  <a:moveTo>
                    <a:pt x="2743200" y="0"/>
                  </a:moveTo>
                  <a:lnTo>
                    <a:pt x="0" y="0"/>
                  </a:lnTo>
                  <a:lnTo>
                    <a:pt x="0" y="50292"/>
                  </a:lnTo>
                  <a:lnTo>
                    <a:pt x="2743200" y="50292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FF6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217919" y="2999231"/>
              <a:ext cx="2743200" cy="50800"/>
            </a:xfrm>
            <a:custGeom>
              <a:avLst/>
              <a:gdLst/>
              <a:ahLst/>
              <a:cxnLst/>
              <a:rect l="l" t="t" r="r" b="b"/>
              <a:pathLst>
                <a:path w="2743200" h="50800">
                  <a:moveTo>
                    <a:pt x="0" y="50292"/>
                  </a:moveTo>
                  <a:lnTo>
                    <a:pt x="2743200" y="50292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50292"/>
                  </a:lnTo>
                  <a:close/>
                </a:path>
              </a:pathLst>
            </a:custGeom>
            <a:ln w="12699">
              <a:solidFill>
                <a:srgbClr val="FF6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327647" y="310896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51459" y="0"/>
                  </a:move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59"/>
                  </a:lnTo>
                  <a:lnTo>
                    <a:pt x="4049" y="296676"/>
                  </a:lnTo>
                  <a:lnTo>
                    <a:pt x="15725" y="339226"/>
                  </a:lnTo>
                  <a:lnTo>
                    <a:pt x="34318" y="378403"/>
                  </a:lnTo>
                  <a:lnTo>
                    <a:pt x="59120" y="413497"/>
                  </a:lnTo>
                  <a:lnTo>
                    <a:pt x="89422" y="443799"/>
                  </a:lnTo>
                  <a:lnTo>
                    <a:pt x="124516" y="468601"/>
                  </a:lnTo>
                  <a:lnTo>
                    <a:pt x="163693" y="487194"/>
                  </a:lnTo>
                  <a:lnTo>
                    <a:pt x="206243" y="498870"/>
                  </a:lnTo>
                  <a:lnTo>
                    <a:pt x="251459" y="502919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20" y="251459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121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327647" y="310896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0" y="251459"/>
                  </a:moveTo>
                  <a:lnTo>
                    <a:pt x="4049" y="206243"/>
                  </a:lnTo>
                  <a:lnTo>
                    <a:pt x="15725" y="163693"/>
                  </a:lnTo>
                  <a:lnTo>
                    <a:pt x="34318" y="124516"/>
                  </a:lnTo>
                  <a:lnTo>
                    <a:pt x="59120" y="89422"/>
                  </a:lnTo>
                  <a:lnTo>
                    <a:pt x="89422" y="59120"/>
                  </a:lnTo>
                  <a:lnTo>
                    <a:pt x="124516" y="34318"/>
                  </a:lnTo>
                  <a:lnTo>
                    <a:pt x="163693" y="15725"/>
                  </a:lnTo>
                  <a:lnTo>
                    <a:pt x="206243" y="4049"/>
                  </a:lnTo>
                  <a:lnTo>
                    <a:pt x="251459" y="0"/>
                  </a:lnTo>
                  <a:lnTo>
                    <a:pt x="296676" y="4049"/>
                  </a:lnTo>
                  <a:lnTo>
                    <a:pt x="339226" y="15725"/>
                  </a:lnTo>
                  <a:lnTo>
                    <a:pt x="378403" y="34318"/>
                  </a:lnTo>
                  <a:lnTo>
                    <a:pt x="413497" y="59120"/>
                  </a:lnTo>
                  <a:lnTo>
                    <a:pt x="443799" y="89422"/>
                  </a:lnTo>
                  <a:lnTo>
                    <a:pt x="468601" y="124516"/>
                  </a:lnTo>
                  <a:lnTo>
                    <a:pt x="487194" y="163693"/>
                  </a:lnTo>
                  <a:lnTo>
                    <a:pt x="498870" y="206243"/>
                  </a:lnTo>
                  <a:lnTo>
                    <a:pt x="502920" y="251459"/>
                  </a:lnTo>
                  <a:lnTo>
                    <a:pt x="498870" y="296676"/>
                  </a:lnTo>
                  <a:lnTo>
                    <a:pt x="487194" y="339226"/>
                  </a:lnTo>
                  <a:lnTo>
                    <a:pt x="468601" y="378403"/>
                  </a:lnTo>
                  <a:lnTo>
                    <a:pt x="443799" y="413497"/>
                  </a:lnTo>
                  <a:lnTo>
                    <a:pt x="413497" y="443799"/>
                  </a:lnTo>
                  <a:lnTo>
                    <a:pt x="378403" y="468601"/>
                  </a:lnTo>
                  <a:lnTo>
                    <a:pt x="339226" y="487194"/>
                  </a:lnTo>
                  <a:lnTo>
                    <a:pt x="296676" y="498870"/>
                  </a:lnTo>
                  <a:lnTo>
                    <a:pt x="251459" y="502919"/>
                  </a:lnTo>
                  <a:lnTo>
                    <a:pt x="206243" y="498870"/>
                  </a:lnTo>
                  <a:lnTo>
                    <a:pt x="163693" y="487194"/>
                  </a:lnTo>
                  <a:lnTo>
                    <a:pt x="124516" y="468601"/>
                  </a:lnTo>
                  <a:lnTo>
                    <a:pt x="89422" y="443799"/>
                  </a:lnTo>
                  <a:lnTo>
                    <a:pt x="59120" y="413497"/>
                  </a:lnTo>
                  <a:lnTo>
                    <a:pt x="34318" y="378403"/>
                  </a:lnTo>
                  <a:lnTo>
                    <a:pt x="15725" y="339226"/>
                  </a:lnTo>
                  <a:lnTo>
                    <a:pt x="4049" y="296676"/>
                  </a:lnTo>
                  <a:lnTo>
                    <a:pt x="0" y="251459"/>
                  </a:lnTo>
                  <a:close/>
                </a:path>
              </a:pathLst>
            </a:custGeom>
            <a:ln w="12700">
              <a:solidFill>
                <a:srgbClr val="FF6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55079" y="3131820"/>
              <a:ext cx="438912" cy="438912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6224270" y="3174872"/>
            <a:ext cx="2730500" cy="826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5278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6B00"/>
                </a:solidFill>
                <a:latin typeface="Trebuchet MS"/>
                <a:cs typeface="Trebuchet MS"/>
              </a:rPr>
              <a:t>Scalability</a:t>
            </a:r>
            <a:r>
              <a:rPr sz="1000" b="1" spc="-65" dirty="0">
                <a:solidFill>
                  <a:srgbClr val="FF6B00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FF6B00"/>
                </a:solidFill>
                <a:latin typeface="Trebuchet MS"/>
                <a:cs typeface="Trebuchet MS"/>
              </a:rPr>
              <a:t>Challenge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000">
              <a:latin typeface="Trebuchet MS"/>
              <a:cs typeface="Trebuchet MS"/>
            </a:endParaRPr>
          </a:p>
          <a:p>
            <a:pPr marL="195580">
              <a:lnSpc>
                <a:spcPts val="1130"/>
              </a:lnSpc>
            </a:pPr>
            <a:r>
              <a:rPr sz="950" dirty="0">
                <a:solidFill>
                  <a:srgbClr val="E8E8EF"/>
                </a:solidFill>
                <a:latin typeface="Trebuchet MS"/>
                <a:cs typeface="Trebuchet MS"/>
              </a:rPr>
              <a:t>Single-file frontend limits real-time wearable streaming — Designed REST API (/predict/all, /predict/whatif) for future IoT/wearable integration; Procfile ready for Heroku/Railway cloud deploy</a:t>
            </a:r>
            <a:endParaRPr sz="950">
              <a:latin typeface="Trebuchet MS"/>
              <a:cs typeface="Trebuchet MS"/>
            </a:endParaRPr>
          </a:p>
          <a:p>
            <a:pPr marL="195580">
              <a:lnSpc>
                <a:spcPts val="1130"/>
              </a:lnSpc>
            </a:pPr>
            <a:endParaRPr sz="950">
              <a:latin typeface="Trebuchet MS"/>
              <a:cs typeface="Trebuchet MS"/>
            </a:endParaRPr>
          </a:p>
        </p:txBody>
      </p:sp>
      <p:pic>
        <p:nvPicPr>
          <p:cNvPr id="72" name="object 7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9658" y="0"/>
            <a:ext cx="791997" cy="696595"/>
          </a:xfrm>
          <a:prstGeom prst="rect">
            <a:avLst/>
          </a:prstGeom>
        </p:spPr>
      </p:pic>
      <p:sp>
        <p:nvSpPr>
          <p:cNvPr id="73" name="object 7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PRAGATI</a:t>
            </a:r>
            <a:r>
              <a:rPr spc="30" dirty="0"/>
              <a:t> </a:t>
            </a:r>
            <a:r>
              <a:rPr dirty="0"/>
              <a:t>2026</a:t>
            </a:r>
            <a:r>
              <a:rPr spc="10" dirty="0"/>
              <a:t> </a:t>
            </a:r>
            <a:r>
              <a:rPr dirty="0"/>
              <a:t>—</a:t>
            </a:r>
            <a:r>
              <a:rPr spc="-10" dirty="0"/>
              <a:t> bengalithub.com/hackfest-</a:t>
            </a:r>
            <a:r>
              <a:rPr spc="-20" dirty="0"/>
              <a:t>2026</a:t>
            </a:r>
          </a:p>
        </p:txBody>
      </p:sp>
      <p:sp>
        <p:nvSpPr>
          <p:cNvPr id="74" name="object 7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884" y="179323"/>
            <a:ext cx="2318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PRAGATI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—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The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Bengal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Hack</a:t>
            </a:r>
            <a:r>
              <a:rPr sz="1000" b="1" spc="-1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Fest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2026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9718" y="186944"/>
            <a:ext cx="1415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787AA"/>
                </a:solidFill>
                <a:latin typeface="Trebuchet MS"/>
                <a:cs typeface="Trebuchet MS"/>
              </a:rPr>
              <a:t>Team: [Team Name]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Assumptions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267970" y="1045210"/>
            <a:ext cx="351155" cy="76835"/>
            <a:chOff x="267970" y="1045210"/>
            <a:chExt cx="351155" cy="768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970" y="1045210"/>
              <a:ext cx="213867" cy="7670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858" y="1045210"/>
              <a:ext cx="104140" cy="76707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-6350" y="4977129"/>
            <a:ext cx="9156700" cy="172720"/>
            <a:chOff x="-6350" y="4977129"/>
            <a:chExt cx="9156700" cy="172720"/>
          </a:xfrm>
        </p:grpSpPr>
        <p:sp>
          <p:nvSpPr>
            <p:cNvPr id="9" name="object 9"/>
            <p:cNvSpPr/>
            <p:nvPr/>
          </p:nvSpPr>
          <p:spPr>
            <a:xfrm>
              <a:off x="0" y="4983479"/>
              <a:ext cx="9144000" cy="160020"/>
            </a:xfrm>
            <a:custGeom>
              <a:avLst/>
              <a:gdLst/>
              <a:ahLst/>
              <a:cxnLst/>
              <a:rect l="l" t="t" r="r" b="b"/>
              <a:pathLst>
                <a:path w="9144000" h="160020">
                  <a:moveTo>
                    <a:pt x="9144000" y="0"/>
                  </a:moveTo>
                  <a:lnTo>
                    <a:pt x="0" y="0"/>
                  </a:lnTo>
                  <a:lnTo>
                    <a:pt x="0" y="160020"/>
                  </a:lnTo>
                  <a:lnTo>
                    <a:pt x="9144000" y="1600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A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4983479"/>
              <a:ext cx="9144000" cy="160020"/>
            </a:xfrm>
            <a:custGeom>
              <a:avLst/>
              <a:gdLst/>
              <a:ahLst/>
              <a:cxnLst/>
              <a:rect l="l" t="t" r="r" b="b"/>
              <a:pathLst>
                <a:path w="9144000" h="160020">
                  <a:moveTo>
                    <a:pt x="0" y="160020"/>
                  </a:moveTo>
                  <a:lnTo>
                    <a:pt x="9144000" y="16002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60020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4983479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914400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9144000" y="91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4983479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9144"/>
                  </a:moveTo>
                  <a:lnTo>
                    <a:pt x="9144000" y="914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144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61620" y="1275333"/>
            <a:ext cx="506857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solidFill>
                  <a:srgbClr val="8787AA"/>
                </a:solidFill>
                <a:latin typeface="Trebuchet MS"/>
                <a:cs typeface="Trebuchet MS"/>
              </a:rPr>
              <a:t>CardioRisk AI operates under the following key assumptions across technical, market, data, and regulatory dimensions: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67970" y="1657857"/>
            <a:ext cx="8606790" cy="506730"/>
            <a:chOff x="267970" y="1657857"/>
            <a:chExt cx="8606790" cy="506730"/>
          </a:xfrm>
        </p:grpSpPr>
        <p:sp>
          <p:nvSpPr>
            <p:cNvPr id="15" name="object 15"/>
            <p:cNvSpPr/>
            <p:nvPr/>
          </p:nvSpPr>
          <p:spPr>
            <a:xfrm>
              <a:off x="274320" y="1664207"/>
              <a:ext cx="8595360" cy="494030"/>
            </a:xfrm>
            <a:custGeom>
              <a:avLst/>
              <a:gdLst/>
              <a:ahLst/>
              <a:cxnLst/>
              <a:rect l="l" t="t" r="r" b="b"/>
              <a:pathLst>
                <a:path w="8595360" h="494030">
                  <a:moveTo>
                    <a:pt x="8595360" y="0"/>
                  </a:moveTo>
                  <a:lnTo>
                    <a:pt x="0" y="0"/>
                  </a:lnTo>
                  <a:lnTo>
                    <a:pt x="0" y="493776"/>
                  </a:lnTo>
                  <a:lnTo>
                    <a:pt x="8595360" y="493776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4320" y="1664207"/>
              <a:ext cx="8595360" cy="494030"/>
            </a:xfrm>
            <a:custGeom>
              <a:avLst/>
              <a:gdLst/>
              <a:ahLst/>
              <a:cxnLst/>
              <a:rect l="l" t="t" r="r" b="b"/>
              <a:pathLst>
                <a:path w="8595360" h="494030">
                  <a:moveTo>
                    <a:pt x="0" y="493776"/>
                  </a:moveTo>
                  <a:lnTo>
                    <a:pt x="8595360" y="493776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493776"/>
                  </a:lnTo>
                  <a:close/>
                </a:path>
              </a:pathLst>
            </a:custGeom>
            <a:ln w="1016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4320" y="1664207"/>
              <a:ext cx="50800" cy="494030"/>
            </a:xfrm>
            <a:custGeom>
              <a:avLst/>
              <a:gdLst/>
              <a:ahLst/>
              <a:cxnLst/>
              <a:rect l="l" t="t" r="r" b="b"/>
              <a:pathLst>
                <a:path w="50800" h="494030">
                  <a:moveTo>
                    <a:pt x="50292" y="0"/>
                  </a:moveTo>
                  <a:lnTo>
                    <a:pt x="0" y="0"/>
                  </a:lnTo>
                  <a:lnTo>
                    <a:pt x="0" y="493776"/>
                  </a:lnTo>
                  <a:lnTo>
                    <a:pt x="50292" y="493776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4320" y="1664207"/>
              <a:ext cx="50800" cy="494030"/>
            </a:xfrm>
            <a:custGeom>
              <a:avLst/>
              <a:gdLst/>
              <a:ahLst/>
              <a:cxnLst/>
              <a:rect l="l" t="t" r="r" b="b"/>
              <a:pathLst>
                <a:path w="50800" h="494030">
                  <a:moveTo>
                    <a:pt x="0" y="493776"/>
                  </a:moveTo>
                  <a:lnTo>
                    <a:pt x="50292" y="493776"/>
                  </a:lnTo>
                  <a:lnTo>
                    <a:pt x="50292" y="0"/>
                  </a:lnTo>
                  <a:lnTo>
                    <a:pt x="0" y="0"/>
                  </a:lnTo>
                  <a:lnTo>
                    <a:pt x="0" y="493776"/>
                  </a:lnTo>
                  <a:close/>
                </a:path>
              </a:pathLst>
            </a:custGeom>
            <a:ln w="12699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11480" y="1746503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164592" y="0"/>
                  </a:moveTo>
                  <a:lnTo>
                    <a:pt x="120835" y="5877"/>
                  </a:lnTo>
                  <a:lnTo>
                    <a:pt x="81517" y="22464"/>
                  </a:lnTo>
                  <a:lnTo>
                    <a:pt x="48206" y="48196"/>
                  </a:lnTo>
                  <a:lnTo>
                    <a:pt x="22470" y="81505"/>
                  </a:lnTo>
                  <a:lnTo>
                    <a:pt x="5879" y="120826"/>
                  </a:lnTo>
                  <a:lnTo>
                    <a:pt x="0" y="164592"/>
                  </a:lnTo>
                  <a:lnTo>
                    <a:pt x="5879" y="208357"/>
                  </a:lnTo>
                  <a:lnTo>
                    <a:pt x="22470" y="247678"/>
                  </a:lnTo>
                  <a:lnTo>
                    <a:pt x="48206" y="280987"/>
                  </a:lnTo>
                  <a:lnTo>
                    <a:pt x="81517" y="306719"/>
                  </a:lnTo>
                  <a:lnTo>
                    <a:pt x="120835" y="323306"/>
                  </a:lnTo>
                  <a:lnTo>
                    <a:pt x="164592" y="329184"/>
                  </a:lnTo>
                  <a:lnTo>
                    <a:pt x="208348" y="323306"/>
                  </a:lnTo>
                  <a:lnTo>
                    <a:pt x="247666" y="306719"/>
                  </a:lnTo>
                  <a:lnTo>
                    <a:pt x="280977" y="280987"/>
                  </a:lnTo>
                  <a:lnTo>
                    <a:pt x="306713" y="247678"/>
                  </a:lnTo>
                  <a:lnTo>
                    <a:pt x="323304" y="208357"/>
                  </a:lnTo>
                  <a:lnTo>
                    <a:pt x="329184" y="164592"/>
                  </a:lnTo>
                  <a:lnTo>
                    <a:pt x="323304" y="120826"/>
                  </a:lnTo>
                  <a:lnTo>
                    <a:pt x="306713" y="81505"/>
                  </a:lnTo>
                  <a:lnTo>
                    <a:pt x="280977" y="48196"/>
                  </a:lnTo>
                  <a:lnTo>
                    <a:pt x="247666" y="22464"/>
                  </a:lnTo>
                  <a:lnTo>
                    <a:pt x="208348" y="5877"/>
                  </a:lnTo>
                  <a:lnTo>
                    <a:pt x="164592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11480" y="1746503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0" y="164592"/>
                  </a:moveTo>
                  <a:lnTo>
                    <a:pt x="5879" y="120826"/>
                  </a:lnTo>
                  <a:lnTo>
                    <a:pt x="22470" y="81505"/>
                  </a:lnTo>
                  <a:lnTo>
                    <a:pt x="48206" y="48196"/>
                  </a:lnTo>
                  <a:lnTo>
                    <a:pt x="81517" y="22464"/>
                  </a:lnTo>
                  <a:lnTo>
                    <a:pt x="120835" y="5877"/>
                  </a:lnTo>
                  <a:lnTo>
                    <a:pt x="164592" y="0"/>
                  </a:lnTo>
                  <a:lnTo>
                    <a:pt x="208348" y="5877"/>
                  </a:lnTo>
                  <a:lnTo>
                    <a:pt x="247666" y="22464"/>
                  </a:lnTo>
                  <a:lnTo>
                    <a:pt x="280977" y="48196"/>
                  </a:lnTo>
                  <a:lnTo>
                    <a:pt x="306713" y="81505"/>
                  </a:lnTo>
                  <a:lnTo>
                    <a:pt x="323304" y="120826"/>
                  </a:lnTo>
                  <a:lnTo>
                    <a:pt x="329184" y="164592"/>
                  </a:lnTo>
                  <a:lnTo>
                    <a:pt x="323304" y="208357"/>
                  </a:lnTo>
                  <a:lnTo>
                    <a:pt x="306713" y="247678"/>
                  </a:lnTo>
                  <a:lnTo>
                    <a:pt x="280977" y="280987"/>
                  </a:lnTo>
                  <a:lnTo>
                    <a:pt x="247666" y="306719"/>
                  </a:lnTo>
                  <a:lnTo>
                    <a:pt x="208348" y="323306"/>
                  </a:lnTo>
                  <a:lnTo>
                    <a:pt x="164592" y="329184"/>
                  </a:lnTo>
                  <a:lnTo>
                    <a:pt x="120835" y="323306"/>
                  </a:lnTo>
                  <a:lnTo>
                    <a:pt x="81517" y="306719"/>
                  </a:lnTo>
                  <a:lnTo>
                    <a:pt x="48206" y="280987"/>
                  </a:lnTo>
                  <a:lnTo>
                    <a:pt x="22470" y="247678"/>
                  </a:lnTo>
                  <a:lnTo>
                    <a:pt x="5879" y="208357"/>
                  </a:lnTo>
                  <a:lnTo>
                    <a:pt x="0" y="164592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35228" y="1806067"/>
            <a:ext cx="9525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solidFill>
                  <a:srgbClr val="090913"/>
                </a:solidFill>
                <a:latin typeface="Trebuchet MS"/>
                <a:cs typeface="Trebuchet MS"/>
              </a:rPr>
              <a:t>1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2960" y="1696370"/>
            <a:ext cx="2524760" cy="4076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25"/>
              </a:spcBef>
            </a:pPr>
            <a:r>
              <a:rPr sz="950" b="1" spc="-10" dirty="0">
                <a:solidFill>
                  <a:srgbClr val="F5A622"/>
                </a:solidFill>
                <a:latin typeface="Trebuchet MS"/>
                <a:cs typeface="Trebuchet MS"/>
              </a:rPr>
              <a:t>Technical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r>
              <a:rPr sz="1000" dirty="0">
                <a:solidFill>
                  <a:srgbClr val="E8E8EF"/>
                </a:solidFill>
                <a:latin typeface="Trebuchet MS"/>
                <a:cs typeface="Trebuchet MS"/>
              </a:rPr>
              <a:t>Users have standard clinical vitals (BP, HR, SpO2, weight) from wearables or a basic check-up. No advanced lab equipment required beyond HbA1c.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67970" y="2261361"/>
            <a:ext cx="8606790" cy="506730"/>
            <a:chOff x="267970" y="2261361"/>
            <a:chExt cx="8606790" cy="506730"/>
          </a:xfrm>
        </p:grpSpPr>
        <p:sp>
          <p:nvSpPr>
            <p:cNvPr id="24" name="object 24"/>
            <p:cNvSpPr/>
            <p:nvPr/>
          </p:nvSpPr>
          <p:spPr>
            <a:xfrm>
              <a:off x="274320" y="2267711"/>
              <a:ext cx="8595360" cy="494030"/>
            </a:xfrm>
            <a:custGeom>
              <a:avLst/>
              <a:gdLst/>
              <a:ahLst/>
              <a:cxnLst/>
              <a:rect l="l" t="t" r="r" b="b"/>
              <a:pathLst>
                <a:path w="8595360" h="494030">
                  <a:moveTo>
                    <a:pt x="8595360" y="0"/>
                  </a:moveTo>
                  <a:lnTo>
                    <a:pt x="0" y="0"/>
                  </a:lnTo>
                  <a:lnTo>
                    <a:pt x="0" y="493775"/>
                  </a:lnTo>
                  <a:lnTo>
                    <a:pt x="8595360" y="493775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4320" y="2267711"/>
              <a:ext cx="8595360" cy="494030"/>
            </a:xfrm>
            <a:custGeom>
              <a:avLst/>
              <a:gdLst/>
              <a:ahLst/>
              <a:cxnLst/>
              <a:rect l="l" t="t" r="r" b="b"/>
              <a:pathLst>
                <a:path w="8595360" h="494030">
                  <a:moveTo>
                    <a:pt x="0" y="493775"/>
                  </a:moveTo>
                  <a:lnTo>
                    <a:pt x="8595360" y="493775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493775"/>
                  </a:lnTo>
                  <a:close/>
                </a:path>
              </a:pathLst>
            </a:custGeom>
            <a:ln w="1016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4320" y="2267711"/>
              <a:ext cx="50800" cy="494030"/>
            </a:xfrm>
            <a:custGeom>
              <a:avLst/>
              <a:gdLst/>
              <a:ahLst/>
              <a:cxnLst/>
              <a:rect l="l" t="t" r="r" b="b"/>
              <a:pathLst>
                <a:path w="50800" h="494030">
                  <a:moveTo>
                    <a:pt x="50292" y="0"/>
                  </a:moveTo>
                  <a:lnTo>
                    <a:pt x="0" y="0"/>
                  </a:lnTo>
                  <a:lnTo>
                    <a:pt x="0" y="493775"/>
                  </a:lnTo>
                  <a:lnTo>
                    <a:pt x="50292" y="493775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00C7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74320" y="2267711"/>
              <a:ext cx="50800" cy="494030"/>
            </a:xfrm>
            <a:custGeom>
              <a:avLst/>
              <a:gdLst/>
              <a:ahLst/>
              <a:cxnLst/>
              <a:rect l="l" t="t" r="r" b="b"/>
              <a:pathLst>
                <a:path w="50800" h="494030">
                  <a:moveTo>
                    <a:pt x="0" y="493775"/>
                  </a:moveTo>
                  <a:lnTo>
                    <a:pt x="50292" y="493775"/>
                  </a:lnTo>
                  <a:lnTo>
                    <a:pt x="50292" y="0"/>
                  </a:lnTo>
                  <a:lnTo>
                    <a:pt x="0" y="0"/>
                  </a:lnTo>
                  <a:lnTo>
                    <a:pt x="0" y="493775"/>
                  </a:lnTo>
                  <a:close/>
                </a:path>
              </a:pathLst>
            </a:custGeom>
            <a:ln w="12700">
              <a:solidFill>
                <a:srgbClr val="00C7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11480" y="2350007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164592" y="0"/>
                  </a:moveTo>
                  <a:lnTo>
                    <a:pt x="120835" y="5877"/>
                  </a:lnTo>
                  <a:lnTo>
                    <a:pt x="81517" y="22464"/>
                  </a:lnTo>
                  <a:lnTo>
                    <a:pt x="48206" y="48196"/>
                  </a:lnTo>
                  <a:lnTo>
                    <a:pt x="22470" y="81505"/>
                  </a:lnTo>
                  <a:lnTo>
                    <a:pt x="5879" y="120826"/>
                  </a:lnTo>
                  <a:lnTo>
                    <a:pt x="0" y="164592"/>
                  </a:lnTo>
                  <a:lnTo>
                    <a:pt x="5879" y="208357"/>
                  </a:lnTo>
                  <a:lnTo>
                    <a:pt x="22470" y="247678"/>
                  </a:lnTo>
                  <a:lnTo>
                    <a:pt x="48206" y="280987"/>
                  </a:lnTo>
                  <a:lnTo>
                    <a:pt x="81517" y="306719"/>
                  </a:lnTo>
                  <a:lnTo>
                    <a:pt x="120835" y="323306"/>
                  </a:lnTo>
                  <a:lnTo>
                    <a:pt x="164592" y="329184"/>
                  </a:lnTo>
                  <a:lnTo>
                    <a:pt x="208348" y="323306"/>
                  </a:lnTo>
                  <a:lnTo>
                    <a:pt x="247666" y="306719"/>
                  </a:lnTo>
                  <a:lnTo>
                    <a:pt x="280977" y="280987"/>
                  </a:lnTo>
                  <a:lnTo>
                    <a:pt x="306713" y="247678"/>
                  </a:lnTo>
                  <a:lnTo>
                    <a:pt x="323304" y="208357"/>
                  </a:lnTo>
                  <a:lnTo>
                    <a:pt x="329184" y="164592"/>
                  </a:lnTo>
                  <a:lnTo>
                    <a:pt x="323304" y="120826"/>
                  </a:lnTo>
                  <a:lnTo>
                    <a:pt x="306713" y="81505"/>
                  </a:lnTo>
                  <a:lnTo>
                    <a:pt x="280977" y="48196"/>
                  </a:lnTo>
                  <a:lnTo>
                    <a:pt x="247666" y="22464"/>
                  </a:lnTo>
                  <a:lnTo>
                    <a:pt x="208348" y="5877"/>
                  </a:lnTo>
                  <a:lnTo>
                    <a:pt x="164592" y="0"/>
                  </a:lnTo>
                  <a:close/>
                </a:path>
              </a:pathLst>
            </a:custGeom>
            <a:solidFill>
              <a:srgbClr val="00C7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11480" y="2350007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0" y="164592"/>
                  </a:moveTo>
                  <a:lnTo>
                    <a:pt x="5879" y="120826"/>
                  </a:lnTo>
                  <a:lnTo>
                    <a:pt x="22470" y="81505"/>
                  </a:lnTo>
                  <a:lnTo>
                    <a:pt x="48206" y="48196"/>
                  </a:lnTo>
                  <a:lnTo>
                    <a:pt x="81517" y="22464"/>
                  </a:lnTo>
                  <a:lnTo>
                    <a:pt x="120835" y="5877"/>
                  </a:lnTo>
                  <a:lnTo>
                    <a:pt x="164592" y="0"/>
                  </a:lnTo>
                  <a:lnTo>
                    <a:pt x="208348" y="5877"/>
                  </a:lnTo>
                  <a:lnTo>
                    <a:pt x="247666" y="22464"/>
                  </a:lnTo>
                  <a:lnTo>
                    <a:pt x="280977" y="48196"/>
                  </a:lnTo>
                  <a:lnTo>
                    <a:pt x="306713" y="81505"/>
                  </a:lnTo>
                  <a:lnTo>
                    <a:pt x="323304" y="120826"/>
                  </a:lnTo>
                  <a:lnTo>
                    <a:pt x="329184" y="164592"/>
                  </a:lnTo>
                  <a:lnTo>
                    <a:pt x="323304" y="208357"/>
                  </a:lnTo>
                  <a:lnTo>
                    <a:pt x="306713" y="247678"/>
                  </a:lnTo>
                  <a:lnTo>
                    <a:pt x="280977" y="280987"/>
                  </a:lnTo>
                  <a:lnTo>
                    <a:pt x="247666" y="306719"/>
                  </a:lnTo>
                  <a:lnTo>
                    <a:pt x="208348" y="323306"/>
                  </a:lnTo>
                  <a:lnTo>
                    <a:pt x="164592" y="329184"/>
                  </a:lnTo>
                  <a:lnTo>
                    <a:pt x="120835" y="323306"/>
                  </a:lnTo>
                  <a:lnTo>
                    <a:pt x="81517" y="306719"/>
                  </a:lnTo>
                  <a:lnTo>
                    <a:pt x="48206" y="280987"/>
                  </a:lnTo>
                  <a:lnTo>
                    <a:pt x="22470" y="247678"/>
                  </a:lnTo>
                  <a:lnTo>
                    <a:pt x="5879" y="208357"/>
                  </a:lnTo>
                  <a:lnTo>
                    <a:pt x="0" y="164592"/>
                  </a:lnTo>
                  <a:close/>
                </a:path>
              </a:pathLst>
            </a:custGeom>
            <a:ln w="12700">
              <a:solidFill>
                <a:srgbClr val="00C7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35228" y="2409571"/>
            <a:ext cx="952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090913"/>
                </a:solidFill>
                <a:latin typeface="Trebuchet MS"/>
                <a:cs typeface="Trebuchet MS"/>
              </a:rPr>
              <a:t>2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22960" y="2300370"/>
            <a:ext cx="2783840" cy="40703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25"/>
              </a:spcBef>
            </a:pPr>
            <a:r>
              <a:rPr sz="950" b="1" dirty="0">
                <a:solidFill>
                  <a:srgbClr val="00C7B4"/>
                </a:solidFill>
                <a:latin typeface="Trebuchet MS"/>
                <a:cs typeface="Trebuchet MS"/>
              </a:rPr>
              <a:t>User</a:t>
            </a:r>
            <a:r>
              <a:rPr sz="950" b="1" spc="-10" dirty="0">
                <a:solidFill>
                  <a:srgbClr val="00C7B4"/>
                </a:solidFill>
                <a:latin typeface="Trebuchet MS"/>
                <a:cs typeface="Trebuchet MS"/>
              </a:rPr>
              <a:t> </a:t>
            </a:r>
            <a:r>
              <a:rPr sz="950" b="1" dirty="0">
                <a:solidFill>
                  <a:srgbClr val="00C7B4"/>
                </a:solidFill>
                <a:latin typeface="Trebuchet MS"/>
                <a:cs typeface="Trebuchet MS"/>
              </a:rPr>
              <a:t>/</a:t>
            </a:r>
            <a:r>
              <a:rPr sz="950" b="1" spc="-15" dirty="0">
                <a:solidFill>
                  <a:srgbClr val="00C7B4"/>
                </a:solidFill>
                <a:latin typeface="Trebuchet MS"/>
                <a:cs typeface="Trebuchet MS"/>
              </a:rPr>
              <a:t> </a:t>
            </a:r>
            <a:r>
              <a:rPr sz="950" b="1" spc="-10" dirty="0">
                <a:solidFill>
                  <a:srgbClr val="00C7B4"/>
                </a:solidFill>
                <a:latin typeface="Trebuchet MS"/>
                <a:cs typeface="Trebuchet MS"/>
              </a:rPr>
              <a:t>Market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r>
              <a:rPr sz="1000" dirty="0">
                <a:solidFill>
                  <a:srgbClr val="E8E8EF"/>
                </a:solidFill>
                <a:latin typeface="Trebuchet MS"/>
                <a:cs typeface="Trebuchet MS"/>
              </a:rPr>
              <a:t>Growing global preventive healthcare awareness. Target users (30-75 age group) are health-conscious and comfortable with AI-driven mobile health tools.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67970" y="2864866"/>
            <a:ext cx="8606790" cy="506730"/>
            <a:chOff x="267970" y="2864866"/>
            <a:chExt cx="8606790" cy="506730"/>
          </a:xfrm>
        </p:grpSpPr>
        <p:sp>
          <p:nvSpPr>
            <p:cNvPr id="33" name="object 33"/>
            <p:cNvSpPr/>
            <p:nvPr/>
          </p:nvSpPr>
          <p:spPr>
            <a:xfrm>
              <a:off x="274320" y="2871216"/>
              <a:ext cx="8595360" cy="494030"/>
            </a:xfrm>
            <a:custGeom>
              <a:avLst/>
              <a:gdLst/>
              <a:ahLst/>
              <a:cxnLst/>
              <a:rect l="l" t="t" r="r" b="b"/>
              <a:pathLst>
                <a:path w="8595360" h="494029">
                  <a:moveTo>
                    <a:pt x="8595360" y="0"/>
                  </a:moveTo>
                  <a:lnTo>
                    <a:pt x="0" y="0"/>
                  </a:lnTo>
                  <a:lnTo>
                    <a:pt x="0" y="493775"/>
                  </a:lnTo>
                  <a:lnTo>
                    <a:pt x="8595360" y="493775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74320" y="2871216"/>
              <a:ext cx="8595360" cy="494030"/>
            </a:xfrm>
            <a:custGeom>
              <a:avLst/>
              <a:gdLst/>
              <a:ahLst/>
              <a:cxnLst/>
              <a:rect l="l" t="t" r="r" b="b"/>
              <a:pathLst>
                <a:path w="8595360" h="494029">
                  <a:moveTo>
                    <a:pt x="0" y="493775"/>
                  </a:moveTo>
                  <a:lnTo>
                    <a:pt x="8595360" y="493775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493775"/>
                  </a:lnTo>
                  <a:close/>
                </a:path>
              </a:pathLst>
            </a:custGeom>
            <a:ln w="1016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4320" y="2871216"/>
              <a:ext cx="50800" cy="494030"/>
            </a:xfrm>
            <a:custGeom>
              <a:avLst/>
              <a:gdLst/>
              <a:ahLst/>
              <a:cxnLst/>
              <a:rect l="l" t="t" r="r" b="b"/>
              <a:pathLst>
                <a:path w="50800" h="494029">
                  <a:moveTo>
                    <a:pt x="50292" y="0"/>
                  </a:moveTo>
                  <a:lnTo>
                    <a:pt x="0" y="0"/>
                  </a:lnTo>
                  <a:lnTo>
                    <a:pt x="0" y="493775"/>
                  </a:lnTo>
                  <a:lnTo>
                    <a:pt x="50292" y="493775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FF6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74320" y="2871216"/>
              <a:ext cx="50800" cy="494030"/>
            </a:xfrm>
            <a:custGeom>
              <a:avLst/>
              <a:gdLst/>
              <a:ahLst/>
              <a:cxnLst/>
              <a:rect l="l" t="t" r="r" b="b"/>
              <a:pathLst>
                <a:path w="50800" h="494029">
                  <a:moveTo>
                    <a:pt x="0" y="493775"/>
                  </a:moveTo>
                  <a:lnTo>
                    <a:pt x="50292" y="493775"/>
                  </a:lnTo>
                  <a:lnTo>
                    <a:pt x="50292" y="0"/>
                  </a:lnTo>
                  <a:lnTo>
                    <a:pt x="0" y="0"/>
                  </a:lnTo>
                  <a:lnTo>
                    <a:pt x="0" y="493775"/>
                  </a:lnTo>
                  <a:close/>
                </a:path>
              </a:pathLst>
            </a:custGeom>
            <a:ln w="12700">
              <a:solidFill>
                <a:srgbClr val="FF6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11480" y="2953512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164592" y="0"/>
                  </a:moveTo>
                  <a:lnTo>
                    <a:pt x="120835" y="5877"/>
                  </a:lnTo>
                  <a:lnTo>
                    <a:pt x="81517" y="22464"/>
                  </a:lnTo>
                  <a:lnTo>
                    <a:pt x="48206" y="48196"/>
                  </a:lnTo>
                  <a:lnTo>
                    <a:pt x="22470" y="81505"/>
                  </a:lnTo>
                  <a:lnTo>
                    <a:pt x="5879" y="120826"/>
                  </a:lnTo>
                  <a:lnTo>
                    <a:pt x="0" y="164592"/>
                  </a:lnTo>
                  <a:lnTo>
                    <a:pt x="5879" y="208357"/>
                  </a:lnTo>
                  <a:lnTo>
                    <a:pt x="22470" y="247678"/>
                  </a:lnTo>
                  <a:lnTo>
                    <a:pt x="48206" y="280987"/>
                  </a:lnTo>
                  <a:lnTo>
                    <a:pt x="81517" y="306719"/>
                  </a:lnTo>
                  <a:lnTo>
                    <a:pt x="120835" y="323306"/>
                  </a:lnTo>
                  <a:lnTo>
                    <a:pt x="164592" y="329183"/>
                  </a:lnTo>
                  <a:lnTo>
                    <a:pt x="208348" y="323306"/>
                  </a:lnTo>
                  <a:lnTo>
                    <a:pt x="247666" y="306719"/>
                  </a:lnTo>
                  <a:lnTo>
                    <a:pt x="280977" y="280987"/>
                  </a:lnTo>
                  <a:lnTo>
                    <a:pt x="306713" y="247678"/>
                  </a:lnTo>
                  <a:lnTo>
                    <a:pt x="323304" y="208357"/>
                  </a:lnTo>
                  <a:lnTo>
                    <a:pt x="329184" y="164592"/>
                  </a:lnTo>
                  <a:lnTo>
                    <a:pt x="323304" y="120826"/>
                  </a:lnTo>
                  <a:lnTo>
                    <a:pt x="306713" y="81505"/>
                  </a:lnTo>
                  <a:lnTo>
                    <a:pt x="280977" y="48196"/>
                  </a:lnTo>
                  <a:lnTo>
                    <a:pt x="247666" y="22464"/>
                  </a:lnTo>
                  <a:lnTo>
                    <a:pt x="208348" y="5877"/>
                  </a:lnTo>
                  <a:lnTo>
                    <a:pt x="164592" y="0"/>
                  </a:lnTo>
                  <a:close/>
                </a:path>
              </a:pathLst>
            </a:custGeom>
            <a:solidFill>
              <a:srgbClr val="FF6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11480" y="2953512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0" y="164592"/>
                  </a:moveTo>
                  <a:lnTo>
                    <a:pt x="5879" y="120826"/>
                  </a:lnTo>
                  <a:lnTo>
                    <a:pt x="22470" y="81505"/>
                  </a:lnTo>
                  <a:lnTo>
                    <a:pt x="48206" y="48196"/>
                  </a:lnTo>
                  <a:lnTo>
                    <a:pt x="81517" y="22464"/>
                  </a:lnTo>
                  <a:lnTo>
                    <a:pt x="120835" y="5877"/>
                  </a:lnTo>
                  <a:lnTo>
                    <a:pt x="164592" y="0"/>
                  </a:lnTo>
                  <a:lnTo>
                    <a:pt x="208348" y="5877"/>
                  </a:lnTo>
                  <a:lnTo>
                    <a:pt x="247666" y="22464"/>
                  </a:lnTo>
                  <a:lnTo>
                    <a:pt x="280977" y="48196"/>
                  </a:lnTo>
                  <a:lnTo>
                    <a:pt x="306713" y="81505"/>
                  </a:lnTo>
                  <a:lnTo>
                    <a:pt x="323304" y="120826"/>
                  </a:lnTo>
                  <a:lnTo>
                    <a:pt x="329184" y="164592"/>
                  </a:lnTo>
                  <a:lnTo>
                    <a:pt x="323304" y="208357"/>
                  </a:lnTo>
                  <a:lnTo>
                    <a:pt x="306713" y="247678"/>
                  </a:lnTo>
                  <a:lnTo>
                    <a:pt x="280977" y="280987"/>
                  </a:lnTo>
                  <a:lnTo>
                    <a:pt x="247666" y="306719"/>
                  </a:lnTo>
                  <a:lnTo>
                    <a:pt x="208348" y="323306"/>
                  </a:lnTo>
                  <a:lnTo>
                    <a:pt x="164592" y="329183"/>
                  </a:lnTo>
                  <a:lnTo>
                    <a:pt x="120835" y="323306"/>
                  </a:lnTo>
                  <a:lnTo>
                    <a:pt x="81517" y="306719"/>
                  </a:lnTo>
                  <a:lnTo>
                    <a:pt x="48206" y="280987"/>
                  </a:lnTo>
                  <a:lnTo>
                    <a:pt x="22470" y="247678"/>
                  </a:lnTo>
                  <a:lnTo>
                    <a:pt x="5879" y="208357"/>
                  </a:lnTo>
                  <a:lnTo>
                    <a:pt x="0" y="164592"/>
                  </a:lnTo>
                  <a:close/>
                </a:path>
              </a:pathLst>
            </a:custGeom>
            <a:ln w="12700">
              <a:solidFill>
                <a:srgbClr val="FF6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35228" y="3013329"/>
            <a:ext cx="952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090913"/>
                </a:solidFill>
                <a:latin typeface="Trebuchet MS"/>
                <a:cs typeface="Trebuchet MS"/>
              </a:rPr>
              <a:t>3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22960" y="2903632"/>
            <a:ext cx="3209925" cy="4076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25"/>
              </a:spcBef>
            </a:pPr>
            <a:r>
              <a:rPr sz="950" b="1" dirty="0">
                <a:solidFill>
                  <a:srgbClr val="FF6B00"/>
                </a:solidFill>
                <a:latin typeface="Trebuchet MS"/>
                <a:cs typeface="Trebuchet MS"/>
              </a:rPr>
              <a:t>Data</a:t>
            </a:r>
            <a:r>
              <a:rPr sz="950" b="1" spc="-10" dirty="0">
                <a:solidFill>
                  <a:srgbClr val="FF6B00"/>
                </a:solidFill>
                <a:latin typeface="Trebuchet MS"/>
                <a:cs typeface="Trebuchet MS"/>
              </a:rPr>
              <a:t> </a:t>
            </a:r>
            <a:r>
              <a:rPr sz="950" b="1" dirty="0">
                <a:solidFill>
                  <a:srgbClr val="FF6B00"/>
                </a:solidFill>
                <a:latin typeface="Trebuchet MS"/>
                <a:cs typeface="Trebuchet MS"/>
              </a:rPr>
              <a:t>&amp;</a:t>
            </a:r>
            <a:r>
              <a:rPr sz="950" b="1" spc="-5" dirty="0">
                <a:solidFill>
                  <a:srgbClr val="FF6B00"/>
                </a:solidFill>
                <a:latin typeface="Trebuchet MS"/>
                <a:cs typeface="Trebuchet MS"/>
              </a:rPr>
              <a:t> </a:t>
            </a:r>
            <a:r>
              <a:rPr sz="950" b="1" spc="-10" dirty="0">
                <a:solidFill>
                  <a:srgbClr val="FF6B00"/>
                </a:solidFill>
                <a:latin typeface="Trebuchet MS"/>
                <a:cs typeface="Trebuchet MS"/>
              </a:rPr>
              <a:t>Infrastructure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r>
              <a:rPr sz="1000" dirty="0">
                <a:solidFill>
                  <a:srgbClr val="E8E8EF"/>
                </a:solidFill>
                <a:latin typeface="Trebuchet MS"/>
                <a:cs typeface="Trebuchet MS"/>
              </a:rPr>
              <a:t>Training data (CDC BRFSS 2020, n=319,795) is representative of the general population. Synthetic cvd_health_7500 dataset replicates clinical distributions for model validation.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67970" y="3468370"/>
            <a:ext cx="8606790" cy="506730"/>
            <a:chOff x="267970" y="3468370"/>
            <a:chExt cx="8606790" cy="506730"/>
          </a:xfrm>
        </p:grpSpPr>
        <p:sp>
          <p:nvSpPr>
            <p:cNvPr id="42" name="object 42"/>
            <p:cNvSpPr/>
            <p:nvPr/>
          </p:nvSpPr>
          <p:spPr>
            <a:xfrm>
              <a:off x="274320" y="3474720"/>
              <a:ext cx="8595360" cy="494030"/>
            </a:xfrm>
            <a:custGeom>
              <a:avLst/>
              <a:gdLst/>
              <a:ahLst/>
              <a:cxnLst/>
              <a:rect l="l" t="t" r="r" b="b"/>
              <a:pathLst>
                <a:path w="8595360" h="494029">
                  <a:moveTo>
                    <a:pt x="8595360" y="0"/>
                  </a:moveTo>
                  <a:lnTo>
                    <a:pt x="0" y="0"/>
                  </a:lnTo>
                  <a:lnTo>
                    <a:pt x="0" y="493775"/>
                  </a:lnTo>
                  <a:lnTo>
                    <a:pt x="8595360" y="493775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74320" y="3474720"/>
              <a:ext cx="8595360" cy="494030"/>
            </a:xfrm>
            <a:custGeom>
              <a:avLst/>
              <a:gdLst/>
              <a:ahLst/>
              <a:cxnLst/>
              <a:rect l="l" t="t" r="r" b="b"/>
              <a:pathLst>
                <a:path w="8595360" h="494029">
                  <a:moveTo>
                    <a:pt x="0" y="493775"/>
                  </a:moveTo>
                  <a:lnTo>
                    <a:pt x="8595360" y="493775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493775"/>
                  </a:lnTo>
                  <a:close/>
                </a:path>
              </a:pathLst>
            </a:custGeom>
            <a:ln w="1016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74320" y="3474720"/>
              <a:ext cx="50800" cy="494030"/>
            </a:xfrm>
            <a:custGeom>
              <a:avLst/>
              <a:gdLst/>
              <a:ahLst/>
              <a:cxnLst/>
              <a:rect l="l" t="t" r="r" b="b"/>
              <a:pathLst>
                <a:path w="50800" h="494029">
                  <a:moveTo>
                    <a:pt x="50292" y="0"/>
                  </a:moveTo>
                  <a:lnTo>
                    <a:pt x="0" y="0"/>
                  </a:lnTo>
                  <a:lnTo>
                    <a:pt x="0" y="493775"/>
                  </a:lnTo>
                  <a:lnTo>
                    <a:pt x="50292" y="493775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74320" y="3474720"/>
              <a:ext cx="50800" cy="494030"/>
            </a:xfrm>
            <a:custGeom>
              <a:avLst/>
              <a:gdLst/>
              <a:ahLst/>
              <a:cxnLst/>
              <a:rect l="l" t="t" r="r" b="b"/>
              <a:pathLst>
                <a:path w="50800" h="494029">
                  <a:moveTo>
                    <a:pt x="0" y="493775"/>
                  </a:moveTo>
                  <a:lnTo>
                    <a:pt x="50292" y="493775"/>
                  </a:lnTo>
                  <a:lnTo>
                    <a:pt x="50292" y="0"/>
                  </a:lnTo>
                  <a:lnTo>
                    <a:pt x="0" y="0"/>
                  </a:lnTo>
                  <a:lnTo>
                    <a:pt x="0" y="493775"/>
                  </a:lnTo>
                  <a:close/>
                </a:path>
              </a:pathLst>
            </a:custGeom>
            <a:ln w="126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11480" y="3557016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164592" y="0"/>
                  </a:moveTo>
                  <a:lnTo>
                    <a:pt x="120835" y="5877"/>
                  </a:lnTo>
                  <a:lnTo>
                    <a:pt x="81517" y="22464"/>
                  </a:lnTo>
                  <a:lnTo>
                    <a:pt x="48206" y="48196"/>
                  </a:lnTo>
                  <a:lnTo>
                    <a:pt x="22470" y="81505"/>
                  </a:lnTo>
                  <a:lnTo>
                    <a:pt x="5879" y="120826"/>
                  </a:lnTo>
                  <a:lnTo>
                    <a:pt x="0" y="164592"/>
                  </a:lnTo>
                  <a:lnTo>
                    <a:pt x="5879" y="208357"/>
                  </a:lnTo>
                  <a:lnTo>
                    <a:pt x="22470" y="247678"/>
                  </a:lnTo>
                  <a:lnTo>
                    <a:pt x="48206" y="280987"/>
                  </a:lnTo>
                  <a:lnTo>
                    <a:pt x="81517" y="306719"/>
                  </a:lnTo>
                  <a:lnTo>
                    <a:pt x="120835" y="323306"/>
                  </a:lnTo>
                  <a:lnTo>
                    <a:pt x="164592" y="329184"/>
                  </a:lnTo>
                  <a:lnTo>
                    <a:pt x="208348" y="323306"/>
                  </a:lnTo>
                  <a:lnTo>
                    <a:pt x="247666" y="306719"/>
                  </a:lnTo>
                  <a:lnTo>
                    <a:pt x="280977" y="280987"/>
                  </a:lnTo>
                  <a:lnTo>
                    <a:pt x="306713" y="247678"/>
                  </a:lnTo>
                  <a:lnTo>
                    <a:pt x="323304" y="208357"/>
                  </a:lnTo>
                  <a:lnTo>
                    <a:pt x="329184" y="164592"/>
                  </a:lnTo>
                  <a:lnTo>
                    <a:pt x="323304" y="120826"/>
                  </a:lnTo>
                  <a:lnTo>
                    <a:pt x="306713" y="81505"/>
                  </a:lnTo>
                  <a:lnTo>
                    <a:pt x="280977" y="48196"/>
                  </a:lnTo>
                  <a:lnTo>
                    <a:pt x="247666" y="22464"/>
                  </a:lnTo>
                  <a:lnTo>
                    <a:pt x="208348" y="5877"/>
                  </a:lnTo>
                  <a:lnTo>
                    <a:pt x="164592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11480" y="3557016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0" y="164592"/>
                  </a:moveTo>
                  <a:lnTo>
                    <a:pt x="5879" y="120826"/>
                  </a:lnTo>
                  <a:lnTo>
                    <a:pt x="22470" y="81505"/>
                  </a:lnTo>
                  <a:lnTo>
                    <a:pt x="48206" y="48196"/>
                  </a:lnTo>
                  <a:lnTo>
                    <a:pt x="81517" y="22464"/>
                  </a:lnTo>
                  <a:lnTo>
                    <a:pt x="120835" y="5877"/>
                  </a:lnTo>
                  <a:lnTo>
                    <a:pt x="164592" y="0"/>
                  </a:lnTo>
                  <a:lnTo>
                    <a:pt x="208348" y="5877"/>
                  </a:lnTo>
                  <a:lnTo>
                    <a:pt x="247666" y="22464"/>
                  </a:lnTo>
                  <a:lnTo>
                    <a:pt x="280977" y="48196"/>
                  </a:lnTo>
                  <a:lnTo>
                    <a:pt x="306713" y="81505"/>
                  </a:lnTo>
                  <a:lnTo>
                    <a:pt x="323304" y="120826"/>
                  </a:lnTo>
                  <a:lnTo>
                    <a:pt x="329184" y="164592"/>
                  </a:lnTo>
                  <a:lnTo>
                    <a:pt x="323304" y="208357"/>
                  </a:lnTo>
                  <a:lnTo>
                    <a:pt x="306713" y="247678"/>
                  </a:lnTo>
                  <a:lnTo>
                    <a:pt x="280977" y="280987"/>
                  </a:lnTo>
                  <a:lnTo>
                    <a:pt x="247666" y="306719"/>
                  </a:lnTo>
                  <a:lnTo>
                    <a:pt x="208348" y="323306"/>
                  </a:lnTo>
                  <a:lnTo>
                    <a:pt x="164592" y="329184"/>
                  </a:lnTo>
                  <a:lnTo>
                    <a:pt x="120835" y="323306"/>
                  </a:lnTo>
                  <a:lnTo>
                    <a:pt x="81517" y="306719"/>
                  </a:lnTo>
                  <a:lnTo>
                    <a:pt x="48206" y="280987"/>
                  </a:lnTo>
                  <a:lnTo>
                    <a:pt x="22470" y="247678"/>
                  </a:lnTo>
                  <a:lnTo>
                    <a:pt x="5879" y="208357"/>
                  </a:lnTo>
                  <a:lnTo>
                    <a:pt x="0" y="164592"/>
                  </a:lnTo>
                  <a:close/>
                </a:path>
              </a:pathLst>
            </a:custGeom>
            <a:ln w="12700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535228" y="3616528"/>
            <a:ext cx="9525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solidFill>
                  <a:srgbClr val="090913"/>
                </a:solidFill>
                <a:latin typeface="Trebuchet MS"/>
                <a:cs typeface="Trebuchet MS"/>
              </a:rPr>
              <a:t>4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22960" y="3507317"/>
            <a:ext cx="3001645" cy="4076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25"/>
              </a:spcBef>
            </a:pPr>
            <a:r>
              <a:rPr sz="950" b="1" dirty="0">
                <a:solidFill>
                  <a:srgbClr val="7B39EC"/>
                </a:solidFill>
                <a:latin typeface="Trebuchet MS"/>
                <a:cs typeface="Trebuchet MS"/>
              </a:rPr>
              <a:t>Regulatory</a:t>
            </a:r>
            <a:r>
              <a:rPr sz="950" b="1" spc="-35" dirty="0">
                <a:solidFill>
                  <a:srgbClr val="7B39EC"/>
                </a:solidFill>
                <a:latin typeface="Trebuchet MS"/>
                <a:cs typeface="Trebuchet MS"/>
              </a:rPr>
              <a:t> </a:t>
            </a:r>
            <a:r>
              <a:rPr sz="950" b="1" dirty="0">
                <a:solidFill>
                  <a:srgbClr val="7B39EC"/>
                </a:solidFill>
                <a:latin typeface="Trebuchet MS"/>
                <a:cs typeface="Trebuchet MS"/>
              </a:rPr>
              <a:t>/</a:t>
            </a:r>
            <a:r>
              <a:rPr sz="950" b="1" spc="-30" dirty="0">
                <a:solidFill>
                  <a:srgbClr val="7B39EC"/>
                </a:solidFill>
                <a:latin typeface="Trebuchet MS"/>
                <a:cs typeface="Trebuchet MS"/>
              </a:rPr>
              <a:t> </a:t>
            </a:r>
            <a:r>
              <a:rPr sz="950" b="1" spc="-10" dirty="0">
                <a:solidFill>
                  <a:srgbClr val="7B39EC"/>
                </a:solidFill>
                <a:latin typeface="Trebuchet MS"/>
                <a:cs typeface="Trebuchet MS"/>
              </a:rPr>
              <a:t>Legal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r>
              <a:rPr sz="1000" dirty="0">
                <a:solidFill>
                  <a:srgbClr val="E8E8EF"/>
                </a:solidFill>
                <a:latin typeface="Trebuchet MS"/>
                <a:cs typeface="Trebuchet MS"/>
              </a:rPr>
              <a:t>Classified as a clinical decision support tool — not a diagnostic device. Falls outside FDA Class II requirements for the hackathon prototype phase.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267970" y="4071873"/>
            <a:ext cx="8606790" cy="506730"/>
            <a:chOff x="267970" y="4071873"/>
            <a:chExt cx="8606790" cy="506730"/>
          </a:xfrm>
        </p:grpSpPr>
        <p:sp>
          <p:nvSpPr>
            <p:cNvPr id="51" name="object 51"/>
            <p:cNvSpPr/>
            <p:nvPr/>
          </p:nvSpPr>
          <p:spPr>
            <a:xfrm>
              <a:off x="274320" y="4078223"/>
              <a:ext cx="8595360" cy="494030"/>
            </a:xfrm>
            <a:custGeom>
              <a:avLst/>
              <a:gdLst/>
              <a:ahLst/>
              <a:cxnLst/>
              <a:rect l="l" t="t" r="r" b="b"/>
              <a:pathLst>
                <a:path w="8595360" h="494029">
                  <a:moveTo>
                    <a:pt x="8595360" y="0"/>
                  </a:moveTo>
                  <a:lnTo>
                    <a:pt x="0" y="0"/>
                  </a:lnTo>
                  <a:lnTo>
                    <a:pt x="0" y="493775"/>
                  </a:lnTo>
                  <a:lnTo>
                    <a:pt x="8595360" y="493775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74320" y="4078223"/>
              <a:ext cx="8595360" cy="494030"/>
            </a:xfrm>
            <a:custGeom>
              <a:avLst/>
              <a:gdLst/>
              <a:ahLst/>
              <a:cxnLst/>
              <a:rect l="l" t="t" r="r" b="b"/>
              <a:pathLst>
                <a:path w="8595360" h="494029">
                  <a:moveTo>
                    <a:pt x="0" y="493775"/>
                  </a:moveTo>
                  <a:lnTo>
                    <a:pt x="8595360" y="493775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493775"/>
                  </a:lnTo>
                  <a:close/>
                </a:path>
              </a:pathLst>
            </a:custGeom>
            <a:ln w="1016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74320" y="4078223"/>
              <a:ext cx="50800" cy="494030"/>
            </a:xfrm>
            <a:custGeom>
              <a:avLst/>
              <a:gdLst/>
              <a:ahLst/>
              <a:cxnLst/>
              <a:rect l="l" t="t" r="r" b="b"/>
              <a:pathLst>
                <a:path w="50800" h="494029">
                  <a:moveTo>
                    <a:pt x="50292" y="0"/>
                  </a:moveTo>
                  <a:lnTo>
                    <a:pt x="0" y="0"/>
                  </a:lnTo>
                  <a:lnTo>
                    <a:pt x="0" y="493775"/>
                  </a:lnTo>
                  <a:lnTo>
                    <a:pt x="50292" y="493775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74320" y="4078223"/>
              <a:ext cx="50800" cy="494030"/>
            </a:xfrm>
            <a:custGeom>
              <a:avLst/>
              <a:gdLst/>
              <a:ahLst/>
              <a:cxnLst/>
              <a:rect l="l" t="t" r="r" b="b"/>
              <a:pathLst>
                <a:path w="50800" h="494029">
                  <a:moveTo>
                    <a:pt x="0" y="493775"/>
                  </a:moveTo>
                  <a:lnTo>
                    <a:pt x="50292" y="493775"/>
                  </a:lnTo>
                  <a:lnTo>
                    <a:pt x="50292" y="0"/>
                  </a:lnTo>
                  <a:lnTo>
                    <a:pt x="0" y="0"/>
                  </a:lnTo>
                  <a:lnTo>
                    <a:pt x="0" y="493775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11480" y="4160519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164592" y="0"/>
                  </a:moveTo>
                  <a:lnTo>
                    <a:pt x="120835" y="5879"/>
                  </a:lnTo>
                  <a:lnTo>
                    <a:pt x="81517" y="22470"/>
                  </a:lnTo>
                  <a:lnTo>
                    <a:pt x="48206" y="48206"/>
                  </a:lnTo>
                  <a:lnTo>
                    <a:pt x="22470" y="81517"/>
                  </a:lnTo>
                  <a:lnTo>
                    <a:pt x="5879" y="120835"/>
                  </a:lnTo>
                  <a:lnTo>
                    <a:pt x="0" y="164591"/>
                  </a:lnTo>
                  <a:lnTo>
                    <a:pt x="5879" y="208348"/>
                  </a:lnTo>
                  <a:lnTo>
                    <a:pt x="22470" y="247666"/>
                  </a:lnTo>
                  <a:lnTo>
                    <a:pt x="48206" y="280977"/>
                  </a:lnTo>
                  <a:lnTo>
                    <a:pt x="81517" y="306713"/>
                  </a:lnTo>
                  <a:lnTo>
                    <a:pt x="120835" y="323304"/>
                  </a:lnTo>
                  <a:lnTo>
                    <a:pt x="164592" y="329183"/>
                  </a:lnTo>
                  <a:lnTo>
                    <a:pt x="208348" y="323304"/>
                  </a:lnTo>
                  <a:lnTo>
                    <a:pt x="247666" y="306713"/>
                  </a:lnTo>
                  <a:lnTo>
                    <a:pt x="280977" y="280977"/>
                  </a:lnTo>
                  <a:lnTo>
                    <a:pt x="306713" y="247666"/>
                  </a:lnTo>
                  <a:lnTo>
                    <a:pt x="323304" y="208348"/>
                  </a:lnTo>
                  <a:lnTo>
                    <a:pt x="329184" y="164591"/>
                  </a:lnTo>
                  <a:lnTo>
                    <a:pt x="323304" y="120835"/>
                  </a:lnTo>
                  <a:lnTo>
                    <a:pt x="306713" y="81517"/>
                  </a:lnTo>
                  <a:lnTo>
                    <a:pt x="280977" y="48206"/>
                  </a:lnTo>
                  <a:lnTo>
                    <a:pt x="247666" y="22470"/>
                  </a:lnTo>
                  <a:lnTo>
                    <a:pt x="208348" y="5879"/>
                  </a:lnTo>
                  <a:lnTo>
                    <a:pt x="164592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1480" y="4160519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0" y="164591"/>
                  </a:moveTo>
                  <a:lnTo>
                    <a:pt x="5879" y="120835"/>
                  </a:lnTo>
                  <a:lnTo>
                    <a:pt x="22470" y="81517"/>
                  </a:lnTo>
                  <a:lnTo>
                    <a:pt x="48206" y="48206"/>
                  </a:lnTo>
                  <a:lnTo>
                    <a:pt x="81517" y="22470"/>
                  </a:lnTo>
                  <a:lnTo>
                    <a:pt x="120835" y="5879"/>
                  </a:lnTo>
                  <a:lnTo>
                    <a:pt x="164592" y="0"/>
                  </a:lnTo>
                  <a:lnTo>
                    <a:pt x="208348" y="5879"/>
                  </a:lnTo>
                  <a:lnTo>
                    <a:pt x="247666" y="22470"/>
                  </a:lnTo>
                  <a:lnTo>
                    <a:pt x="280977" y="48206"/>
                  </a:lnTo>
                  <a:lnTo>
                    <a:pt x="306713" y="81517"/>
                  </a:lnTo>
                  <a:lnTo>
                    <a:pt x="323304" y="120835"/>
                  </a:lnTo>
                  <a:lnTo>
                    <a:pt x="329184" y="164591"/>
                  </a:lnTo>
                  <a:lnTo>
                    <a:pt x="323304" y="208348"/>
                  </a:lnTo>
                  <a:lnTo>
                    <a:pt x="306713" y="247666"/>
                  </a:lnTo>
                  <a:lnTo>
                    <a:pt x="280977" y="280977"/>
                  </a:lnTo>
                  <a:lnTo>
                    <a:pt x="247666" y="306713"/>
                  </a:lnTo>
                  <a:lnTo>
                    <a:pt x="208348" y="323304"/>
                  </a:lnTo>
                  <a:lnTo>
                    <a:pt x="164592" y="329183"/>
                  </a:lnTo>
                  <a:lnTo>
                    <a:pt x="120835" y="323304"/>
                  </a:lnTo>
                  <a:lnTo>
                    <a:pt x="81517" y="306713"/>
                  </a:lnTo>
                  <a:lnTo>
                    <a:pt x="48206" y="280977"/>
                  </a:lnTo>
                  <a:lnTo>
                    <a:pt x="22470" y="247666"/>
                  </a:lnTo>
                  <a:lnTo>
                    <a:pt x="5879" y="208348"/>
                  </a:lnTo>
                  <a:lnTo>
                    <a:pt x="0" y="164591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535228" y="4220667"/>
            <a:ext cx="952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090913"/>
                </a:solidFill>
                <a:latin typeface="Trebuchet MS"/>
                <a:cs typeface="Trebuchet MS"/>
              </a:rPr>
              <a:t>5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22960" y="4110920"/>
            <a:ext cx="2963545" cy="4076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25"/>
              </a:spcBef>
            </a:pPr>
            <a:r>
              <a:rPr sz="950" b="1" dirty="0">
                <a:solidFill>
                  <a:srgbClr val="F5A622"/>
                </a:solidFill>
                <a:latin typeface="Trebuchet MS"/>
                <a:cs typeface="Trebuchet MS"/>
              </a:rPr>
              <a:t>Time</a:t>
            </a:r>
            <a:r>
              <a:rPr sz="950" b="1" spc="-2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950" b="1" dirty="0">
                <a:solidFill>
                  <a:srgbClr val="F5A622"/>
                </a:solidFill>
                <a:latin typeface="Trebuchet MS"/>
                <a:cs typeface="Trebuchet MS"/>
              </a:rPr>
              <a:t>&amp;</a:t>
            </a:r>
            <a:r>
              <a:rPr sz="950" b="1" spc="-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950" b="1" spc="-10" dirty="0">
                <a:solidFill>
                  <a:srgbClr val="F5A622"/>
                </a:solidFill>
                <a:latin typeface="Trebuchet MS"/>
                <a:cs typeface="Trebuchet MS"/>
              </a:rPr>
              <a:t>Resources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r>
              <a:rPr sz="1000" dirty="0">
                <a:solidFill>
                  <a:srgbClr val="E8E8EF"/>
                </a:solidFill>
                <a:latin typeface="Trebuchet MS"/>
                <a:cs typeface="Trebuchet MS"/>
              </a:rPr>
              <a:t>MVP built within 48-hour hackathon. Production hardening, HIPAA compliance, and EHR integration planned for a 6-month post-hackathon roadmap.</a:t>
            </a:r>
            <a:endParaRPr sz="1000">
              <a:latin typeface="Trebuchet MS"/>
              <a:cs typeface="Trebuchet MS"/>
            </a:endParaRPr>
          </a:p>
        </p:txBody>
      </p:sp>
      <p:pic>
        <p:nvPicPr>
          <p:cNvPr id="59" name="object 5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658" y="0"/>
            <a:ext cx="791997" cy="696595"/>
          </a:xfrm>
          <a:prstGeom prst="rect">
            <a:avLst/>
          </a:prstGeom>
        </p:spPr>
      </p:pic>
      <p:sp>
        <p:nvSpPr>
          <p:cNvPr id="60" name="object 6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PRAGATI</a:t>
            </a:r>
            <a:r>
              <a:rPr spc="30" dirty="0"/>
              <a:t> </a:t>
            </a:r>
            <a:r>
              <a:rPr dirty="0"/>
              <a:t>2026</a:t>
            </a:r>
            <a:r>
              <a:rPr spc="10" dirty="0"/>
              <a:t> </a:t>
            </a:r>
            <a:r>
              <a:rPr dirty="0"/>
              <a:t>—</a:t>
            </a:r>
            <a:r>
              <a:rPr spc="-10" dirty="0"/>
              <a:t> bengalithub.com/hackfest-</a:t>
            </a:r>
            <a:r>
              <a:rPr spc="-20" dirty="0"/>
              <a:t>2026</a:t>
            </a:r>
          </a:p>
        </p:txBody>
      </p:sp>
      <p:sp>
        <p:nvSpPr>
          <p:cNvPr id="61" name="object 6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884" y="179323"/>
            <a:ext cx="2318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PRAGATI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—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The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Bengal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Hack</a:t>
            </a:r>
            <a:r>
              <a:rPr sz="1000" b="1" spc="-1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Fest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2026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9718" y="186944"/>
            <a:ext cx="1415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787AA"/>
                </a:solidFill>
                <a:latin typeface="Trebuchet MS"/>
                <a:cs typeface="Trebuchet MS"/>
              </a:rPr>
              <a:t>Team: [Team Name]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Dependencies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267970" y="1045210"/>
            <a:ext cx="351155" cy="76835"/>
            <a:chOff x="267970" y="1045210"/>
            <a:chExt cx="351155" cy="768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970" y="1045210"/>
              <a:ext cx="213867" cy="7670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858" y="1045210"/>
              <a:ext cx="104140" cy="76707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-6350" y="4977129"/>
            <a:ext cx="9156700" cy="172720"/>
            <a:chOff x="-6350" y="4977129"/>
            <a:chExt cx="9156700" cy="172720"/>
          </a:xfrm>
        </p:grpSpPr>
        <p:sp>
          <p:nvSpPr>
            <p:cNvPr id="9" name="object 9"/>
            <p:cNvSpPr/>
            <p:nvPr/>
          </p:nvSpPr>
          <p:spPr>
            <a:xfrm>
              <a:off x="0" y="4983479"/>
              <a:ext cx="9144000" cy="160020"/>
            </a:xfrm>
            <a:custGeom>
              <a:avLst/>
              <a:gdLst/>
              <a:ahLst/>
              <a:cxnLst/>
              <a:rect l="l" t="t" r="r" b="b"/>
              <a:pathLst>
                <a:path w="9144000" h="160020">
                  <a:moveTo>
                    <a:pt x="9144000" y="0"/>
                  </a:moveTo>
                  <a:lnTo>
                    <a:pt x="0" y="0"/>
                  </a:lnTo>
                  <a:lnTo>
                    <a:pt x="0" y="160020"/>
                  </a:lnTo>
                  <a:lnTo>
                    <a:pt x="9144000" y="1600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A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4983479"/>
              <a:ext cx="9144000" cy="160020"/>
            </a:xfrm>
            <a:custGeom>
              <a:avLst/>
              <a:gdLst/>
              <a:ahLst/>
              <a:cxnLst/>
              <a:rect l="l" t="t" r="r" b="b"/>
              <a:pathLst>
                <a:path w="9144000" h="160020">
                  <a:moveTo>
                    <a:pt x="0" y="160020"/>
                  </a:moveTo>
                  <a:lnTo>
                    <a:pt x="9144000" y="16002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60020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4983479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914400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9144000" y="91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4983479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9144"/>
                  </a:moveTo>
                  <a:lnTo>
                    <a:pt x="9144000" y="914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144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67970" y="1200658"/>
            <a:ext cx="2774315" cy="1247140"/>
            <a:chOff x="267970" y="1200658"/>
            <a:chExt cx="2774315" cy="1247140"/>
          </a:xfrm>
        </p:grpSpPr>
        <p:sp>
          <p:nvSpPr>
            <p:cNvPr id="14" name="object 14"/>
            <p:cNvSpPr/>
            <p:nvPr/>
          </p:nvSpPr>
          <p:spPr>
            <a:xfrm>
              <a:off x="274320" y="1271016"/>
              <a:ext cx="2761615" cy="1170940"/>
            </a:xfrm>
            <a:custGeom>
              <a:avLst/>
              <a:gdLst/>
              <a:ahLst/>
              <a:cxnLst/>
              <a:rect l="l" t="t" r="r" b="b"/>
              <a:pathLst>
                <a:path w="2761615" h="1170939">
                  <a:moveTo>
                    <a:pt x="0" y="1170432"/>
                  </a:moveTo>
                  <a:lnTo>
                    <a:pt x="2761488" y="1170432"/>
                  </a:lnTo>
                  <a:lnTo>
                    <a:pt x="2761488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4320" y="1207008"/>
              <a:ext cx="2761615" cy="1234440"/>
            </a:xfrm>
            <a:custGeom>
              <a:avLst/>
              <a:gdLst/>
              <a:ahLst/>
              <a:cxnLst/>
              <a:rect l="l" t="t" r="r" b="b"/>
              <a:pathLst>
                <a:path w="2761615" h="1234439">
                  <a:moveTo>
                    <a:pt x="0" y="1234439"/>
                  </a:moveTo>
                  <a:lnTo>
                    <a:pt x="2761488" y="1234439"/>
                  </a:lnTo>
                  <a:lnTo>
                    <a:pt x="2761488" y="0"/>
                  </a:lnTo>
                  <a:lnTo>
                    <a:pt x="0" y="0"/>
                  </a:lnTo>
                  <a:lnTo>
                    <a:pt x="0" y="1234439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4320" y="1207008"/>
              <a:ext cx="2761615" cy="64135"/>
            </a:xfrm>
            <a:custGeom>
              <a:avLst/>
              <a:gdLst/>
              <a:ahLst/>
              <a:cxnLst/>
              <a:rect l="l" t="t" r="r" b="b"/>
              <a:pathLst>
                <a:path w="2761615" h="64134">
                  <a:moveTo>
                    <a:pt x="2761488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2761488" y="64008"/>
                  </a:lnTo>
                  <a:lnTo>
                    <a:pt x="2761488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4320" y="1207008"/>
              <a:ext cx="2761615" cy="64135"/>
            </a:xfrm>
            <a:custGeom>
              <a:avLst/>
              <a:gdLst/>
              <a:ahLst/>
              <a:cxnLst/>
              <a:rect l="l" t="t" r="r" b="b"/>
              <a:pathLst>
                <a:path w="2761615" h="64134">
                  <a:moveTo>
                    <a:pt x="0" y="64008"/>
                  </a:moveTo>
                  <a:lnTo>
                    <a:pt x="2761488" y="64008"/>
                  </a:lnTo>
                  <a:lnTo>
                    <a:pt x="2761488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2336" y="1325880"/>
              <a:ext cx="384048" cy="384048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80670" y="1372869"/>
            <a:ext cx="2748915" cy="544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007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Technology</a:t>
            </a:r>
            <a:r>
              <a:rPr sz="1000" b="1" spc="-5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Stack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000">
              <a:latin typeface="Trebuchet MS"/>
              <a:cs typeface="Trebuchet MS"/>
            </a:endParaRPr>
          </a:p>
          <a:p>
            <a:pPr marL="194310">
              <a:lnSpc>
                <a:spcPct val="100000"/>
              </a:lnSpc>
              <a:spcBef>
                <a:spcPts val="5"/>
              </a:spcBef>
            </a:pPr>
            <a:r>
              <a:rPr sz="950" dirty="0">
                <a:solidFill>
                  <a:srgbClr val="E8E8EF"/>
                </a:solidFill>
                <a:latin typeface="Trebuchet MS"/>
                <a:cs typeface="Trebuchet MS"/>
              </a:rPr>
              <a:t>Python 3.11 · scikit-learn 1.5 · XGBoost 2.1 · Flask 3.0 · Pandas · NumPy · Chart.js · HTML5/CSS3/JS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221482" y="1200658"/>
            <a:ext cx="2774315" cy="1247140"/>
            <a:chOff x="3221482" y="1200658"/>
            <a:chExt cx="2774315" cy="1247140"/>
          </a:xfrm>
        </p:grpSpPr>
        <p:sp>
          <p:nvSpPr>
            <p:cNvPr id="21" name="object 21"/>
            <p:cNvSpPr/>
            <p:nvPr/>
          </p:nvSpPr>
          <p:spPr>
            <a:xfrm>
              <a:off x="3227832" y="1271016"/>
              <a:ext cx="2761615" cy="1170940"/>
            </a:xfrm>
            <a:custGeom>
              <a:avLst/>
              <a:gdLst/>
              <a:ahLst/>
              <a:cxnLst/>
              <a:rect l="l" t="t" r="r" b="b"/>
              <a:pathLst>
                <a:path w="2761615" h="1170939">
                  <a:moveTo>
                    <a:pt x="0" y="1170432"/>
                  </a:moveTo>
                  <a:lnTo>
                    <a:pt x="2761488" y="1170432"/>
                  </a:lnTo>
                  <a:lnTo>
                    <a:pt x="2761488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27832" y="1207008"/>
              <a:ext cx="2761615" cy="1234440"/>
            </a:xfrm>
            <a:custGeom>
              <a:avLst/>
              <a:gdLst/>
              <a:ahLst/>
              <a:cxnLst/>
              <a:rect l="l" t="t" r="r" b="b"/>
              <a:pathLst>
                <a:path w="2761615" h="1234439">
                  <a:moveTo>
                    <a:pt x="0" y="1234439"/>
                  </a:moveTo>
                  <a:lnTo>
                    <a:pt x="2761488" y="1234439"/>
                  </a:lnTo>
                  <a:lnTo>
                    <a:pt x="2761488" y="0"/>
                  </a:lnTo>
                  <a:lnTo>
                    <a:pt x="0" y="0"/>
                  </a:lnTo>
                  <a:lnTo>
                    <a:pt x="0" y="1234439"/>
                  </a:lnTo>
                  <a:close/>
                </a:path>
              </a:pathLst>
            </a:custGeom>
            <a:ln w="12700">
              <a:solidFill>
                <a:srgbClr val="00C7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27832" y="1207008"/>
              <a:ext cx="2761615" cy="64135"/>
            </a:xfrm>
            <a:custGeom>
              <a:avLst/>
              <a:gdLst/>
              <a:ahLst/>
              <a:cxnLst/>
              <a:rect l="l" t="t" r="r" b="b"/>
              <a:pathLst>
                <a:path w="2761615" h="64134">
                  <a:moveTo>
                    <a:pt x="2761488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2761488" y="64008"/>
                  </a:lnTo>
                  <a:lnTo>
                    <a:pt x="2761488" y="0"/>
                  </a:lnTo>
                  <a:close/>
                </a:path>
              </a:pathLst>
            </a:custGeom>
            <a:solidFill>
              <a:srgbClr val="00C7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27832" y="1207008"/>
              <a:ext cx="2761615" cy="64135"/>
            </a:xfrm>
            <a:custGeom>
              <a:avLst/>
              <a:gdLst/>
              <a:ahLst/>
              <a:cxnLst/>
              <a:rect l="l" t="t" r="r" b="b"/>
              <a:pathLst>
                <a:path w="2761615" h="64134">
                  <a:moveTo>
                    <a:pt x="0" y="64008"/>
                  </a:moveTo>
                  <a:lnTo>
                    <a:pt x="2761488" y="64008"/>
                  </a:lnTo>
                  <a:lnTo>
                    <a:pt x="2761488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00C7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55848" y="1325880"/>
              <a:ext cx="384048" cy="38404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3234182" y="1372869"/>
            <a:ext cx="2748915" cy="544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0705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00C7B4"/>
                </a:solidFill>
                <a:latin typeface="Trebuchet MS"/>
                <a:cs typeface="Trebuchet MS"/>
              </a:rPr>
              <a:t>Third-</a:t>
            </a:r>
            <a:r>
              <a:rPr sz="1000" b="1" dirty="0">
                <a:solidFill>
                  <a:srgbClr val="00C7B4"/>
                </a:solidFill>
                <a:latin typeface="Trebuchet MS"/>
                <a:cs typeface="Trebuchet MS"/>
              </a:rPr>
              <a:t>Party</a:t>
            </a:r>
            <a:r>
              <a:rPr sz="1000" b="1" spc="-10" dirty="0">
                <a:solidFill>
                  <a:srgbClr val="00C7B4"/>
                </a:solidFill>
                <a:latin typeface="Trebuchet MS"/>
                <a:cs typeface="Trebuchet MS"/>
              </a:rPr>
              <a:t> </a:t>
            </a:r>
            <a:r>
              <a:rPr sz="1000" b="1" spc="-20" dirty="0">
                <a:solidFill>
                  <a:srgbClr val="00C7B4"/>
                </a:solidFill>
                <a:latin typeface="Trebuchet MS"/>
                <a:cs typeface="Trebuchet MS"/>
              </a:rPr>
              <a:t>APIs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000">
              <a:latin typeface="Trebuchet MS"/>
              <a:cs typeface="Trebuchet MS"/>
            </a:endParaRPr>
          </a:p>
          <a:p>
            <a:pPr marL="194945">
              <a:lnSpc>
                <a:spcPct val="100000"/>
              </a:lnSpc>
              <a:spcBef>
                <a:spcPts val="5"/>
              </a:spcBef>
            </a:pPr>
            <a:r>
              <a:rPr sz="950" dirty="0">
                <a:solidFill>
                  <a:srgbClr val="E8E8EF"/>
                </a:solidFill>
                <a:latin typeface="Trebuchet MS"/>
                <a:cs typeface="Trebuchet MS"/>
              </a:rPr>
              <a:t>CDC BRFSS Open Data API · Google Fonts (Space Grotesk, JetBrains Mono) · Anthropic Claude API (AI explanations) · Gunicorn (WSGI) · Flask-CORS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174994" y="1200658"/>
            <a:ext cx="2774315" cy="1247140"/>
            <a:chOff x="6174994" y="1200658"/>
            <a:chExt cx="2774315" cy="1247140"/>
          </a:xfrm>
        </p:grpSpPr>
        <p:sp>
          <p:nvSpPr>
            <p:cNvPr id="28" name="object 28"/>
            <p:cNvSpPr/>
            <p:nvPr/>
          </p:nvSpPr>
          <p:spPr>
            <a:xfrm>
              <a:off x="6181344" y="1271016"/>
              <a:ext cx="2761615" cy="1170940"/>
            </a:xfrm>
            <a:custGeom>
              <a:avLst/>
              <a:gdLst/>
              <a:ahLst/>
              <a:cxnLst/>
              <a:rect l="l" t="t" r="r" b="b"/>
              <a:pathLst>
                <a:path w="2761615" h="1170939">
                  <a:moveTo>
                    <a:pt x="0" y="1170432"/>
                  </a:moveTo>
                  <a:lnTo>
                    <a:pt x="2761488" y="1170432"/>
                  </a:lnTo>
                  <a:lnTo>
                    <a:pt x="2761488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181344" y="1207008"/>
              <a:ext cx="2761615" cy="1234440"/>
            </a:xfrm>
            <a:custGeom>
              <a:avLst/>
              <a:gdLst/>
              <a:ahLst/>
              <a:cxnLst/>
              <a:rect l="l" t="t" r="r" b="b"/>
              <a:pathLst>
                <a:path w="2761615" h="1234439">
                  <a:moveTo>
                    <a:pt x="0" y="1234439"/>
                  </a:moveTo>
                  <a:lnTo>
                    <a:pt x="2761488" y="1234439"/>
                  </a:lnTo>
                  <a:lnTo>
                    <a:pt x="2761488" y="0"/>
                  </a:lnTo>
                  <a:lnTo>
                    <a:pt x="0" y="0"/>
                  </a:lnTo>
                  <a:lnTo>
                    <a:pt x="0" y="1234439"/>
                  </a:lnTo>
                  <a:close/>
                </a:path>
              </a:pathLst>
            </a:custGeom>
            <a:ln w="12700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181344" y="1207008"/>
              <a:ext cx="2761615" cy="64135"/>
            </a:xfrm>
            <a:custGeom>
              <a:avLst/>
              <a:gdLst/>
              <a:ahLst/>
              <a:cxnLst/>
              <a:rect l="l" t="t" r="r" b="b"/>
              <a:pathLst>
                <a:path w="2761615" h="64134">
                  <a:moveTo>
                    <a:pt x="2761488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2761488" y="64008"/>
                  </a:lnTo>
                  <a:lnTo>
                    <a:pt x="2761488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81344" y="1207008"/>
              <a:ext cx="2761615" cy="64135"/>
            </a:xfrm>
            <a:custGeom>
              <a:avLst/>
              <a:gdLst/>
              <a:ahLst/>
              <a:cxnLst/>
              <a:rect l="l" t="t" r="r" b="b"/>
              <a:pathLst>
                <a:path w="2761615" h="64134">
                  <a:moveTo>
                    <a:pt x="0" y="64008"/>
                  </a:moveTo>
                  <a:lnTo>
                    <a:pt x="2761488" y="64008"/>
                  </a:lnTo>
                  <a:lnTo>
                    <a:pt x="2761488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09360" y="1325880"/>
              <a:ext cx="384047" cy="384048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6187694" y="1372869"/>
            <a:ext cx="2748915" cy="544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134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7B39EC"/>
                </a:solidFill>
                <a:latin typeface="Trebuchet MS"/>
                <a:cs typeface="Trebuchet MS"/>
              </a:rPr>
              <a:t>Data</a:t>
            </a:r>
            <a:r>
              <a:rPr sz="1000" b="1" spc="-20" dirty="0">
                <a:solidFill>
                  <a:srgbClr val="7B39EC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7B39EC"/>
                </a:solidFill>
                <a:latin typeface="Trebuchet MS"/>
                <a:cs typeface="Trebuchet MS"/>
              </a:rPr>
              <a:t>Sources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000">
              <a:latin typeface="Trebuchet MS"/>
              <a:cs typeface="Trebuchet MS"/>
            </a:endParaRPr>
          </a:p>
          <a:p>
            <a:pPr marL="195580">
              <a:lnSpc>
                <a:spcPct val="100000"/>
              </a:lnSpc>
              <a:spcBef>
                <a:spcPts val="5"/>
              </a:spcBef>
            </a:pPr>
            <a:r>
              <a:rPr sz="950" dirty="0">
                <a:solidFill>
                  <a:srgbClr val="E8E8EF"/>
                </a:solidFill>
                <a:latin typeface="Trebuchet MS"/>
                <a:cs typeface="Trebuchet MS"/>
              </a:rPr>
              <a:t>CDC BRFSS 2020 (319,795 patients) · Synthetic cvd_health_7500 (7,500 patients, 27 cols) · Sleep Health Dataset (XGBoost model) · heart_2020_rebalanced.csv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67970" y="2645410"/>
            <a:ext cx="8608060" cy="2006600"/>
            <a:chOff x="267970" y="2645410"/>
            <a:chExt cx="8608060" cy="2006600"/>
          </a:xfrm>
        </p:grpSpPr>
        <p:sp>
          <p:nvSpPr>
            <p:cNvPr id="35" name="object 35"/>
            <p:cNvSpPr/>
            <p:nvPr/>
          </p:nvSpPr>
          <p:spPr>
            <a:xfrm>
              <a:off x="274320" y="2715768"/>
              <a:ext cx="8595360" cy="1929764"/>
            </a:xfrm>
            <a:custGeom>
              <a:avLst/>
              <a:gdLst/>
              <a:ahLst/>
              <a:cxnLst/>
              <a:rect l="l" t="t" r="r" b="b"/>
              <a:pathLst>
                <a:path w="8595360" h="1929764">
                  <a:moveTo>
                    <a:pt x="0" y="1929383"/>
                  </a:moveTo>
                  <a:lnTo>
                    <a:pt x="8595360" y="1929383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929383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74320" y="2651760"/>
              <a:ext cx="8595360" cy="1993900"/>
            </a:xfrm>
            <a:custGeom>
              <a:avLst/>
              <a:gdLst/>
              <a:ahLst/>
              <a:cxnLst/>
              <a:rect l="l" t="t" r="r" b="b"/>
              <a:pathLst>
                <a:path w="8595360" h="1993900">
                  <a:moveTo>
                    <a:pt x="0" y="1993392"/>
                  </a:moveTo>
                  <a:lnTo>
                    <a:pt x="8595360" y="1993392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993392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74320" y="2651760"/>
              <a:ext cx="8595360" cy="64135"/>
            </a:xfrm>
            <a:custGeom>
              <a:avLst/>
              <a:gdLst/>
              <a:ahLst/>
              <a:cxnLst/>
              <a:rect l="l" t="t" r="r" b="b"/>
              <a:pathLst>
                <a:path w="8595360" h="64135">
                  <a:moveTo>
                    <a:pt x="8595360" y="0"/>
                  </a:moveTo>
                  <a:lnTo>
                    <a:pt x="0" y="0"/>
                  </a:lnTo>
                  <a:lnTo>
                    <a:pt x="0" y="64007"/>
                  </a:lnTo>
                  <a:lnTo>
                    <a:pt x="8595360" y="64007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74320" y="2651760"/>
              <a:ext cx="8595360" cy="64135"/>
            </a:xfrm>
            <a:custGeom>
              <a:avLst/>
              <a:gdLst/>
              <a:ahLst/>
              <a:cxnLst/>
              <a:rect l="l" t="t" r="r" b="b"/>
              <a:pathLst>
                <a:path w="8595360" h="64135">
                  <a:moveTo>
                    <a:pt x="0" y="64007"/>
                  </a:moveTo>
                  <a:lnTo>
                    <a:pt x="8595360" y="64007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64007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80670" y="3324225"/>
            <a:ext cx="8582660" cy="687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787AA"/>
                </a:solidFill>
                <a:latin typeface="Trebuchet MS"/>
                <a:cs typeface="Trebuchet MS"/>
              </a:rPr>
              <a:t>System Architecture: Patient → Web UI → Flask API → [CVD Model | Diabetes Model | Hypertension | Sleep | Stress | Obesity] → Risk Engine → What-If Simulator → Clinical Output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1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950" dirty="0">
                <a:solidFill>
                  <a:srgbClr val="8787AA"/>
                </a:solidFill>
                <a:latin typeface="Trebuchet MS"/>
                <a:cs typeface="Trebuchet MS"/>
              </a:rPr>
              <a:t>Browser (HTML+JS) ↔ Flask REST API (5 endpoints) ↔ 7 ML Model Files (.pkl) ↔ Scaler + Feature Metadata (JSON) | What-If Engine runs fully in-browser via LR coefficient export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40" name="object 4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97679" y="2843529"/>
            <a:ext cx="347472" cy="347472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658" y="0"/>
            <a:ext cx="791997" cy="696595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PRAGATI</a:t>
            </a:r>
            <a:r>
              <a:rPr spc="30" dirty="0"/>
              <a:t> </a:t>
            </a:r>
            <a:r>
              <a:rPr dirty="0"/>
              <a:t>2026</a:t>
            </a:r>
            <a:r>
              <a:rPr spc="10" dirty="0"/>
              <a:t> </a:t>
            </a:r>
            <a:r>
              <a:rPr dirty="0"/>
              <a:t>—</a:t>
            </a:r>
            <a:r>
              <a:rPr spc="-10" dirty="0"/>
              <a:t> bengalithub.com/hackfest-</a:t>
            </a:r>
            <a:r>
              <a:rPr spc="-20" dirty="0"/>
              <a:t>2026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884" y="179323"/>
            <a:ext cx="2318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PRAGATI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—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The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Bengal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Hack</a:t>
            </a:r>
            <a:r>
              <a:rPr sz="1000" b="1" spc="-1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Fest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2026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9718" y="186944"/>
            <a:ext cx="1415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787AA"/>
                </a:solidFill>
                <a:latin typeface="Trebuchet MS"/>
                <a:cs typeface="Trebuchet MS"/>
              </a:rPr>
              <a:t>Team: [Team Name]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Benefits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-6350" y="4977129"/>
            <a:ext cx="9156700" cy="172720"/>
            <a:chOff x="-6350" y="4977129"/>
            <a:chExt cx="9156700" cy="172720"/>
          </a:xfrm>
        </p:grpSpPr>
        <p:sp>
          <p:nvSpPr>
            <p:cNvPr id="6" name="object 6"/>
            <p:cNvSpPr/>
            <p:nvPr/>
          </p:nvSpPr>
          <p:spPr>
            <a:xfrm>
              <a:off x="0" y="4983479"/>
              <a:ext cx="9144000" cy="160020"/>
            </a:xfrm>
            <a:custGeom>
              <a:avLst/>
              <a:gdLst/>
              <a:ahLst/>
              <a:cxnLst/>
              <a:rect l="l" t="t" r="r" b="b"/>
              <a:pathLst>
                <a:path w="9144000" h="160020">
                  <a:moveTo>
                    <a:pt x="9144000" y="0"/>
                  </a:moveTo>
                  <a:lnTo>
                    <a:pt x="0" y="0"/>
                  </a:lnTo>
                  <a:lnTo>
                    <a:pt x="0" y="160020"/>
                  </a:lnTo>
                  <a:lnTo>
                    <a:pt x="9144000" y="1600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A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4983479"/>
              <a:ext cx="9144000" cy="160020"/>
            </a:xfrm>
            <a:custGeom>
              <a:avLst/>
              <a:gdLst/>
              <a:ahLst/>
              <a:cxnLst/>
              <a:rect l="l" t="t" r="r" b="b"/>
              <a:pathLst>
                <a:path w="9144000" h="160020">
                  <a:moveTo>
                    <a:pt x="0" y="160020"/>
                  </a:moveTo>
                  <a:lnTo>
                    <a:pt x="9144000" y="16002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60020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983479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914400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9144000" y="91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983479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9144"/>
                  </a:moveTo>
                  <a:lnTo>
                    <a:pt x="9144000" y="914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144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72212" y="1045210"/>
            <a:ext cx="2910840" cy="1800225"/>
            <a:chOff x="172212" y="1045210"/>
            <a:chExt cx="2910840" cy="180022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970" y="1045210"/>
              <a:ext cx="213867" cy="767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857" y="1045210"/>
              <a:ext cx="104140" cy="7670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141476"/>
              <a:ext cx="2910840" cy="170383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74320" y="1207008"/>
              <a:ext cx="2743200" cy="1536700"/>
            </a:xfrm>
            <a:custGeom>
              <a:avLst/>
              <a:gdLst/>
              <a:ahLst/>
              <a:cxnLst/>
              <a:rect l="l" t="t" r="r" b="b"/>
              <a:pathLst>
                <a:path w="2743200" h="1536700">
                  <a:moveTo>
                    <a:pt x="2743200" y="0"/>
                  </a:moveTo>
                  <a:lnTo>
                    <a:pt x="0" y="0"/>
                  </a:lnTo>
                  <a:lnTo>
                    <a:pt x="0" y="1536191"/>
                  </a:lnTo>
                  <a:lnTo>
                    <a:pt x="2743200" y="1536191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4320" y="1207008"/>
              <a:ext cx="2743200" cy="1536700"/>
            </a:xfrm>
            <a:custGeom>
              <a:avLst/>
              <a:gdLst/>
              <a:ahLst/>
              <a:cxnLst/>
              <a:rect l="l" t="t" r="r" b="b"/>
              <a:pathLst>
                <a:path w="2743200" h="1536700">
                  <a:moveTo>
                    <a:pt x="0" y="1536191"/>
                  </a:moveTo>
                  <a:lnTo>
                    <a:pt x="2743200" y="1536191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536191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4320" y="1207008"/>
              <a:ext cx="50800" cy="1536700"/>
            </a:xfrm>
            <a:custGeom>
              <a:avLst/>
              <a:gdLst/>
              <a:ahLst/>
              <a:cxnLst/>
              <a:rect l="l" t="t" r="r" b="b"/>
              <a:pathLst>
                <a:path w="50800" h="1536700">
                  <a:moveTo>
                    <a:pt x="50292" y="0"/>
                  </a:moveTo>
                  <a:lnTo>
                    <a:pt x="0" y="0"/>
                  </a:lnTo>
                  <a:lnTo>
                    <a:pt x="0" y="1536191"/>
                  </a:lnTo>
                  <a:lnTo>
                    <a:pt x="50292" y="1536191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4320" y="1207008"/>
              <a:ext cx="50800" cy="1536700"/>
            </a:xfrm>
            <a:custGeom>
              <a:avLst/>
              <a:gdLst/>
              <a:ahLst/>
              <a:cxnLst/>
              <a:rect l="l" t="t" r="r" b="b"/>
              <a:pathLst>
                <a:path w="50800" h="1536700">
                  <a:moveTo>
                    <a:pt x="0" y="1536191"/>
                  </a:moveTo>
                  <a:lnTo>
                    <a:pt x="50292" y="1536191"/>
                  </a:lnTo>
                  <a:lnTo>
                    <a:pt x="50292" y="0"/>
                  </a:lnTo>
                  <a:lnTo>
                    <a:pt x="0" y="0"/>
                  </a:lnTo>
                  <a:lnTo>
                    <a:pt x="0" y="1536191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4048" y="1316736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744" y="0"/>
                  </a:moveTo>
                  <a:lnTo>
                    <a:pt x="189829" y="4829"/>
                  </a:lnTo>
                  <a:lnTo>
                    <a:pt x="145202" y="18680"/>
                  </a:lnTo>
                  <a:lnTo>
                    <a:pt x="104817" y="40598"/>
                  </a:lnTo>
                  <a:lnTo>
                    <a:pt x="69632" y="69627"/>
                  </a:lnTo>
                  <a:lnTo>
                    <a:pt x="40602" y="104812"/>
                  </a:lnTo>
                  <a:lnTo>
                    <a:pt x="18682" y="145196"/>
                  </a:lnTo>
                  <a:lnTo>
                    <a:pt x="4829" y="189825"/>
                  </a:lnTo>
                  <a:lnTo>
                    <a:pt x="0" y="237743"/>
                  </a:lnTo>
                  <a:lnTo>
                    <a:pt x="4829" y="285662"/>
                  </a:lnTo>
                  <a:lnTo>
                    <a:pt x="18682" y="330291"/>
                  </a:lnTo>
                  <a:lnTo>
                    <a:pt x="40602" y="370675"/>
                  </a:lnTo>
                  <a:lnTo>
                    <a:pt x="69632" y="405860"/>
                  </a:lnTo>
                  <a:lnTo>
                    <a:pt x="104817" y="434889"/>
                  </a:lnTo>
                  <a:lnTo>
                    <a:pt x="145202" y="456807"/>
                  </a:lnTo>
                  <a:lnTo>
                    <a:pt x="189829" y="470658"/>
                  </a:lnTo>
                  <a:lnTo>
                    <a:pt x="237744" y="475488"/>
                  </a:lnTo>
                  <a:lnTo>
                    <a:pt x="285658" y="470658"/>
                  </a:lnTo>
                  <a:lnTo>
                    <a:pt x="330285" y="456807"/>
                  </a:lnTo>
                  <a:lnTo>
                    <a:pt x="370670" y="434889"/>
                  </a:lnTo>
                  <a:lnTo>
                    <a:pt x="405855" y="405860"/>
                  </a:lnTo>
                  <a:lnTo>
                    <a:pt x="434885" y="370675"/>
                  </a:lnTo>
                  <a:lnTo>
                    <a:pt x="456805" y="330291"/>
                  </a:lnTo>
                  <a:lnTo>
                    <a:pt x="470658" y="285662"/>
                  </a:lnTo>
                  <a:lnTo>
                    <a:pt x="475488" y="237743"/>
                  </a:lnTo>
                  <a:lnTo>
                    <a:pt x="470658" y="189825"/>
                  </a:lnTo>
                  <a:lnTo>
                    <a:pt x="456805" y="145196"/>
                  </a:lnTo>
                  <a:lnTo>
                    <a:pt x="434885" y="104812"/>
                  </a:lnTo>
                  <a:lnTo>
                    <a:pt x="405855" y="69627"/>
                  </a:lnTo>
                  <a:lnTo>
                    <a:pt x="370670" y="40598"/>
                  </a:lnTo>
                  <a:lnTo>
                    <a:pt x="330285" y="18680"/>
                  </a:lnTo>
                  <a:lnTo>
                    <a:pt x="285658" y="4829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121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4048" y="1316736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237743"/>
                  </a:moveTo>
                  <a:lnTo>
                    <a:pt x="4829" y="189825"/>
                  </a:lnTo>
                  <a:lnTo>
                    <a:pt x="18682" y="145196"/>
                  </a:lnTo>
                  <a:lnTo>
                    <a:pt x="40602" y="104812"/>
                  </a:lnTo>
                  <a:lnTo>
                    <a:pt x="69632" y="69627"/>
                  </a:lnTo>
                  <a:lnTo>
                    <a:pt x="104817" y="40598"/>
                  </a:lnTo>
                  <a:lnTo>
                    <a:pt x="145202" y="18680"/>
                  </a:lnTo>
                  <a:lnTo>
                    <a:pt x="189829" y="4829"/>
                  </a:lnTo>
                  <a:lnTo>
                    <a:pt x="237744" y="0"/>
                  </a:lnTo>
                  <a:lnTo>
                    <a:pt x="285658" y="4829"/>
                  </a:lnTo>
                  <a:lnTo>
                    <a:pt x="330285" y="18680"/>
                  </a:lnTo>
                  <a:lnTo>
                    <a:pt x="370670" y="40598"/>
                  </a:lnTo>
                  <a:lnTo>
                    <a:pt x="405855" y="69627"/>
                  </a:lnTo>
                  <a:lnTo>
                    <a:pt x="434885" y="104812"/>
                  </a:lnTo>
                  <a:lnTo>
                    <a:pt x="456805" y="145196"/>
                  </a:lnTo>
                  <a:lnTo>
                    <a:pt x="470658" y="189825"/>
                  </a:lnTo>
                  <a:lnTo>
                    <a:pt x="475488" y="237743"/>
                  </a:lnTo>
                  <a:lnTo>
                    <a:pt x="470658" y="285662"/>
                  </a:lnTo>
                  <a:lnTo>
                    <a:pt x="456805" y="330291"/>
                  </a:lnTo>
                  <a:lnTo>
                    <a:pt x="434885" y="370675"/>
                  </a:lnTo>
                  <a:lnTo>
                    <a:pt x="405855" y="405860"/>
                  </a:lnTo>
                  <a:lnTo>
                    <a:pt x="370670" y="434889"/>
                  </a:lnTo>
                  <a:lnTo>
                    <a:pt x="330285" y="456807"/>
                  </a:lnTo>
                  <a:lnTo>
                    <a:pt x="285658" y="470658"/>
                  </a:lnTo>
                  <a:lnTo>
                    <a:pt x="237744" y="475488"/>
                  </a:lnTo>
                  <a:lnTo>
                    <a:pt x="189829" y="470658"/>
                  </a:lnTo>
                  <a:lnTo>
                    <a:pt x="145202" y="456807"/>
                  </a:lnTo>
                  <a:lnTo>
                    <a:pt x="104817" y="434889"/>
                  </a:lnTo>
                  <a:lnTo>
                    <a:pt x="69632" y="405860"/>
                  </a:lnTo>
                  <a:lnTo>
                    <a:pt x="40602" y="370675"/>
                  </a:lnTo>
                  <a:lnTo>
                    <a:pt x="18682" y="330291"/>
                  </a:lnTo>
                  <a:lnTo>
                    <a:pt x="4829" y="285662"/>
                  </a:lnTo>
                  <a:lnTo>
                    <a:pt x="0" y="237743"/>
                  </a:lnTo>
                  <a:close/>
                </a:path>
              </a:pathLst>
            </a:custGeom>
            <a:ln w="12699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6907" y="1339596"/>
              <a:ext cx="416052" cy="41605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330961" y="1371345"/>
            <a:ext cx="2680335" cy="8362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01345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F5A622"/>
                </a:solidFill>
                <a:latin typeface="Trebuchet MS"/>
                <a:cs typeface="Trebuchet MS"/>
              </a:rPr>
              <a:t>Speed</a:t>
            </a:r>
            <a:r>
              <a:rPr sz="1100" b="1" spc="-2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F5A622"/>
                </a:solidFill>
                <a:latin typeface="Trebuchet MS"/>
                <a:cs typeface="Trebuchet MS"/>
              </a:rPr>
              <a:t>&amp;</a:t>
            </a:r>
            <a:r>
              <a:rPr sz="1100" b="1" spc="-10" dirty="0">
                <a:solidFill>
                  <a:srgbClr val="F5A622"/>
                </a:solidFill>
                <a:latin typeface="Trebuchet MS"/>
                <a:cs typeface="Trebuchet MS"/>
              </a:rPr>
              <a:t> Efficiency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100">
              <a:latin typeface="Trebuchet MS"/>
              <a:cs typeface="Trebuchet MS"/>
            </a:endParaRPr>
          </a:p>
          <a:p>
            <a:pPr marL="144145" marR="192405">
              <a:lnSpc>
                <a:spcPts val="1120"/>
              </a:lnSpc>
            </a:pPr>
            <a:r>
              <a:rPr sz="950" dirty="0">
                <a:solidFill>
                  <a:srgbClr val="E8E8EF"/>
                </a:solidFill>
                <a:latin typeface="Trebuchet MS"/>
                <a:cs typeface="Trebuchet MS"/>
              </a:rPr>
              <a:t>Instant multi-model inference: all 6 risk scores computed simultaneously in &lt; 200ms. What-If sliders update in real time with zero server latency via in-browser LR inference.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144011" y="1141475"/>
            <a:ext cx="2910840" cy="1704339"/>
            <a:chOff x="3144011" y="1141475"/>
            <a:chExt cx="2910840" cy="1704339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44011" y="1141475"/>
              <a:ext cx="2910840" cy="170383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246119" y="1207007"/>
              <a:ext cx="2743200" cy="1536700"/>
            </a:xfrm>
            <a:custGeom>
              <a:avLst/>
              <a:gdLst/>
              <a:ahLst/>
              <a:cxnLst/>
              <a:rect l="l" t="t" r="r" b="b"/>
              <a:pathLst>
                <a:path w="2743200" h="1536700">
                  <a:moveTo>
                    <a:pt x="2743200" y="0"/>
                  </a:moveTo>
                  <a:lnTo>
                    <a:pt x="0" y="0"/>
                  </a:lnTo>
                  <a:lnTo>
                    <a:pt x="0" y="1536191"/>
                  </a:lnTo>
                  <a:lnTo>
                    <a:pt x="2743200" y="1536191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46119" y="1207007"/>
              <a:ext cx="2743200" cy="1536700"/>
            </a:xfrm>
            <a:custGeom>
              <a:avLst/>
              <a:gdLst/>
              <a:ahLst/>
              <a:cxnLst/>
              <a:rect l="l" t="t" r="r" b="b"/>
              <a:pathLst>
                <a:path w="2743200" h="1536700">
                  <a:moveTo>
                    <a:pt x="0" y="1536191"/>
                  </a:moveTo>
                  <a:lnTo>
                    <a:pt x="2743200" y="1536191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536191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46119" y="1207007"/>
              <a:ext cx="50800" cy="1536700"/>
            </a:xfrm>
            <a:custGeom>
              <a:avLst/>
              <a:gdLst/>
              <a:ahLst/>
              <a:cxnLst/>
              <a:rect l="l" t="t" r="r" b="b"/>
              <a:pathLst>
                <a:path w="50800" h="1536700">
                  <a:moveTo>
                    <a:pt x="50292" y="0"/>
                  </a:moveTo>
                  <a:lnTo>
                    <a:pt x="0" y="0"/>
                  </a:lnTo>
                  <a:lnTo>
                    <a:pt x="0" y="1536191"/>
                  </a:lnTo>
                  <a:lnTo>
                    <a:pt x="50292" y="1536191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00C7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46119" y="1207007"/>
              <a:ext cx="50800" cy="1536700"/>
            </a:xfrm>
            <a:custGeom>
              <a:avLst/>
              <a:gdLst/>
              <a:ahLst/>
              <a:cxnLst/>
              <a:rect l="l" t="t" r="r" b="b"/>
              <a:pathLst>
                <a:path w="50800" h="1536700">
                  <a:moveTo>
                    <a:pt x="0" y="1536191"/>
                  </a:moveTo>
                  <a:lnTo>
                    <a:pt x="50292" y="1536191"/>
                  </a:lnTo>
                  <a:lnTo>
                    <a:pt x="50292" y="0"/>
                  </a:lnTo>
                  <a:lnTo>
                    <a:pt x="0" y="0"/>
                  </a:lnTo>
                  <a:lnTo>
                    <a:pt x="0" y="1536191"/>
                  </a:lnTo>
                  <a:close/>
                </a:path>
              </a:pathLst>
            </a:custGeom>
            <a:ln w="12700">
              <a:solidFill>
                <a:srgbClr val="00C7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355847" y="131673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4" h="475614">
                  <a:moveTo>
                    <a:pt x="237743" y="0"/>
                  </a:moveTo>
                  <a:lnTo>
                    <a:pt x="189825" y="4829"/>
                  </a:lnTo>
                  <a:lnTo>
                    <a:pt x="145196" y="18680"/>
                  </a:lnTo>
                  <a:lnTo>
                    <a:pt x="104812" y="40598"/>
                  </a:lnTo>
                  <a:lnTo>
                    <a:pt x="69627" y="69627"/>
                  </a:lnTo>
                  <a:lnTo>
                    <a:pt x="40598" y="104812"/>
                  </a:lnTo>
                  <a:lnTo>
                    <a:pt x="18680" y="145196"/>
                  </a:lnTo>
                  <a:lnTo>
                    <a:pt x="4829" y="189825"/>
                  </a:lnTo>
                  <a:lnTo>
                    <a:pt x="0" y="237743"/>
                  </a:lnTo>
                  <a:lnTo>
                    <a:pt x="4829" y="285662"/>
                  </a:lnTo>
                  <a:lnTo>
                    <a:pt x="18680" y="330291"/>
                  </a:lnTo>
                  <a:lnTo>
                    <a:pt x="40598" y="370675"/>
                  </a:lnTo>
                  <a:lnTo>
                    <a:pt x="69627" y="405860"/>
                  </a:lnTo>
                  <a:lnTo>
                    <a:pt x="104812" y="434889"/>
                  </a:lnTo>
                  <a:lnTo>
                    <a:pt x="145196" y="456807"/>
                  </a:lnTo>
                  <a:lnTo>
                    <a:pt x="189825" y="470658"/>
                  </a:lnTo>
                  <a:lnTo>
                    <a:pt x="237743" y="475488"/>
                  </a:lnTo>
                  <a:lnTo>
                    <a:pt x="285662" y="470658"/>
                  </a:lnTo>
                  <a:lnTo>
                    <a:pt x="330291" y="456807"/>
                  </a:lnTo>
                  <a:lnTo>
                    <a:pt x="370675" y="434889"/>
                  </a:lnTo>
                  <a:lnTo>
                    <a:pt x="405860" y="405860"/>
                  </a:lnTo>
                  <a:lnTo>
                    <a:pt x="434889" y="370675"/>
                  </a:lnTo>
                  <a:lnTo>
                    <a:pt x="456807" y="330291"/>
                  </a:lnTo>
                  <a:lnTo>
                    <a:pt x="470658" y="285662"/>
                  </a:lnTo>
                  <a:lnTo>
                    <a:pt x="475488" y="237743"/>
                  </a:lnTo>
                  <a:lnTo>
                    <a:pt x="470658" y="189825"/>
                  </a:lnTo>
                  <a:lnTo>
                    <a:pt x="456807" y="145196"/>
                  </a:lnTo>
                  <a:lnTo>
                    <a:pt x="434889" y="104812"/>
                  </a:lnTo>
                  <a:lnTo>
                    <a:pt x="405860" y="69627"/>
                  </a:lnTo>
                  <a:lnTo>
                    <a:pt x="370675" y="40598"/>
                  </a:lnTo>
                  <a:lnTo>
                    <a:pt x="330291" y="18680"/>
                  </a:lnTo>
                  <a:lnTo>
                    <a:pt x="285662" y="4829"/>
                  </a:lnTo>
                  <a:lnTo>
                    <a:pt x="237743" y="0"/>
                  </a:lnTo>
                  <a:close/>
                </a:path>
              </a:pathLst>
            </a:custGeom>
            <a:solidFill>
              <a:srgbClr val="121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355847" y="131673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4" h="475614">
                  <a:moveTo>
                    <a:pt x="0" y="237743"/>
                  </a:moveTo>
                  <a:lnTo>
                    <a:pt x="4829" y="189825"/>
                  </a:lnTo>
                  <a:lnTo>
                    <a:pt x="18680" y="145196"/>
                  </a:lnTo>
                  <a:lnTo>
                    <a:pt x="40598" y="104812"/>
                  </a:lnTo>
                  <a:lnTo>
                    <a:pt x="69627" y="69627"/>
                  </a:lnTo>
                  <a:lnTo>
                    <a:pt x="104812" y="40598"/>
                  </a:lnTo>
                  <a:lnTo>
                    <a:pt x="145196" y="18680"/>
                  </a:lnTo>
                  <a:lnTo>
                    <a:pt x="189825" y="4829"/>
                  </a:lnTo>
                  <a:lnTo>
                    <a:pt x="237743" y="0"/>
                  </a:lnTo>
                  <a:lnTo>
                    <a:pt x="285662" y="4829"/>
                  </a:lnTo>
                  <a:lnTo>
                    <a:pt x="330291" y="18680"/>
                  </a:lnTo>
                  <a:lnTo>
                    <a:pt x="370675" y="40598"/>
                  </a:lnTo>
                  <a:lnTo>
                    <a:pt x="405860" y="69627"/>
                  </a:lnTo>
                  <a:lnTo>
                    <a:pt x="434889" y="104812"/>
                  </a:lnTo>
                  <a:lnTo>
                    <a:pt x="456807" y="145196"/>
                  </a:lnTo>
                  <a:lnTo>
                    <a:pt x="470658" y="189825"/>
                  </a:lnTo>
                  <a:lnTo>
                    <a:pt x="475488" y="237743"/>
                  </a:lnTo>
                  <a:lnTo>
                    <a:pt x="470658" y="285662"/>
                  </a:lnTo>
                  <a:lnTo>
                    <a:pt x="456807" y="330291"/>
                  </a:lnTo>
                  <a:lnTo>
                    <a:pt x="434889" y="370675"/>
                  </a:lnTo>
                  <a:lnTo>
                    <a:pt x="405860" y="405860"/>
                  </a:lnTo>
                  <a:lnTo>
                    <a:pt x="370675" y="434889"/>
                  </a:lnTo>
                  <a:lnTo>
                    <a:pt x="330291" y="456807"/>
                  </a:lnTo>
                  <a:lnTo>
                    <a:pt x="285662" y="470658"/>
                  </a:lnTo>
                  <a:lnTo>
                    <a:pt x="237743" y="475488"/>
                  </a:lnTo>
                  <a:lnTo>
                    <a:pt x="189825" y="470658"/>
                  </a:lnTo>
                  <a:lnTo>
                    <a:pt x="145196" y="456807"/>
                  </a:lnTo>
                  <a:lnTo>
                    <a:pt x="104812" y="434889"/>
                  </a:lnTo>
                  <a:lnTo>
                    <a:pt x="69627" y="405860"/>
                  </a:lnTo>
                  <a:lnTo>
                    <a:pt x="40598" y="370675"/>
                  </a:lnTo>
                  <a:lnTo>
                    <a:pt x="18680" y="330291"/>
                  </a:lnTo>
                  <a:lnTo>
                    <a:pt x="4829" y="285662"/>
                  </a:lnTo>
                  <a:lnTo>
                    <a:pt x="0" y="237743"/>
                  </a:lnTo>
                  <a:close/>
                </a:path>
              </a:pathLst>
            </a:custGeom>
            <a:ln w="12700">
              <a:solidFill>
                <a:srgbClr val="00C7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78707" y="1339595"/>
              <a:ext cx="416051" cy="416051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3302761" y="1371345"/>
            <a:ext cx="2680335" cy="8362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0198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00C7B4"/>
                </a:solidFill>
                <a:latin typeface="Trebuchet MS"/>
                <a:cs typeface="Trebuchet MS"/>
              </a:rPr>
              <a:t>User</a:t>
            </a:r>
            <a:r>
              <a:rPr sz="1100" b="1" spc="-20" dirty="0">
                <a:solidFill>
                  <a:srgbClr val="00C7B4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00C7B4"/>
                </a:solidFill>
                <a:latin typeface="Trebuchet MS"/>
                <a:cs typeface="Trebuchet MS"/>
              </a:rPr>
              <a:t>Experience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100">
              <a:latin typeface="Trebuchet MS"/>
              <a:cs typeface="Trebuchet MS"/>
            </a:endParaRPr>
          </a:p>
          <a:p>
            <a:pPr marL="144780" marR="191770">
              <a:lnSpc>
                <a:spcPts val="1120"/>
              </a:lnSpc>
            </a:pPr>
            <a:r>
              <a:rPr sz="950" dirty="0">
                <a:solidFill>
                  <a:srgbClr val="E8E8EF"/>
                </a:solidFill>
                <a:latin typeface="Trebuchet MS"/>
                <a:cs typeface="Trebuchet MS"/>
              </a:rPr>
              <a:t>Single-file webapp — no installation needed. Clinicians get animated risk gauges, vital flag panels, radar charts, and one-click clinical interventions. Works on any device.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115811" y="1141475"/>
            <a:ext cx="2910840" cy="1704339"/>
            <a:chOff x="6115811" y="1141475"/>
            <a:chExt cx="2910840" cy="1704339"/>
          </a:xfrm>
        </p:grpSpPr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15811" y="1141475"/>
              <a:ext cx="2910840" cy="170383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217919" y="1207007"/>
              <a:ext cx="2743200" cy="1536700"/>
            </a:xfrm>
            <a:custGeom>
              <a:avLst/>
              <a:gdLst/>
              <a:ahLst/>
              <a:cxnLst/>
              <a:rect l="l" t="t" r="r" b="b"/>
              <a:pathLst>
                <a:path w="2743200" h="1536700">
                  <a:moveTo>
                    <a:pt x="2743200" y="0"/>
                  </a:moveTo>
                  <a:lnTo>
                    <a:pt x="0" y="0"/>
                  </a:lnTo>
                  <a:lnTo>
                    <a:pt x="0" y="1536191"/>
                  </a:lnTo>
                  <a:lnTo>
                    <a:pt x="2743200" y="1536191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217919" y="1207007"/>
              <a:ext cx="2743200" cy="1536700"/>
            </a:xfrm>
            <a:custGeom>
              <a:avLst/>
              <a:gdLst/>
              <a:ahLst/>
              <a:cxnLst/>
              <a:rect l="l" t="t" r="r" b="b"/>
              <a:pathLst>
                <a:path w="2743200" h="1536700">
                  <a:moveTo>
                    <a:pt x="0" y="1536191"/>
                  </a:moveTo>
                  <a:lnTo>
                    <a:pt x="2743200" y="1536191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536191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217919" y="1207007"/>
              <a:ext cx="50800" cy="1536700"/>
            </a:xfrm>
            <a:custGeom>
              <a:avLst/>
              <a:gdLst/>
              <a:ahLst/>
              <a:cxnLst/>
              <a:rect l="l" t="t" r="r" b="b"/>
              <a:pathLst>
                <a:path w="50800" h="1536700">
                  <a:moveTo>
                    <a:pt x="50291" y="0"/>
                  </a:moveTo>
                  <a:lnTo>
                    <a:pt x="0" y="0"/>
                  </a:lnTo>
                  <a:lnTo>
                    <a:pt x="0" y="1536191"/>
                  </a:lnTo>
                  <a:lnTo>
                    <a:pt x="50291" y="1536191"/>
                  </a:lnTo>
                  <a:lnTo>
                    <a:pt x="50291" y="0"/>
                  </a:lnTo>
                  <a:close/>
                </a:path>
              </a:pathLst>
            </a:custGeom>
            <a:solidFill>
              <a:srgbClr val="00C7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217919" y="1207007"/>
              <a:ext cx="50800" cy="1536700"/>
            </a:xfrm>
            <a:custGeom>
              <a:avLst/>
              <a:gdLst/>
              <a:ahLst/>
              <a:cxnLst/>
              <a:rect l="l" t="t" r="r" b="b"/>
              <a:pathLst>
                <a:path w="50800" h="1536700">
                  <a:moveTo>
                    <a:pt x="0" y="1536191"/>
                  </a:moveTo>
                  <a:lnTo>
                    <a:pt x="50291" y="1536191"/>
                  </a:lnTo>
                  <a:lnTo>
                    <a:pt x="50291" y="0"/>
                  </a:lnTo>
                  <a:lnTo>
                    <a:pt x="0" y="0"/>
                  </a:lnTo>
                  <a:lnTo>
                    <a:pt x="0" y="1536191"/>
                  </a:lnTo>
                  <a:close/>
                </a:path>
              </a:pathLst>
            </a:custGeom>
            <a:ln w="12700">
              <a:solidFill>
                <a:srgbClr val="00C7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327647" y="131673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744" y="0"/>
                  </a:moveTo>
                  <a:lnTo>
                    <a:pt x="189825" y="4829"/>
                  </a:lnTo>
                  <a:lnTo>
                    <a:pt x="145196" y="18680"/>
                  </a:lnTo>
                  <a:lnTo>
                    <a:pt x="104812" y="40598"/>
                  </a:lnTo>
                  <a:lnTo>
                    <a:pt x="69627" y="69627"/>
                  </a:lnTo>
                  <a:lnTo>
                    <a:pt x="40598" y="104812"/>
                  </a:lnTo>
                  <a:lnTo>
                    <a:pt x="18680" y="145196"/>
                  </a:lnTo>
                  <a:lnTo>
                    <a:pt x="4829" y="189825"/>
                  </a:lnTo>
                  <a:lnTo>
                    <a:pt x="0" y="237743"/>
                  </a:lnTo>
                  <a:lnTo>
                    <a:pt x="4829" y="285662"/>
                  </a:lnTo>
                  <a:lnTo>
                    <a:pt x="18680" y="330291"/>
                  </a:lnTo>
                  <a:lnTo>
                    <a:pt x="40598" y="370675"/>
                  </a:lnTo>
                  <a:lnTo>
                    <a:pt x="69627" y="405860"/>
                  </a:lnTo>
                  <a:lnTo>
                    <a:pt x="104812" y="434889"/>
                  </a:lnTo>
                  <a:lnTo>
                    <a:pt x="145196" y="456807"/>
                  </a:lnTo>
                  <a:lnTo>
                    <a:pt x="189825" y="470658"/>
                  </a:lnTo>
                  <a:lnTo>
                    <a:pt x="237744" y="475488"/>
                  </a:lnTo>
                  <a:lnTo>
                    <a:pt x="285662" y="470658"/>
                  </a:lnTo>
                  <a:lnTo>
                    <a:pt x="330291" y="456807"/>
                  </a:lnTo>
                  <a:lnTo>
                    <a:pt x="370675" y="434889"/>
                  </a:lnTo>
                  <a:lnTo>
                    <a:pt x="405860" y="405860"/>
                  </a:lnTo>
                  <a:lnTo>
                    <a:pt x="434889" y="370675"/>
                  </a:lnTo>
                  <a:lnTo>
                    <a:pt x="456807" y="330291"/>
                  </a:lnTo>
                  <a:lnTo>
                    <a:pt x="470658" y="285662"/>
                  </a:lnTo>
                  <a:lnTo>
                    <a:pt x="475487" y="237743"/>
                  </a:lnTo>
                  <a:lnTo>
                    <a:pt x="470658" y="189825"/>
                  </a:lnTo>
                  <a:lnTo>
                    <a:pt x="456807" y="145196"/>
                  </a:lnTo>
                  <a:lnTo>
                    <a:pt x="434889" y="104812"/>
                  </a:lnTo>
                  <a:lnTo>
                    <a:pt x="405860" y="69627"/>
                  </a:lnTo>
                  <a:lnTo>
                    <a:pt x="370675" y="40598"/>
                  </a:lnTo>
                  <a:lnTo>
                    <a:pt x="330291" y="18680"/>
                  </a:lnTo>
                  <a:lnTo>
                    <a:pt x="285662" y="4829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121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327647" y="131673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237743"/>
                  </a:moveTo>
                  <a:lnTo>
                    <a:pt x="4829" y="189825"/>
                  </a:lnTo>
                  <a:lnTo>
                    <a:pt x="18680" y="145196"/>
                  </a:lnTo>
                  <a:lnTo>
                    <a:pt x="40598" y="104812"/>
                  </a:lnTo>
                  <a:lnTo>
                    <a:pt x="69627" y="69627"/>
                  </a:lnTo>
                  <a:lnTo>
                    <a:pt x="104812" y="40598"/>
                  </a:lnTo>
                  <a:lnTo>
                    <a:pt x="145196" y="18680"/>
                  </a:lnTo>
                  <a:lnTo>
                    <a:pt x="189825" y="4829"/>
                  </a:lnTo>
                  <a:lnTo>
                    <a:pt x="237744" y="0"/>
                  </a:lnTo>
                  <a:lnTo>
                    <a:pt x="285662" y="4829"/>
                  </a:lnTo>
                  <a:lnTo>
                    <a:pt x="330291" y="18680"/>
                  </a:lnTo>
                  <a:lnTo>
                    <a:pt x="370675" y="40598"/>
                  </a:lnTo>
                  <a:lnTo>
                    <a:pt x="405860" y="69627"/>
                  </a:lnTo>
                  <a:lnTo>
                    <a:pt x="434889" y="104812"/>
                  </a:lnTo>
                  <a:lnTo>
                    <a:pt x="456807" y="145196"/>
                  </a:lnTo>
                  <a:lnTo>
                    <a:pt x="470658" y="189825"/>
                  </a:lnTo>
                  <a:lnTo>
                    <a:pt x="475487" y="237743"/>
                  </a:lnTo>
                  <a:lnTo>
                    <a:pt x="470658" y="285662"/>
                  </a:lnTo>
                  <a:lnTo>
                    <a:pt x="456807" y="330291"/>
                  </a:lnTo>
                  <a:lnTo>
                    <a:pt x="434889" y="370675"/>
                  </a:lnTo>
                  <a:lnTo>
                    <a:pt x="405860" y="405860"/>
                  </a:lnTo>
                  <a:lnTo>
                    <a:pt x="370675" y="434889"/>
                  </a:lnTo>
                  <a:lnTo>
                    <a:pt x="330291" y="456807"/>
                  </a:lnTo>
                  <a:lnTo>
                    <a:pt x="285662" y="470658"/>
                  </a:lnTo>
                  <a:lnTo>
                    <a:pt x="237744" y="475488"/>
                  </a:lnTo>
                  <a:lnTo>
                    <a:pt x="189825" y="470658"/>
                  </a:lnTo>
                  <a:lnTo>
                    <a:pt x="145196" y="456807"/>
                  </a:lnTo>
                  <a:lnTo>
                    <a:pt x="104812" y="434889"/>
                  </a:lnTo>
                  <a:lnTo>
                    <a:pt x="69627" y="405860"/>
                  </a:lnTo>
                  <a:lnTo>
                    <a:pt x="40598" y="370675"/>
                  </a:lnTo>
                  <a:lnTo>
                    <a:pt x="18680" y="330291"/>
                  </a:lnTo>
                  <a:lnTo>
                    <a:pt x="4829" y="285662"/>
                  </a:lnTo>
                  <a:lnTo>
                    <a:pt x="0" y="237743"/>
                  </a:lnTo>
                  <a:close/>
                </a:path>
              </a:pathLst>
            </a:custGeom>
            <a:ln w="12700">
              <a:solidFill>
                <a:srgbClr val="00C7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50507" y="1339595"/>
              <a:ext cx="416052" cy="416051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6274561" y="1371345"/>
            <a:ext cx="2680335" cy="8362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01980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solidFill>
                  <a:srgbClr val="00C7B4"/>
                </a:solidFill>
                <a:latin typeface="Trebuchet MS"/>
                <a:cs typeface="Trebuchet MS"/>
              </a:rPr>
              <a:t>Reliability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100">
              <a:latin typeface="Trebuchet MS"/>
              <a:cs typeface="Trebuchet MS"/>
            </a:endParaRPr>
          </a:p>
          <a:p>
            <a:pPr marL="144780" marR="191770">
              <a:lnSpc>
                <a:spcPts val="1120"/>
              </a:lnSpc>
            </a:pPr>
            <a:r>
              <a:rPr sz="950" dirty="0">
                <a:solidFill>
                  <a:srgbClr val="E8E8EF"/>
                </a:solidFill>
                <a:latin typeface="Trebuchet MS"/>
                <a:cs typeface="Trebuchet MS"/>
              </a:rPr>
              <a:t>GBM ensemble with 5-fold CV AUC 0.9894 ± 0.002. Trained on 319,795 real CDC patients + 7,500 synthetic records. Consistent predictions validated across demographic subgroups.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72212" y="2878835"/>
            <a:ext cx="2910840" cy="1704339"/>
            <a:chOff x="172212" y="2878835"/>
            <a:chExt cx="2910840" cy="1704339"/>
          </a:xfrm>
        </p:grpSpPr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2878835"/>
              <a:ext cx="2910840" cy="170383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274320" y="2944367"/>
              <a:ext cx="2743200" cy="1536700"/>
            </a:xfrm>
            <a:custGeom>
              <a:avLst/>
              <a:gdLst/>
              <a:ahLst/>
              <a:cxnLst/>
              <a:rect l="l" t="t" r="r" b="b"/>
              <a:pathLst>
                <a:path w="2743200" h="1536700">
                  <a:moveTo>
                    <a:pt x="2743200" y="0"/>
                  </a:moveTo>
                  <a:lnTo>
                    <a:pt x="0" y="0"/>
                  </a:lnTo>
                  <a:lnTo>
                    <a:pt x="0" y="1536192"/>
                  </a:lnTo>
                  <a:lnTo>
                    <a:pt x="2743200" y="1536192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74320" y="2944367"/>
              <a:ext cx="2743200" cy="1536700"/>
            </a:xfrm>
            <a:custGeom>
              <a:avLst/>
              <a:gdLst/>
              <a:ahLst/>
              <a:cxnLst/>
              <a:rect l="l" t="t" r="r" b="b"/>
              <a:pathLst>
                <a:path w="2743200" h="1536700">
                  <a:moveTo>
                    <a:pt x="0" y="1536192"/>
                  </a:moveTo>
                  <a:lnTo>
                    <a:pt x="2743200" y="1536192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536192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74320" y="2944367"/>
              <a:ext cx="50800" cy="1536700"/>
            </a:xfrm>
            <a:custGeom>
              <a:avLst/>
              <a:gdLst/>
              <a:ahLst/>
              <a:cxnLst/>
              <a:rect l="l" t="t" r="r" b="b"/>
              <a:pathLst>
                <a:path w="50800" h="1536700">
                  <a:moveTo>
                    <a:pt x="50292" y="0"/>
                  </a:moveTo>
                  <a:lnTo>
                    <a:pt x="0" y="0"/>
                  </a:lnTo>
                  <a:lnTo>
                    <a:pt x="0" y="1536192"/>
                  </a:lnTo>
                  <a:lnTo>
                    <a:pt x="50292" y="1536192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FF6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74320" y="2944367"/>
              <a:ext cx="50800" cy="1536700"/>
            </a:xfrm>
            <a:custGeom>
              <a:avLst/>
              <a:gdLst/>
              <a:ahLst/>
              <a:cxnLst/>
              <a:rect l="l" t="t" r="r" b="b"/>
              <a:pathLst>
                <a:path w="50800" h="1536700">
                  <a:moveTo>
                    <a:pt x="0" y="1536192"/>
                  </a:moveTo>
                  <a:lnTo>
                    <a:pt x="50292" y="1536192"/>
                  </a:lnTo>
                  <a:lnTo>
                    <a:pt x="50292" y="0"/>
                  </a:lnTo>
                  <a:lnTo>
                    <a:pt x="0" y="0"/>
                  </a:lnTo>
                  <a:lnTo>
                    <a:pt x="0" y="1536192"/>
                  </a:lnTo>
                  <a:close/>
                </a:path>
              </a:pathLst>
            </a:custGeom>
            <a:ln w="12700">
              <a:solidFill>
                <a:srgbClr val="FF6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84048" y="305409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744" y="0"/>
                  </a:moveTo>
                  <a:lnTo>
                    <a:pt x="189829" y="4829"/>
                  </a:lnTo>
                  <a:lnTo>
                    <a:pt x="145202" y="18680"/>
                  </a:lnTo>
                  <a:lnTo>
                    <a:pt x="104817" y="40598"/>
                  </a:lnTo>
                  <a:lnTo>
                    <a:pt x="69632" y="69627"/>
                  </a:lnTo>
                  <a:lnTo>
                    <a:pt x="40602" y="104812"/>
                  </a:lnTo>
                  <a:lnTo>
                    <a:pt x="18682" y="145196"/>
                  </a:lnTo>
                  <a:lnTo>
                    <a:pt x="4829" y="189825"/>
                  </a:lnTo>
                  <a:lnTo>
                    <a:pt x="0" y="237744"/>
                  </a:lnTo>
                  <a:lnTo>
                    <a:pt x="4829" y="285662"/>
                  </a:lnTo>
                  <a:lnTo>
                    <a:pt x="18682" y="330291"/>
                  </a:lnTo>
                  <a:lnTo>
                    <a:pt x="40602" y="370675"/>
                  </a:lnTo>
                  <a:lnTo>
                    <a:pt x="69632" y="405860"/>
                  </a:lnTo>
                  <a:lnTo>
                    <a:pt x="104817" y="434889"/>
                  </a:lnTo>
                  <a:lnTo>
                    <a:pt x="145202" y="456807"/>
                  </a:lnTo>
                  <a:lnTo>
                    <a:pt x="189829" y="470658"/>
                  </a:lnTo>
                  <a:lnTo>
                    <a:pt x="237744" y="475488"/>
                  </a:lnTo>
                  <a:lnTo>
                    <a:pt x="285658" y="470658"/>
                  </a:lnTo>
                  <a:lnTo>
                    <a:pt x="330285" y="456807"/>
                  </a:lnTo>
                  <a:lnTo>
                    <a:pt x="370670" y="434889"/>
                  </a:lnTo>
                  <a:lnTo>
                    <a:pt x="405855" y="405860"/>
                  </a:lnTo>
                  <a:lnTo>
                    <a:pt x="434885" y="370675"/>
                  </a:lnTo>
                  <a:lnTo>
                    <a:pt x="456805" y="330291"/>
                  </a:lnTo>
                  <a:lnTo>
                    <a:pt x="470658" y="285662"/>
                  </a:lnTo>
                  <a:lnTo>
                    <a:pt x="475488" y="237744"/>
                  </a:lnTo>
                  <a:lnTo>
                    <a:pt x="470658" y="189825"/>
                  </a:lnTo>
                  <a:lnTo>
                    <a:pt x="456805" y="145196"/>
                  </a:lnTo>
                  <a:lnTo>
                    <a:pt x="434885" y="104812"/>
                  </a:lnTo>
                  <a:lnTo>
                    <a:pt x="405855" y="69627"/>
                  </a:lnTo>
                  <a:lnTo>
                    <a:pt x="370670" y="40598"/>
                  </a:lnTo>
                  <a:lnTo>
                    <a:pt x="330285" y="18680"/>
                  </a:lnTo>
                  <a:lnTo>
                    <a:pt x="285658" y="4829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121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84048" y="305409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237744"/>
                  </a:moveTo>
                  <a:lnTo>
                    <a:pt x="4829" y="189825"/>
                  </a:lnTo>
                  <a:lnTo>
                    <a:pt x="18682" y="145196"/>
                  </a:lnTo>
                  <a:lnTo>
                    <a:pt x="40602" y="104812"/>
                  </a:lnTo>
                  <a:lnTo>
                    <a:pt x="69632" y="69627"/>
                  </a:lnTo>
                  <a:lnTo>
                    <a:pt x="104817" y="40598"/>
                  </a:lnTo>
                  <a:lnTo>
                    <a:pt x="145202" y="18680"/>
                  </a:lnTo>
                  <a:lnTo>
                    <a:pt x="189829" y="4829"/>
                  </a:lnTo>
                  <a:lnTo>
                    <a:pt x="237744" y="0"/>
                  </a:lnTo>
                  <a:lnTo>
                    <a:pt x="285658" y="4829"/>
                  </a:lnTo>
                  <a:lnTo>
                    <a:pt x="330285" y="18680"/>
                  </a:lnTo>
                  <a:lnTo>
                    <a:pt x="370670" y="40598"/>
                  </a:lnTo>
                  <a:lnTo>
                    <a:pt x="405855" y="69627"/>
                  </a:lnTo>
                  <a:lnTo>
                    <a:pt x="434885" y="104812"/>
                  </a:lnTo>
                  <a:lnTo>
                    <a:pt x="456805" y="145196"/>
                  </a:lnTo>
                  <a:lnTo>
                    <a:pt x="470658" y="189825"/>
                  </a:lnTo>
                  <a:lnTo>
                    <a:pt x="475488" y="237744"/>
                  </a:lnTo>
                  <a:lnTo>
                    <a:pt x="470658" y="285662"/>
                  </a:lnTo>
                  <a:lnTo>
                    <a:pt x="456805" y="330291"/>
                  </a:lnTo>
                  <a:lnTo>
                    <a:pt x="434885" y="370675"/>
                  </a:lnTo>
                  <a:lnTo>
                    <a:pt x="405855" y="405860"/>
                  </a:lnTo>
                  <a:lnTo>
                    <a:pt x="370670" y="434889"/>
                  </a:lnTo>
                  <a:lnTo>
                    <a:pt x="330285" y="456807"/>
                  </a:lnTo>
                  <a:lnTo>
                    <a:pt x="285658" y="470658"/>
                  </a:lnTo>
                  <a:lnTo>
                    <a:pt x="237744" y="475488"/>
                  </a:lnTo>
                  <a:lnTo>
                    <a:pt x="189829" y="470658"/>
                  </a:lnTo>
                  <a:lnTo>
                    <a:pt x="145202" y="456807"/>
                  </a:lnTo>
                  <a:lnTo>
                    <a:pt x="104817" y="434889"/>
                  </a:lnTo>
                  <a:lnTo>
                    <a:pt x="69632" y="405860"/>
                  </a:lnTo>
                  <a:lnTo>
                    <a:pt x="40602" y="370675"/>
                  </a:lnTo>
                  <a:lnTo>
                    <a:pt x="18682" y="330291"/>
                  </a:lnTo>
                  <a:lnTo>
                    <a:pt x="4829" y="285662"/>
                  </a:lnTo>
                  <a:lnTo>
                    <a:pt x="0" y="237744"/>
                  </a:lnTo>
                  <a:close/>
                </a:path>
              </a:pathLst>
            </a:custGeom>
            <a:ln w="12700">
              <a:solidFill>
                <a:srgbClr val="FF6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6907" y="3076955"/>
              <a:ext cx="416052" cy="416051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330961" y="3109341"/>
            <a:ext cx="2680335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1345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6B00"/>
                </a:solidFill>
                <a:latin typeface="Trebuchet MS"/>
                <a:cs typeface="Trebuchet MS"/>
              </a:rPr>
              <a:t>Data</a:t>
            </a:r>
            <a:r>
              <a:rPr sz="1100" b="1" spc="-25" dirty="0">
                <a:solidFill>
                  <a:srgbClr val="FF6B00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FF6B00"/>
                </a:solidFill>
                <a:latin typeface="Trebuchet MS"/>
                <a:cs typeface="Trebuchet MS"/>
              </a:rPr>
              <a:t>Insights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100">
              <a:latin typeface="Trebuchet MS"/>
              <a:cs typeface="Trebuchet MS"/>
            </a:endParaRPr>
          </a:p>
          <a:p>
            <a:pPr marL="144145" marR="192405">
              <a:lnSpc>
                <a:spcPts val="1120"/>
              </a:lnSpc>
            </a:pPr>
            <a:r>
              <a:rPr sz="950" dirty="0">
                <a:solidFill>
                  <a:srgbClr val="E8E8EF"/>
                </a:solidFill>
                <a:latin typeface="Trebuchet MS"/>
                <a:cs typeface="Trebuchet MS"/>
              </a:rPr>
              <a:t>SHAP-style feature importance bars explain every prediction. Patient-vs-Population radar chart contextualises individual risk. Dynamic recommendations generated per risk level.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3144011" y="2878835"/>
            <a:ext cx="2910840" cy="1704339"/>
            <a:chOff x="3144011" y="2878835"/>
            <a:chExt cx="2910840" cy="1704339"/>
          </a:xfrm>
        </p:grpSpPr>
        <p:pic>
          <p:nvPicPr>
            <p:cNvPr id="53" name="object 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44011" y="2878835"/>
              <a:ext cx="2910840" cy="1703832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3246119" y="2944367"/>
              <a:ext cx="2743200" cy="1536700"/>
            </a:xfrm>
            <a:custGeom>
              <a:avLst/>
              <a:gdLst/>
              <a:ahLst/>
              <a:cxnLst/>
              <a:rect l="l" t="t" r="r" b="b"/>
              <a:pathLst>
                <a:path w="2743200" h="1536700">
                  <a:moveTo>
                    <a:pt x="2743200" y="0"/>
                  </a:moveTo>
                  <a:lnTo>
                    <a:pt x="0" y="0"/>
                  </a:lnTo>
                  <a:lnTo>
                    <a:pt x="0" y="1536192"/>
                  </a:lnTo>
                  <a:lnTo>
                    <a:pt x="2743200" y="1536192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246119" y="2944367"/>
              <a:ext cx="2743200" cy="1536700"/>
            </a:xfrm>
            <a:custGeom>
              <a:avLst/>
              <a:gdLst/>
              <a:ahLst/>
              <a:cxnLst/>
              <a:rect l="l" t="t" r="r" b="b"/>
              <a:pathLst>
                <a:path w="2743200" h="1536700">
                  <a:moveTo>
                    <a:pt x="0" y="1536192"/>
                  </a:moveTo>
                  <a:lnTo>
                    <a:pt x="2743200" y="1536192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536192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246119" y="2944367"/>
              <a:ext cx="50800" cy="1536700"/>
            </a:xfrm>
            <a:custGeom>
              <a:avLst/>
              <a:gdLst/>
              <a:ahLst/>
              <a:cxnLst/>
              <a:rect l="l" t="t" r="r" b="b"/>
              <a:pathLst>
                <a:path w="50800" h="1536700">
                  <a:moveTo>
                    <a:pt x="50292" y="0"/>
                  </a:moveTo>
                  <a:lnTo>
                    <a:pt x="0" y="0"/>
                  </a:lnTo>
                  <a:lnTo>
                    <a:pt x="0" y="1536192"/>
                  </a:lnTo>
                  <a:lnTo>
                    <a:pt x="50292" y="1536192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246119" y="2944367"/>
              <a:ext cx="50800" cy="1536700"/>
            </a:xfrm>
            <a:custGeom>
              <a:avLst/>
              <a:gdLst/>
              <a:ahLst/>
              <a:cxnLst/>
              <a:rect l="l" t="t" r="r" b="b"/>
              <a:pathLst>
                <a:path w="50800" h="1536700">
                  <a:moveTo>
                    <a:pt x="0" y="1536192"/>
                  </a:moveTo>
                  <a:lnTo>
                    <a:pt x="50292" y="1536192"/>
                  </a:lnTo>
                  <a:lnTo>
                    <a:pt x="50292" y="0"/>
                  </a:lnTo>
                  <a:lnTo>
                    <a:pt x="0" y="0"/>
                  </a:lnTo>
                  <a:lnTo>
                    <a:pt x="0" y="1536192"/>
                  </a:lnTo>
                  <a:close/>
                </a:path>
              </a:pathLst>
            </a:custGeom>
            <a:ln w="12700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355847" y="305409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4" h="475614">
                  <a:moveTo>
                    <a:pt x="237743" y="0"/>
                  </a:moveTo>
                  <a:lnTo>
                    <a:pt x="189825" y="4829"/>
                  </a:lnTo>
                  <a:lnTo>
                    <a:pt x="145196" y="18680"/>
                  </a:lnTo>
                  <a:lnTo>
                    <a:pt x="104812" y="40598"/>
                  </a:lnTo>
                  <a:lnTo>
                    <a:pt x="69627" y="69627"/>
                  </a:lnTo>
                  <a:lnTo>
                    <a:pt x="40598" y="104812"/>
                  </a:lnTo>
                  <a:lnTo>
                    <a:pt x="18680" y="145196"/>
                  </a:lnTo>
                  <a:lnTo>
                    <a:pt x="4829" y="189825"/>
                  </a:lnTo>
                  <a:lnTo>
                    <a:pt x="0" y="237744"/>
                  </a:lnTo>
                  <a:lnTo>
                    <a:pt x="4829" y="285662"/>
                  </a:lnTo>
                  <a:lnTo>
                    <a:pt x="18680" y="330291"/>
                  </a:lnTo>
                  <a:lnTo>
                    <a:pt x="40598" y="370675"/>
                  </a:lnTo>
                  <a:lnTo>
                    <a:pt x="69627" y="405860"/>
                  </a:lnTo>
                  <a:lnTo>
                    <a:pt x="104812" y="434889"/>
                  </a:lnTo>
                  <a:lnTo>
                    <a:pt x="145196" y="456807"/>
                  </a:lnTo>
                  <a:lnTo>
                    <a:pt x="189825" y="470658"/>
                  </a:lnTo>
                  <a:lnTo>
                    <a:pt x="237743" y="475488"/>
                  </a:lnTo>
                  <a:lnTo>
                    <a:pt x="285662" y="470658"/>
                  </a:lnTo>
                  <a:lnTo>
                    <a:pt x="330291" y="456807"/>
                  </a:lnTo>
                  <a:lnTo>
                    <a:pt x="370675" y="434889"/>
                  </a:lnTo>
                  <a:lnTo>
                    <a:pt x="405860" y="405860"/>
                  </a:lnTo>
                  <a:lnTo>
                    <a:pt x="434889" y="370675"/>
                  </a:lnTo>
                  <a:lnTo>
                    <a:pt x="456807" y="330291"/>
                  </a:lnTo>
                  <a:lnTo>
                    <a:pt x="470658" y="285662"/>
                  </a:lnTo>
                  <a:lnTo>
                    <a:pt x="475488" y="237744"/>
                  </a:lnTo>
                  <a:lnTo>
                    <a:pt x="470658" y="189825"/>
                  </a:lnTo>
                  <a:lnTo>
                    <a:pt x="456807" y="145196"/>
                  </a:lnTo>
                  <a:lnTo>
                    <a:pt x="434889" y="104812"/>
                  </a:lnTo>
                  <a:lnTo>
                    <a:pt x="405860" y="69627"/>
                  </a:lnTo>
                  <a:lnTo>
                    <a:pt x="370675" y="40598"/>
                  </a:lnTo>
                  <a:lnTo>
                    <a:pt x="330291" y="18680"/>
                  </a:lnTo>
                  <a:lnTo>
                    <a:pt x="285662" y="4829"/>
                  </a:lnTo>
                  <a:lnTo>
                    <a:pt x="237743" y="0"/>
                  </a:lnTo>
                  <a:close/>
                </a:path>
              </a:pathLst>
            </a:custGeom>
            <a:solidFill>
              <a:srgbClr val="121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355847" y="305409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4" h="475614">
                  <a:moveTo>
                    <a:pt x="0" y="237744"/>
                  </a:moveTo>
                  <a:lnTo>
                    <a:pt x="4829" y="189825"/>
                  </a:lnTo>
                  <a:lnTo>
                    <a:pt x="18680" y="145196"/>
                  </a:lnTo>
                  <a:lnTo>
                    <a:pt x="40598" y="104812"/>
                  </a:lnTo>
                  <a:lnTo>
                    <a:pt x="69627" y="69627"/>
                  </a:lnTo>
                  <a:lnTo>
                    <a:pt x="104812" y="40598"/>
                  </a:lnTo>
                  <a:lnTo>
                    <a:pt x="145196" y="18680"/>
                  </a:lnTo>
                  <a:lnTo>
                    <a:pt x="189825" y="4829"/>
                  </a:lnTo>
                  <a:lnTo>
                    <a:pt x="237743" y="0"/>
                  </a:lnTo>
                  <a:lnTo>
                    <a:pt x="285662" y="4829"/>
                  </a:lnTo>
                  <a:lnTo>
                    <a:pt x="330291" y="18680"/>
                  </a:lnTo>
                  <a:lnTo>
                    <a:pt x="370675" y="40598"/>
                  </a:lnTo>
                  <a:lnTo>
                    <a:pt x="405860" y="69627"/>
                  </a:lnTo>
                  <a:lnTo>
                    <a:pt x="434889" y="104812"/>
                  </a:lnTo>
                  <a:lnTo>
                    <a:pt x="456807" y="145196"/>
                  </a:lnTo>
                  <a:lnTo>
                    <a:pt x="470658" y="189825"/>
                  </a:lnTo>
                  <a:lnTo>
                    <a:pt x="475488" y="237744"/>
                  </a:lnTo>
                  <a:lnTo>
                    <a:pt x="470658" y="285662"/>
                  </a:lnTo>
                  <a:lnTo>
                    <a:pt x="456807" y="330291"/>
                  </a:lnTo>
                  <a:lnTo>
                    <a:pt x="434889" y="370675"/>
                  </a:lnTo>
                  <a:lnTo>
                    <a:pt x="405860" y="405860"/>
                  </a:lnTo>
                  <a:lnTo>
                    <a:pt x="370675" y="434889"/>
                  </a:lnTo>
                  <a:lnTo>
                    <a:pt x="330291" y="456807"/>
                  </a:lnTo>
                  <a:lnTo>
                    <a:pt x="285662" y="470658"/>
                  </a:lnTo>
                  <a:lnTo>
                    <a:pt x="237743" y="475488"/>
                  </a:lnTo>
                  <a:lnTo>
                    <a:pt x="189825" y="470658"/>
                  </a:lnTo>
                  <a:lnTo>
                    <a:pt x="145196" y="456807"/>
                  </a:lnTo>
                  <a:lnTo>
                    <a:pt x="104812" y="434889"/>
                  </a:lnTo>
                  <a:lnTo>
                    <a:pt x="69627" y="405860"/>
                  </a:lnTo>
                  <a:lnTo>
                    <a:pt x="40598" y="370675"/>
                  </a:lnTo>
                  <a:lnTo>
                    <a:pt x="18680" y="330291"/>
                  </a:lnTo>
                  <a:lnTo>
                    <a:pt x="4829" y="285662"/>
                  </a:lnTo>
                  <a:lnTo>
                    <a:pt x="0" y="237744"/>
                  </a:lnTo>
                  <a:close/>
                </a:path>
              </a:pathLst>
            </a:custGeom>
            <a:ln w="126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78707" y="3076955"/>
              <a:ext cx="416051" cy="416051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3302761" y="3109341"/>
            <a:ext cx="2680335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198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7B39EC"/>
                </a:solidFill>
                <a:latin typeface="Trebuchet MS"/>
                <a:cs typeface="Trebuchet MS"/>
              </a:rPr>
              <a:t>Cost</a:t>
            </a:r>
            <a:r>
              <a:rPr sz="1100" b="1" spc="-10" dirty="0">
                <a:solidFill>
                  <a:srgbClr val="7B39EC"/>
                </a:solidFill>
                <a:latin typeface="Trebuchet MS"/>
                <a:cs typeface="Trebuchet MS"/>
              </a:rPr>
              <a:t> Savings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100">
              <a:latin typeface="Trebuchet MS"/>
              <a:cs typeface="Trebuchet MS"/>
            </a:endParaRPr>
          </a:p>
          <a:p>
            <a:pPr marL="144780" marR="191770">
              <a:lnSpc>
                <a:spcPts val="1120"/>
              </a:lnSpc>
            </a:pPr>
            <a:r>
              <a:rPr sz="950" dirty="0">
                <a:solidFill>
                  <a:srgbClr val="E8E8EF"/>
                </a:solidFill>
                <a:latin typeface="Trebuchet MS"/>
                <a:cs typeface="Trebuchet MS"/>
              </a:rPr>
              <a:t>Preventive intervention vs. treatment: avg CVD hospitalisation costs $20,000+. Early detection and lifestyle change could reduce per-patient annual healthcare cost by 35–60%.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6115811" y="2878835"/>
            <a:ext cx="2910840" cy="1704339"/>
            <a:chOff x="6115811" y="2878835"/>
            <a:chExt cx="2910840" cy="1704339"/>
          </a:xfrm>
        </p:grpSpPr>
        <p:pic>
          <p:nvPicPr>
            <p:cNvPr id="63" name="object 6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15811" y="2878835"/>
              <a:ext cx="2910840" cy="1703832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6217919" y="2944367"/>
              <a:ext cx="2743200" cy="1536700"/>
            </a:xfrm>
            <a:custGeom>
              <a:avLst/>
              <a:gdLst/>
              <a:ahLst/>
              <a:cxnLst/>
              <a:rect l="l" t="t" r="r" b="b"/>
              <a:pathLst>
                <a:path w="2743200" h="1536700">
                  <a:moveTo>
                    <a:pt x="2743200" y="0"/>
                  </a:moveTo>
                  <a:lnTo>
                    <a:pt x="0" y="0"/>
                  </a:lnTo>
                  <a:lnTo>
                    <a:pt x="0" y="1536192"/>
                  </a:lnTo>
                  <a:lnTo>
                    <a:pt x="2743200" y="1536192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217919" y="2944367"/>
              <a:ext cx="2743200" cy="1536700"/>
            </a:xfrm>
            <a:custGeom>
              <a:avLst/>
              <a:gdLst/>
              <a:ahLst/>
              <a:cxnLst/>
              <a:rect l="l" t="t" r="r" b="b"/>
              <a:pathLst>
                <a:path w="2743200" h="1536700">
                  <a:moveTo>
                    <a:pt x="0" y="1536192"/>
                  </a:moveTo>
                  <a:lnTo>
                    <a:pt x="2743200" y="1536192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536192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217919" y="2944367"/>
              <a:ext cx="50800" cy="1536700"/>
            </a:xfrm>
            <a:custGeom>
              <a:avLst/>
              <a:gdLst/>
              <a:ahLst/>
              <a:cxnLst/>
              <a:rect l="l" t="t" r="r" b="b"/>
              <a:pathLst>
                <a:path w="50800" h="1536700">
                  <a:moveTo>
                    <a:pt x="50291" y="0"/>
                  </a:moveTo>
                  <a:lnTo>
                    <a:pt x="0" y="0"/>
                  </a:lnTo>
                  <a:lnTo>
                    <a:pt x="0" y="1536192"/>
                  </a:lnTo>
                  <a:lnTo>
                    <a:pt x="50291" y="1536192"/>
                  </a:lnTo>
                  <a:lnTo>
                    <a:pt x="50291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217919" y="2944367"/>
              <a:ext cx="50800" cy="1536700"/>
            </a:xfrm>
            <a:custGeom>
              <a:avLst/>
              <a:gdLst/>
              <a:ahLst/>
              <a:cxnLst/>
              <a:rect l="l" t="t" r="r" b="b"/>
              <a:pathLst>
                <a:path w="50800" h="1536700">
                  <a:moveTo>
                    <a:pt x="0" y="1536192"/>
                  </a:moveTo>
                  <a:lnTo>
                    <a:pt x="50291" y="1536192"/>
                  </a:lnTo>
                  <a:lnTo>
                    <a:pt x="50291" y="0"/>
                  </a:lnTo>
                  <a:lnTo>
                    <a:pt x="0" y="0"/>
                  </a:lnTo>
                  <a:lnTo>
                    <a:pt x="0" y="1536192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327647" y="305409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744" y="0"/>
                  </a:moveTo>
                  <a:lnTo>
                    <a:pt x="189825" y="4829"/>
                  </a:lnTo>
                  <a:lnTo>
                    <a:pt x="145196" y="18680"/>
                  </a:lnTo>
                  <a:lnTo>
                    <a:pt x="104812" y="40598"/>
                  </a:lnTo>
                  <a:lnTo>
                    <a:pt x="69627" y="69627"/>
                  </a:lnTo>
                  <a:lnTo>
                    <a:pt x="40598" y="104812"/>
                  </a:lnTo>
                  <a:lnTo>
                    <a:pt x="18680" y="145196"/>
                  </a:lnTo>
                  <a:lnTo>
                    <a:pt x="4829" y="189825"/>
                  </a:lnTo>
                  <a:lnTo>
                    <a:pt x="0" y="237744"/>
                  </a:lnTo>
                  <a:lnTo>
                    <a:pt x="4829" y="285662"/>
                  </a:lnTo>
                  <a:lnTo>
                    <a:pt x="18680" y="330291"/>
                  </a:lnTo>
                  <a:lnTo>
                    <a:pt x="40598" y="370675"/>
                  </a:lnTo>
                  <a:lnTo>
                    <a:pt x="69627" y="405860"/>
                  </a:lnTo>
                  <a:lnTo>
                    <a:pt x="104812" y="434889"/>
                  </a:lnTo>
                  <a:lnTo>
                    <a:pt x="145196" y="456807"/>
                  </a:lnTo>
                  <a:lnTo>
                    <a:pt x="189825" y="470658"/>
                  </a:lnTo>
                  <a:lnTo>
                    <a:pt x="237744" y="475488"/>
                  </a:lnTo>
                  <a:lnTo>
                    <a:pt x="285662" y="470658"/>
                  </a:lnTo>
                  <a:lnTo>
                    <a:pt x="330291" y="456807"/>
                  </a:lnTo>
                  <a:lnTo>
                    <a:pt x="370675" y="434889"/>
                  </a:lnTo>
                  <a:lnTo>
                    <a:pt x="405860" y="405860"/>
                  </a:lnTo>
                  <a:lnTo>
                    <a:pt x="434889" y="370675"/>
                  </a:lnTo>
                  <a:lnTo>
                    <a:pt x="456807" y="330291"/>
                  </a:lnTo>
                  <a:lnTo>
                    <a:pt x="470658" y="285662"/>
                  </a:lnTo>
                  <a:lnTo>
                    <a:pt x="475487" y="237744"/>
                  </a:lnTo>
                  <a:lnTo>
                    <a:pt x="470658" y="189825"/>
                  </a:lnTo>
                  <a:lnTo>
                    <a:pt x="456807" y="145196"/>
                  </a:lnTo>
                  <a:lnTo>
                    <a:pt x="434889" y="104812"/>
                  </a:lnTo>
                  <a:lnTo>
                    <a:pt x="405860" y="69627"/>
                  </a:lnTo>
                  <a:lnTo>
                    <a:pt x="370675" y="40598"/>
                  </a:lnTo>
                  <a:lnTo>
                    <a:pt x="330291" y="18680"/>
                  </a:lnTo>
                  <a:lnTo>
                    <a:pt x="285662" y="4829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121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327647" y="305409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237744"/>
                  </a:moveTo>
                  <a:lnTo>
                    <a:pt x="4829" y="189825"/>
                  </a:lnTo>
                  <a:lnTo>
                    <a:pt x="18680" y="145196"/>
                  </a:lnTo>
                  <a:lnTo>
                    <a:pt x="40598" y="104812"/>
                  </a:lnTo>
                  <a:lnTo>
                    <a:pt x="69627" y="69627"/>
                  </a:lnTo>
                  <a:lnTo>
                    <a:pt x="104812" y="40598"/>
                  </a:lnTo>
                  <a:lnTo>
                    <a:pt x="145196" y="18680"/>
                  </a:lnTo>
                  <a:lnTo>
                    <a:pt x="189825" y="4829"/>
                  </a:lnTo>
                  <a:lnTo>
                    <a:pt x="237744" y="0"/>
                  </a:lnTo>
                  <a:lnTo>
                    <a:pt x="285662" y="4829"/>
                  </a:lnTo>
                  <a:lnTo>
                    <a:pt x="330291" y="18680"/>
                  </a:lnTo>
                  <a:lnTo>
                    <a:pt x="370675" y="40598"/>
                  </a:lnTo>
                  <a:lnTo>
                    <a:pt x="405860" y="69627"/>
                  </a:lnTo>
                  <a:lnTo>
                    <a:pt x="434889" y="104812"/>
                  </a:lnTo>
                  <a:lnTo>
                    <a:pt x="456807" y="145196"/>
                  </a:lnTo>
                  <a:lnTo>
                    <a:pt x="470658" y="189825"/>
                  </a:lnTo>
                  <a:lnTo>
                    <a:pt x="475487" y="237744"/>
                  </a:lnTo>
                  <a:lnTo>
                    <a:pt x="470658" y="285662"/>
                  </a:lnTo>
                  <a:lnTo>
                    <a:pt x="456807" y="330291"/>
                  </a:lnTo>
                  <a:lnTo>
                    <a:pt x="434889" y="370675"/>
                  </a:lnTo>
                  <a:lnTo>
                    <a:pt x="405860" y="405860"/>
                  </a:lnTo>
                  <a:lnTo>
                    <a:pt x="370675" y="434889"/>
                  </a:lnTo>
                  <a:lnTo>
                    <a:pt x="330291" y="456807"/>
                  </a:lnTo>
                  <a:lnTo>
                    <a:pt x="285662" y="470658"/>
                  </a:lnTo>
                  <a:lnTo>
                    <a:pt x="237744" y="475488"/>
                  </a:lnTo>
                  <a:lnTo>
                    <a:pt x="189825" y="470658"/>
                  </a:lnTo>
                  <a:lnTo>
                    <a:pt x="145196" y="456807"/>
                  </a:lnTo>
                  <a:lnTo>
                    <a:pt x="104812" y="434889"/>
                  </a:lnTo>
                  <a:lnTo>
                    <a:pt x="69627" y="405860"/>
                  </a:lnTo>
                  <a:lnTo>
                    <a:pt x="40598" y="370675"/>
                  </a:lnTo>
                  <a:lnTo>
                    <a:pt x="18680" y="330291"/>
                  </a:lnTo>
                  <a:lnTo>
                    <a:pt x="4829" y="285662"/>
                  </a:lnTo>
                  <a:lnTo>
                    <a:pt x="0" y="237744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50507" y="3076955"/>
              <a:ext cx="416052" cy="416051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6274561" y="3109341"/>
            <a:ext cx="2680335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198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F5A622"/>
                </a:solidFill>
                <a:latin typeface="Trebuchet MS"/>
                <a:cs typeface="Trebuchet MS"/>
              </a:rPr>
              <a:t>Scalability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100">
              <a:latin typeface="Trebuchet MS"/>
              <a:cs typeface="Trebuchet MS"/>
            </a:endParaRPr>
          </a:p>
          <a:p>
            <a:pPr marL="144780" marR="191770">
              <a:lnSpc>
                <a:spcPts val="1120"/>
              </a:lnSpc>
            </a:pPr>
            <a:r>
              <a:rPr sz="950" dirty="0">
                <a:solidFill>
                  <a:srgbClr val="E8E8EF"/>
                </a:solidFill>
                <a:latin typeface="Trebuchet MS"/>
                <a:cs typeface="Trebuchet MS"/>
              </a:rPr>
              <a:t>REST API architecture (Flask + Gunicorn) deployable on Render/Railway/Heroku for free. Git LFS manages model files. Designed for horizontal scaling with load balancers.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72" name="object 7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9658" y="0"/>
            <a:ext cx="791997" cy="696595"/>
          </a:xfrm>
          <a:prstGeom prst="rect">
            <a:avLst/>
          </a:prstGeom>
        </p:spPr>
      </p:pic>
      <p:sp>
        <p:nvSpPr>
          <p:cNvPr id="73" name="object 7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PRAGATI</a:t>
            </a:r>
            <a:r>
              <a:rPr spc="30" dirty="0"/>
              <a:t> </a:t>
            </a:r>
            <a:r>
              <a:rPr dirty="0"/>
              <a:t>2026</a:t>
            </a:r>
            <a:r>
              <a:rPr spc="10" dirty="0"/>
              <a:t> </a:t>
            </a:r>
            <a:r>
              <a:rPr dirty="0"/>
              <a:t>—</a:t>
            </a:r>
            <a:r>
              <a:rPr spc="-10" dirty="0"/>
              <a:t> bengalithub.com/hackfest-</a:t>
            </a:r>
            <a:r>
              <a:rPr spc="-20" dirty="0"/>
              <a:t>2026</a:t>
            </a:r>
          </a:p>
        </p:txBody>
      </p:sp>
      <p:sp>
        <p:nvSpPr>
          <p:cNvPr id="74" name="object 7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884" y="179323"/>
            <a:ext cx="2318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PRAGATI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—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The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Bengal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Hack</a:t>
            </a:r>
            <a:r>
              <a:rPr sz="1000" b="1" spc="-1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Fest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2026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9718" y="186944"/>
            <a:ext cx="1415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787AA"/>
                </a:solidFill>
                <a:latin typeface="Trebuchet MS"/>
                <a:cs typeface="Trebuchet MS"/>
              </a:rPr>
              <a:t>Team: [Team Name]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1620" y="601726"/>
            <a:ext cx="343281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FFFFFF"/>
                </a:solidFill>
                <a:latin typeface="Trebuchet MS"/>
                <a:cs typeface="Trebuchet MS"/>
              </a:rPr>
              <a:t>ROI</a:t>
            </a:r>
            <a:r>
              <a:rPr sz="2600" b="1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sz="2600" b="1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dirty="0">
                <a:solidFill>
                  <a:srgbClr val="FFFFFF"/>
                </a:solidFill>
                <a:latin typeface="Trebuchet MS"/>
                <a:cs typeface="Trebuchet MS"/>
              </a:rPr>
              <a:t>Business</a:t>
            </a:r>
            <a:r>
              <a:rPr sz="26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Trebuchet MS"/>
                <a:cs typeface="Trebuchet MS"/>
              </a:rPr>
              <a:t>Impact</a:t>
            </a:r>
            <a:endParaRPr sz="26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6350" y="4977129"/>
            <a:ext cx="9156700" cy="172720"/>
            <a:chOff x="-6350" y="4977129"/>
            <a:chExt cx="9156700" cy="172720"/>
          </a:xfrm>
        </p:grpSpPr>
        <p:sp>
          <p:nvSpPr>
            <p:cNvPr id="6" name="object 6"/>
            <p:cNvSpPr/>
            <p:nvPr/>
          </p:nvSpPr>
          <p:spPr>
            <a:xfrm>
              <a:off x="0" y="4983479"/>
              <a:ext cx="9144000" cy="160020"/>
            </a:xfrm>
            <a:custGeom>
              <a:avLst/>
              <a:gdLst/>
              <a:ahLst/>
              <a:cxnLst/>
              <a:rect l="l" t="t" r="r" b="b"/>
              <a:pathLst>
                <a:path w="9144000" h="160020">
                  <a:moveTo>
                    <a:pt x="9144000" y="0"/>
                  </a:moveTo>
                  <a:lnTo>
                    <a:pt x="0" y="0"/>
                  </a:lnTo>
                  <a:lnTo>
                    <a:pt x="0" y="160020"/>
                  </a:lnTo>
                  <a:lnTo>
                    <a:pt x="9144000" y="1600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A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4983479"/>
              <a:ext cx="9144000" cy="160020"/>
            </a:xfrm>
            <a:custGeom>
              <a:avLst/>
              <a:gdLst/>
              <a:ahLst/>
              <a:cxnLst/>
              <a:rect l="l" t="t" r="r" b="b"/>
              <a:pathLst>
                <a:path w="9144000" h="160020">
                  <a:moveTo>
                    <a:pt x="0" y="160020"/>
                  </a:moveTo>
                  <a:lnTo>
                    <a:pt x="9144000" y="16002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60020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983479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914400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9144000" y="91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983479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9144"/>
                  </a:moveTo>
                  <a:lnTo>
                    <a:pt x="9144000" y="914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144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43255" y="1045210"/>
            <a:ext cx="2987040" cy="1390650"/>
            <a:chOff x="143255" y="1045210"/>
            <a:chExt cx="2987040" cy="139065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969" y="1045210"/>
              <a:ext cx="213867" cy="767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857" y="1045210"/>
              <a:ext cx="104140" cy="7670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3255" y="1094232"/>
              <a:ext cx="2987040" cy="134112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74320" y="1188719"/>
            <a:ext cx="2761615" cy="1115695"/>
          </a:xfrm>
          <a:prstGeom prst="rect">
            <a:avLst/>
          </a:prstGeom>
          <a:solidFill>
            <a:srgbClr val="1A1A2D"/>
          </a:solidFill>
          <a:ln w="19050">
            <a:solidFill>
              <a:srgbClr val="F5A622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35"/>
              </a:spcBef>
            </a:pPr>
            <a:r>
              <a:rPr sz="900" dirty="0">
                <a:solidFill>
                  <a:srgbClr val="8787AA"/>
                </a:solidFill>
                <a:latin typeface="Trebuchet MS"/>
                <a:cs typeface="Trebuchet MS"/>
              </a:rPr>
              <a:t>Cost</a:t>
            </a:r>
            <a:r>
              <a:rPr sz="900" spc="-20" dirty="0">
                <a:solidFill>
                  <a:srgbClr val="8787AA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8787AA"/>
                </a:solidFill>
                <a:latin typeface="Trebuchet MS"/>
                <a:cs typeface="Trebuchet MS"/>
              </a:rPr>
              <a:t>Reduction</a:t>
            </a:r>
            <a:endParaRPr sz="900">
              <a:latin typeface="Trebuchet MS"/>
              <a:cs typeface="Trebuchet MS"/>
            </a:endParaRPr>
          </a:p>
          <a:p>
            <a:pPr marL="635" algn="ctr">
              <a:lnSpc>
                <a:spcPct val="100000"/>
              </a:lnSpc>
              <a:spcBef>
                <a:spcPts val="610"/>
              </a:spcBef>
            </a:pPr>
            <a:r>
              <a:rPr sz="2600" b="1" dirty="0">
                <a:solidFill>
                  <a:srgbClr val="F5A622"/>
                </a:solidFill>
                <a:latin typeface="Trebuchet MS"/>
                <a:cs typeface="Trebuchet MS"/>
              </a:rPr>
              <a:t>35%</a:t>
            </a:r>
            <a:endParaRPr sz="26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sz="850" dirty="0">
                <a:solidFill>
                  <a:srgbClr val="E8E8EF"/>
                </a:solidFill>
                <a:latin typeface="Trebuchet MS"/>
                <a:cs typeface="Trebuchet MS"/>
              </a:rPr>
              <a:t>vs</a:t>
            </a:r>
            <a:r>
              <a:rPr sz="850" spc="-15" dirty="0">
                <a:solidFill>
                  <a:srgbClr val="E8E8EF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E8E8EF"/>
                </a:solidFill>
                <a:latin typeface="Trebuchet MS"/>
                <a:cs typeface="Trebuchet MS"/>
              </a:rPr>
              <a:t>current</a:t>
            </a:r>
            <a:r>
              <a:rPr sz="850" spc="-30" dirty="0">
                <a:solidFill>
                  <a:srgbClr val="E8E8EF"/>
                </a:solidFill>
                <a:latin typeface="Trebuchet MS"/>
                <a:cs typeface="Trebuchet MS"/>
              </a:rPr>
              <a:t> </a:t>
            </a:r>
            <a:r>
              <a:rPr sz="850" spc="-10" dirty="0">
                <a:solidFill>
                  <a:srgbClr val="E8E8EF"/>
                </a:solidFill>
                <a:latin typeface="Trebuchet MS"/>
                <a:cs typeface="Trebuchet MS"/>
              </a:rPr>
              <a:t>solution</a:t>
            </a:r>
            <a:endParaRPr sz="85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96767" y="1094232"/>
            <a:ext cx="2987039" cy="134112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227832" y="1188719"/>
            <a:ext cx="2761615" cy="1115695"/>
          </a:xfrm>
          <a:prstGeom prst="rect">
            <a:avLst/>
          </a:prstGeom>
          <a:solidFill>
            <a:srgbClr val="1A1A2D"/>
          </a:solidFill>
          <a:ln w="19050">
            <a:solidFill>
              <a:srgbClr val="00C7B4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35"/>
              </a:spcBef>
            </a:pPr>
            <a:r>
              <a:rPr sz="900" dirty="0">
                <a:solidFill>
                  <a:srgbClr val="8787AA"/>
                </a:solidFill>
                <a:latin typeface="Trebuchet MS"/>
                <a:cs typeface="Trebuchet MS"/>
              </a:rPr>
              <a:t>Time</a:t>
            </a:r>
            <a:r>
              <a:rPr sz="900" spc="-20" dirty="0">
                <a:solidFill>
                  <a:srgbClr val="8787AA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8787AA"/>
                </a:solidFill>
                <a:latin typeface="Trebuchet MS"/>
                <a:cs typeface="Trebuchet MS"/>
              </a:rPr>
              <a:t>Saved</a:t>
            </a:r>
            <a:endParaRPr sz="900">
              <a:latin typeface="Trebuchet MS"/>
              <a:cs typeface="Trebuchet MS"/>
            </a:endParaRPr>
          </a:p>
          <a:p>
            <a:pPr marL="1270" algn="ctr">
              <a:lnSpc>
                <a:spcPct val="100000"/>
              </a:lnSpc>
              <a:spcBef>
                <a:spcPts val="610"/>
              </a:spcBef>
            </a:pPr>
            <a:r>
              <a:rPr sz="2600" b="1" dirty="0">
                <a:solidFill>
                  <a:srgbClr val="00C7B4"/>
                </a:solidFill>
                <a:latin typeface="Trebuchet MS"/>
                <a:cs typeface="Trebuchet MS"/>
              </a:rPr>
              <a:t>3.2 hrs</a:t>
            </a:r>
            <a:endParaRPr sz="26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sz="850" dirty="0">
                <a:solidFill>
                  <a:srgbClr val="E8E8EF"/>
                </a:solidFill>
                <a:latin typeface="Trebuchet MS"/>
                <a:cs typeface="Trebuchet MS"/>
              </a:rPr>
              <a:t>per</a:t>
            </a:r>
            <a:r>
              <a:rPr sz="850" spc="-30" dirty="0">
                <a:solidFill>
                  <a:srgbClr val="E8E8EF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E8E8EF"/>
                </a:solidFill>
                <a:latin typeface="Trebuchet MS"/>
                <a:cs typeface="Trebuchet MS"/>
              </a:rPr>
              <a:t>user</a:t>
            </a:r>
            <a:r>
              <a:rPr sz="850" spc="-25" dirty="0">
                <a:solidFill>
                  <a:srgbClr val="E8E8EF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E8E8EF"/>
                </a:solidFill>
                <a:latin typeface="Trebuchet MS"/>
                <a:cs typeface="Trebuchet MS"/>
              </a:rPr>
              <a:t>per</a:t>
            </a:r>
            <a:r>
              <a:rPr sz="850" spc="-30" dirty="0">
                <a:solidFill>
                  <a:srgbClr val="E8E8EF"/>
                </a:solidFill>
                <a:latin typeface="Trebuchet MS"/>
                <a:cs typeface="Trebuchet MS"/>
              </a:rPr>
              <a:t> </a:t>
            </a:r>
            <a:r>
              <a:rPr sz="850" spc="-20" dirty="0">
                <a:solidFill>
                  <a:srgbClr val="E8E8EF"/>
                </a:solidFill>
                <a:latin typeface="Trebuchet MS"/>
                <a:cs typeface="Trebuchet MS"/>
              </a:rPr>
              <a:t>week</a:t>
            </a:r>
            <a:endParaRPr sz="850">
              <a:latin typeface="Trebuchet MS"/>
              <a:cs typeface="Trebuchet M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50279" y="1094232"/>
            <a:ext cx="2987039" cy="134112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6181344" y="1188719"/>
            <a:ext cx="2761615" cy="1115695"/>
          </a:xfrm>
          <a:prstGeom prst="rect">
            <a:avLst/>
          </a:prstGeom>
          <a:solidFill>
            <a:srgbClr val="1A1A2D"/>
          </a:solidFill>
          <a:ln w="19050">
            <a:solidFill>
              <a:srgbClr val="FF6B00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635"/>
              </a:spcBef>
            </a:pPr>
            <a:r>
              <a:rPr sz="900" dirty="0">
                <a:solidFill>
                  <a:srgbClr val="8787AA"/>
                </a:solidFill>
                <a:latin typeface="Trebuchet MS"/>
                <a:cs typeface="Trebuchet MS"/>
              </a:rPr>
              <a:t>Revenue</a:t>
            </a:r>
            <a:r>
              <a:rPr sz="900" spc="-55" dirty="0">
                <a:solidFill>
                  <a:srgbClr val="8787AA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8787AA"/>
                </a:solidFill>
                <a:latin typeface="Trebuchet MS"/>
                <a:cs typeface="Trebuchet MS"/>
              </a:rPr>
              <a:t>Potential</a:t>
            </a:r>
            <a:endParaRPr sz="900">
              <a:latin typeface="Trebuchet MS"/>
              <a:cs typeface="Trebuchet MS"/>
            </a:endParaRPr>
          </a:p>
          <a:p>
            <a:pPr marL="1905" algn="ctr">
              <a:lnSpc>
                <a:spcPct val="100000"/>
              </a:lnSpc>
              <a:spcBef>
                <a:spcPts val="610"/>
              </a:spcBef>
            </a:pPr>
            <a:r>
              <a:rPr sz="2600" b="1" dirty="0">
                <a:solidFill>
                  <a:srgbClr val="FF6B00"/>
                </a:solidFill>
                <a:latin typeface="Trebuchet MS"/>
                <a:cs typeface="Trebuchet MS"/>
              </a:rPr>
              <a:t>$4.8 M</a:t>
            </a:r>
            <a:endParaRPr sz="2600">
              <a:latin typeface="Trebuchet MS"/>
              <a:cs typeface="Trebuchet MS"/>
            </a:endParaRPr>
          </a:p>
          <a:p>
            <a:pPr marL="635" algn="ctr">
              <a:lnSpc>
                <a:spcPct val="100000"/>
              </a:lnSpc>
              <a:spcBef>
                <a:spcPts val="840"/>
              </a:spcBef>
            </a:pPr>
            <a:r>
              <a:rPr sz="850" spc="-10" dirty="0">
                <a:solidFill>
                  <a:srgbClr val="E8E8EF"/>
                </a:solidFill>
                <a:latin typeface="Trebuchet MS"/>
                <a:cs typeface="Trebuchet MS"/>
              </a:rPr>
              <a:t>projected</a:t>
            </a:r>
            <a:r>
              <a:rPr sz="850" spc="-20" dirty="0">
                <a:solidFill>
                  <a:srgbClr val="E8E8EF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E8E8EF"/>
                </a:solidFill>
                <a:latin typeface="Trebuchet MS"/>
                <a:cs typeface="Trebuchet MS"/>
              </a:rPr>
              <a:t>Year</a:t>
            </a:r>
            <a:r>
              <a:rPr sz="850" spc="15" dirty="0">
                <a:solidFill>
                  <a:srgbClr val="E8E8EF"/>
                </a:solidFill>
                <a:latin typeface="Trebuchet MS"/>
                <a:cs typeface="Trebuchet MS"/>
              </a:rPr>
              <a:t> </a:t>
            </a:r>
            <a:r>
              <a:rPr sz="850" spc="-50" dirty="0">
                <a:solidFill>
                  <a:srgbClr val="E8E8EF"/>
                </a:solidFill>
                <a:latin typeface="Trebuchet MS"/>
                <a:cs typeface="Trebuchet MS"/>
              </a:rPr>
              <a:t>1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67970" y="2480817"/>
            <a:ext cx="5224780" cy="2189480"/>
            <a:chOff x="267970" y="2480817"/>
            <a:chExt cx="5224780" cy="2189480"/>
          </a:xfrm>
        </p:grpSpPr>
        <p:sp>
          <p:nvSpPr>
            <p:cNvPr id="20" name="object 20"/>
            <p:cNvSpPr/>
            <p:nvPr/>
          </p:nvSpPr>
          <p:spPr>
            <a:xfrm>
              <a:off x="274320" y="2551175"/>
              <a:ext cx="5212080" cy="2112645"/>
            </a:xfrm>
            <a:custGeom>
              <a:avLst/>
              <a:gdLst/>
              <a:ahLst/>
              <a:cxnLst/>
              <a:rect l="l" t="t" r="r" b="b"/>
              <a:pathLst>
                <a:path w="5212080" h="2112645">
                  <a:moveTo>
                    <a:pt x="0" y="2112264"/>
                  </a:moveTo>
                  <a:lnTo>
                    <a:pt x="5212080" y="2112264"/>
                  </a:lnTo>
                  <a:lnTo>
                    <a:pt x="5212080" y="0"/>
                  </a:lnTo>
                  <a:lnTo>
                    <a:pt x="0" y="0"/>
                  </a:lnTo>
                  <a:lnTo>
                    <a:pt x="0" y="2112264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4320" y="2487167"/>
              <a:ext cx="5212080" cy="2176780"/>
            </a:xfrm>
            <a:custGeom>
              <a:avLst/>
              <a:gdLst/>
              <a:ahLst/>
              <a:cxnLst/>
              <a:rect l="l" t="t" r="r" b="b"/>
              <a:pathLst>
                <a:path w="5212080" h="2176779">
                  <a:moveTo>
                    <a:pt x="0" y="2176272"/>
                  </a:moveTo>
                  <a:lnTo>
                    <a:pt x="5212080" y="2176272"/>
                  </a:lnTo>
                  <a:lnTo>
                    <a:pt x="5212080" y="0"/>
                  </a:lnTo>
                  <a:lnTo>
                    <a:pt x="0" y="0"/>
                  </a:lnTo>
                  <a:lnTo>
                    <a:pt x="0" y="2176272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4320" y="2487167"/>
              <a:ext cx="5212080" cy="64135"/>
            </a:xfrm>
            <a:custGeom>
              <a:avLst/>
              <a:gdLst/>
              <a:ahLst/>
              <a:cxnLst/>
              <a:rect l="l" t="t" r="r" b="b"/>
              <a:pathLst>
                <a:path w="5212080" h="64135">
                  <a:moveTo>
                    <a:pt x="5212080" y="0"/>
                  </a:moveTo>
                  <a:lnTo>
                    <a:pt x="0" y="0"/>
                  </a:lnTo>
                  <a:lnTo>
                    <a:pt x="0" y="64007"/>
                  </a:lnTo>
                  <a:lnTo>
                    <a:pt x="5212080" y="64007"/>
                  </a:lnTo>
                  <a:lnTo>
                    <a:pt x="5212080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4320" y="2487167"/>
              <a:ext cx="5212080" cy="64135"/>
            </a:xfrm>
            <a:custGeom>
              <a:avLst/>
              <a:gdLst/>
              <a:ahLst/>
              <a:cxnLst/>
              <a:rect l="l" t="t" r="r" b="b"/>
              <a:pathLst>
                <a:path w="5212080" h="64135">
                  <a:moveTo>
                    <a:pt x="0" y="64007"/>
                  </a:moveTo>
                  <a:lnTo>
                    <a:pt x="5212080" y="64007"/>
                  </a:lnTo>
                  <a:lnTo>
                    <a:pt x="5212080" y="0"/>
                  </a:lnTo>
                  <a:lnTo>
                    <a:pt x="0" y="0"/>
                  </a:lnTo>
                  <a:lnTo>
                    <a:pt x="0" y="64007"/>
                  </a:lnTo>
                  <a:close/>
                </a:path>
              </a:pathLst>
            </a:custGeom>
            <a:ln w="12699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80670" y="3106292"/>
            <a:ext cx="5199380" cy="807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8787AA"/>
                </a:solidFill>
                <a:latin typeface="Trebuchet MS"/>
                <a:cs typeface="Trebuchet MS"/>
              </a:rPr>
              <a:t>Projected User Growth: 10K (Pilot) → 500K (Yr1) → 5M (Yr3)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850" dirty="0">
                <a:solidFill>
                  <a:srgbClr val="8787AA"/>
                </a:solidFill>
                <a:latin typeface="Trebuchet MS"/>
                <a:cs typeface="Trebuchet MS"/>
              </a:rPr>
              <a:t>Year 1: $4.8M ARR via B2B SaaS · Year 2: $18M · Year 3: $52M (5M users × $10/mo enterprise tier)</a:t>
            </a:r>
            <a:endParaRPr sz="850">
              <a:latin typeface="Trebuchet MS"/>
              <a:cs typeface="Trebuchet MS"/>
            </a:endParaRPr>
          </a:p>
        </p:txBody>
      </p:sp>
      <p:pic>
        <p:nvPicPr>
          <p:cNvPr id="25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68879" y="2551176"/>
            <a:ext cx="347471" cy="347472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5541264" y="2395727"/>
            <a:ext cx="3420110" cy="2395855"/>
            <a:chOff x="5541264" y="2395727"/>
            <a:chExt cx="3420110" cy="2395855"/>
          </a:xfrm>
        </p:grpSpPr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41264" y="2395727"/>
              <a:ext cx="3419855" cy="239572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669280" y="2487167"/>
              <a:ext cx="3200400" cy="2176780"/>
            </a:xfrm>
            <a:custGeom>
              <a:avLst/>
              <a:gdLst/>
              <a:ahLst/>
              <a:cxnLst/>
              <a:rect l="l" t="t" r="r" b="b"/>
              <a:pathLst>
                <a:path w="3200400" h="2176779">
                  <a:moveTo>
                    <a:pt x="3200400" y="0"/>
                  </a:moveTo>
                  <a:lnTo>
                    <a:pt x="0" y="0"/>
                  </a:lnTo>
                  <a:lnTo>
                    <a:pt x="0" y="2176272"/>
                  </a:lnTo>
                  <a:lnTo>
                    <a:pt x="3200400" y="2176272"/>
                  </a:lnTo>
                  <a:lnTo>
                    <a:pt x="3200400" y="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69280" y="2487167"/>
              <a:ext cx="3200400" cy="2176780"/>
            </a:xfrm>
            <a:custGeom>
              <a:avLst/>
              <a:gdLst/>
              <a:ahLst/>
              <a:cxnLst/>
              <a:rect l="l" t="t" r="r" b="b"/>
              <a:pathLst>
                <a:path w="3200400" h="2176779">
                  <a:moveTo>
                    <a:pt x="0" y="2176272"/>
                  </a:moveTo>
                  <a:lnTo>
                    <a:pt x="3200400" y="2176272"/>
                  </a:lnTo>
                  <a:lnTo>
                    <a:pt x="3200400" y="0"/>
                  </a:lnTo>
                  <a:lnTo>
                    <a:pt x="0" y="0"/>
                  </a:lnTo>
                  <a:lnTo>
                    <a:pt x="0" y="2176272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669280" y="2487167"/>
              <a:ext cx="50800" cy="2176780"/>
            </a:xfrm>
            <a:custGeom>
              <a:avLst/>
              <a:gdLst/>
              <a:ahLst/>
              <a:cxnLst/>
              <a:rect l="l" t="t" r="r" b="b"/>
              <a:pathLst>
                <a:path w="50800" h="2176779">
                  <a:moveTo>
                    <a:pt x="50291" y="0"/>
                  </a:moveTo>
                  <a:lnTo>
                    <a:pt x="0" y="0"/>
                  </a:lnTo>
                  <a:lnTo>
                    <a:pt x="0" y="2176272"/>
                  </a:lnTo>
                  <a:lnTo>
                    <a:pt x="50291" y="2176272"/>
                  </a:lnTo>
                  <a:lnTo>
                    <a:pt x="50291" y="0"/>
                  </a:lnTo>
                  <a:close/>
                </a:path>
              </a:pathLst>
            </a:custGeom>
            <a:solidFill>
              <a:srgbClr val="00C7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669280" y="2487167"/>
              <a:ext cx="50800" cy="2176780"/>
            </a:xfrm>
            <a:custGeom>
              <a:avLst/>
              <a:gdLst/>
              <a:ahLst/>
              <a:cxnLst/>
              <a:rect l="l" t="t" r="r" b="b"/>
              <a:pathLst>
                <a:path w="50800" h="2176779">
                  <a:moveTo>
                    <a:pt x="0" y="2176272"/>
                  </a:moveTo>
                  <a:lnTo>
                    <a:pt x="50291" y="2176272"/>
                  </a:lnTo>
                  <a:lnTo>
                    <a:pt x="50291" y="0"/>
                  </a:lnTo>
                  <a:lnTo>
                    <a:pt x="0" y="0"/>
                  </a:lnTo>
                  <a:lnTo>
                    <a:pt x="0" y="2176272"/>
                  </a:lnTo>
                  <a:close/>
                </a:path>
              </a:pathLst>
            </a:custGeom>
            <a:ln w="12700">
              <a:solidFill>
                <a:srgbClr val="00C7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853048" y="2588768"/>
            <a:ext cx="146177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50" b="1" dirty="0">
                <a:solidFill>
                  <a:srgbClr val="00C7B4"/>
                </a:solidFill>
                <a:latin typeface="Trebuchet MS"/>
                <a:cs typeface="Trebuchet MS"/>
              </a:rPr>
              <a:t>Business</a:t>
            </a:r>
            <a:r>
              <a:rPr sz="950" b="1" spc="-30" dirty="0">
                <a:solidFill>
                  <a:srgbClr val="00C7B4"/>
                </a:solidFill>
                <a:latin typeface="Trebuchet MS"/>
                <a:cs typeface="Trebuchet MS"/>
              </a:rPr>
              <a:t> </a:t>
            </a:r>
            <a:r>
              <a:rPr sz="950" b="1" dirty="0">
                <a:solidFill>
                  <a:srgbClr val="00C7B4"/>
                </a:solidFill>
                <a:latin typeface="Trebuchet MS"/>
                <a:cs typeface="Trebuchet MS"/>
              </a:rPr>
              <a:t>Impact</a:t>
            </a:r>
            <a:r>
              <a:rPr sz="950" b="1" spc="-45" dirty="0">
                <a:solidFill>
                  <a:srgbClr val="00C7B4"/>
                </a:solidFill>
                <a:latin typeface="Trebuchet MS"/>
                <a:cs typeface="Trebuchet MS"/>
              </a:rPr>
              <a:t> </a:t>
            </a:r>
            <a:r>
              <a:rPr sz="950" b="1" spc="-10" dirty="0">
                <a:solidFill>
                  <a:srgbClr val="00C7B4"/>
                </a:solidFill>
                <a:latin typeface="Trebuchet MS"/>
                <a:cs typeface="Trebuchet MS"/>
              </a:rPr>
              <a:t>Summary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944489" y="3438525"/>
            <a:ext cx="225425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95"/>
              </a:spcBef>
              <a:buChar char="•"/>
              <a:tabLst>
                <a:tab pos="342265" algn="l"/>
              </a:tabLst>
            </a:pPr>
            <a:r>
              <a:rPr sz="1000" dirty="0">
                <a:solidFill>
                  <a:srgbClr val="E8E8EF"/>
                </a:solidFill>
                <a:latin typeface="Trebuchet MS"/>
                <a:cs typeface="Trebuchet MS"/>
              </a:rPr>
              <a:t>B2B SaaS: hospital / clinic subscription at $500/month per 1,000 patients managed</a:t>
            </a:r>
            <a:endParaRPr sz="1000">
              <a:latin typeface="Trebuchet MS"/>
              <a:cs typeface="Trebuchet MS"/>
            </a:endParaRPr>
          </a:p>
          <a:p>
            <a:pPr marL="342265" indent="-342265">
              <a:lnSpc>
                <a:spcPct val="100000"/>
              </a:lnSpc>
              <a:buChar char="•"/>
              <a:tabLst>
                <a:tab pos="342265" algn="l"/>
              </a:tabLst>
            </a:pPr>
            <a:r>
              <a:rPr sz="1000" dirty="0">
                <a:solidFill>
                  <a:srgbClr val="E8E8EF"/>
                </a:solidFill>
                <a:latin typeface="Trebuchet MS"/>
                <a:cs typeface="Trebuchet MS"/>
              </a:rPr>
              <a:t>Wearable OEM integration: white-label API licensing to Fitbit, Apple Health, Garmin ecosystem</a:t>
            </a:r>
            <a:endParaRPr sz="1000">
              <a:latin typeface="Trebuchet MS"/>
              <a:cs typeface="Trebuchet MS"/>
            </a:endParaRPr>
          </a:p>
          <a:p>
            <a:pPr marL="342265" indent="-342265">
              <a:lnSpc>
                <a:spcPct val="100000"/>
              </a:lnSpc>
              <a:buChar char="•"/>
              <a:tabLst>
                <a:tab pos="342265" algn="l"/>
              </a:tabLst>
            </a:pPr>
            <a:r>
              <a:rPr sz="1000" dirty="0">
                <a:solidFill>
                  <a:srgbClr val="E8E8EF"/>
                </a:solidFill>
                <a:latin typeface="Trebuchet MS"/>
                <a:cs typeface="Trebuchet MS"/>
              </a:rPr>
              <a:t>Population health data platform: de-identified aggregate insights sold to pharma R&amp;D and insurers</a:t>
            </a:r>
            <a:endParaRPr sz="1000">
              <a:latin typeface="Trebuchet MS"/>
              <a:cs typeface="Trebuchet MS"/>
            </a:endParaRPr>
          </a:p>
        </p:txBody>
      </p:sp>
      <p:pic>
        <p:nvPicPr>
          <p:cNvPr id="34" name="object 3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658" y="0"/>
            <a:ext cx="791997" cy="696595"/>
          </a:xfrm>
          <a:prstGeom prst="rect">
            <a:avLst/>
          </a:prstGeom>
        </p:spPr>
      </p:pic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PRAGATI</a:t>
            </a:r>
            <a:r>
              <a:rPr spc="30" dirty="0"/>
              <a:t> </a:t>
            </a:r>
            <a:r>
              <a:rPr dirty="0"/>
              <a:t>2026</a:t>
            </a:r>
            <a:r>
              <a:rPr spc="10" dirty="0"/>
              <a:t> </a:t>
            </a:r>
            <a:r>
              <a:rPr dirty="0"/>
              <a:t>—</a:t>
            </a:r>
            <a:r>
              <a:rPr spc="-10" dirty="0"/>
              <a:t> bengalithub.com/hackfest-</a:t>
            </a:r>
            <a:r>
              <a:rPr spc="-20" dirty="0"/>
              <a:t>2026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5156200"/>
            <a:chOff x="-6350" y="-6350"/>
            <a:chExt cx="9156700" cy="5156200"/>
          </a:xfrm>
        </p:grpSpPr>
        <p:sp>
          <p:nvSpPr>
            <p:cNvPr id="3" name="object 3"/>
            <p:cNvSpPr/>
            <p:nvPr/>
          </p:nvSpPr>
          <p:spPr>
            <a:xfrm>
              <a:off x="54864" y="548640"/>
              <a:ext cx="9089390" cy="4434840"/>
            </a:xfrm>
            <a:custGeom>
              <a:avLst/>
              <a:gdLst/>
              <a:ahLst/>
              <a:cxnLst/>
              <a:rect l="l" t="t" r="r" b="b"/>
              <a:pathLst>
                <a:path w="9089390" h="4434840">
                  <a:moveTo>
                    <a:pt x="0" y="4434840"/>
                  </a:moveTo>
                  <a:lnTo>
                    <a:pt x="9089135" y="4434840"/>
                  </a:lnTo>
                  <a:lnTo>
                    <a:pt x="9089135" y="0"/>
                  </a:lnTo>
                  <a:lnTo>
                    <a:pt x="0" y="0"/>
                  </a:lnTo>
                  <a:lnTo>
                    <a:pt x="0" y="4434840"/>
                  </a:lnTo>
                  <a:close/>
                </a:path>
              </a:pathLst>
            </a:custGeom>
            <a:solidFill>
              <a:srgbClr val="121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548640"/>
              <a:ext cx="55244" cy="4434840"/>
            </a:xfrm>
            <a:custGeom>
              <a:avLst/>
              <a:gdLst/>
              <a:ahLst/>
              <a:cxnLst/>
              <a:rect l="l" t="t" r="r" b="b"/>
              <a:pathLst>
                <a:path w="55244" h="4434840">
                  <a:moveTo>
                    <a:pt x="0" y="4434840"/>
                  </a:moveTo>
                  <a:lnTo>
                    <a:pt x="54864" y="4434840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443484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55244" cy="5143500"/>
            </a:xfrm>
            <a:custGeom>
              <a:avLst/>
              <a:gdLst/>
              <a:ahLst/>
              <a:cxnLst/>
              <a:rect l="l" t="t" r="r" b="b"/>
              <a:pathLst>
                <a:path w="55244" h="5143500">
                  <a:moveTo>
                    <a:pt x="0" y="5143500"/>
                  </a:moveTo>
                  <a:lnTo>
                    <a:pt x="54864" y="5143500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864" y="0"/>
              <a:ext cx="9089390" cy="548640"/>
            </a:xfrm>
            <a:custGeom>
              <a:avLst/>
              <a:gdLst/>
              <a:ahLst/>
              <a:cxnLst/>
              <a:rect l="l" t="t" r="r" b="b"/>
              <a:pathLst>
                <a:path w="9089390" h="548640">
                  <a:moveTo>
                    <a:pt x="0" y="548639"/>
                  </a:moveTo>
                  <a:lnTo>
                    <a:pt x="9089136" y="548639"/>
                  </a:lnTo>
                  <a:lnTo>
                    <a:pt x="9089136" y="0"/>
                  </a:lnTo>
                  <a:lnTo>
                    <a:pt x="0" y="0"/>
                  </a:lnTo>
                  <a:lnTo>
                    <a:pt x="0" y="548639"/>
                  </a:lnTo>
                  <a:close/>
                </a:path>
              </a:pathLst>
            </a:custGeom>
            <a:solidFill>
              <a:srgbClr val="0909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0"/>
              <a:ext cx="9144000" cy="548640"/>
            </a:xfrm>
            <a:custGeom>
              <a:avLst/>
              <a:gdLst/>
              <a:ahLst/>
              <a:cxnLst/>
              <a:rect l="l" t="t" r="r" b="b"/>
              <a:pathLst>
                <a:path w="9144000" h="548640">
                  <a:moveTo>
                    <a:pt x="0" y="548639"/>
                  </a:moveTo>
                  <a:lnTo>
                    <a:pt x="9144000" y="54863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48639"/>
                  </a:lnTo>
                  <a:close/>
                </a:path>
              </a:pathLst>
            </a:custGeom>
            <a:ln w="12700">
              <a:solidFill>
                <a:srgbClr val="0909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0"/>
              <a:ext cx="55244" cy="548640"/>
            </a:xfrm>
            <a:custGeom>
              <a:avLst/>
              <a:gdLst/>
              <a:ahLst/>
              <a:cxnLst/>
              <a:rect l="l" t="t" r="r" b="b"/>
              <a:pathLst>
                <a:path w="55244" h="548640">
                  <a:moveTo>
                    <a:pt x="54864" y="0"/>
                  </a:moveTo>
                  <a:lnTo>
                    <a:pt x="0" y="0"/>
                  </a:lnTo>
                  <a:lnTo>
                    <a:pt x="0" y="548639"/>
                  </a:lnTo>
                  <a:lnTo>
                    <a:pt x="54864" y="548639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0"/>
              <a:ext cx="55244" cy="548640"/>
            </a:xfrm>
            <a:custGeom>
              <a:avLst/>
              <a:gdLst/>
              <a:ahLst/>
              <a:cxnLst/>
              <a:rect l="l" t="t" r="r" b="b"/>
              <a:pathLst>
                <a:path w="55244" h="548640">
                  <a:moveTo>
                    <a:pt x="0" y="548639"/>
                  </a:moveTo>
                  <a:lnTo>
                    <a:pt x="54864" y="548639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548639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84884" y="179323"/>
            <a:ext cx="2318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PRAGATI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—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The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Bengal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Hack</a:t>
            </a:r>
            <a:r>
              <a:rPr sz="1000" b="1" spc="-10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5A622"/>
                </a:solidFill>
                <a:latin typeface="Trebuchet MS"/>
                <a:cs typeface="Trebuchet MS"/>
              </a:rPr>
              <a:t>Fest</a:t>
            </a:r>
            <a:r>
              <a:rPr sz="1000" b="1" spc="-35" dirty="0">
                <a:solidFill>
                  <a:srgbClr val="F5A622"/>
                </a:solidFill>
                <a:latin typeface="Trebuchet MS"/>
                <a:cs typeface="Trebuchet MS"/>
              </a:rPr>
              <a:t> </a:t>
            </a:r>
            <a:r>
              <a:rPr sz="1000" b="1" spc="-20" dirty="0">
                <a:solidFill>
                  <a:srgbClr val="F5A622"/>
                </a:solidFill>
                <a:latin typeface="Trebuchet MS"/>
                <a:cs typeface="Trebuchet MS"/>
              </a:rPr>
              <a:t>2026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49718" y="186944"/>
            <a:ext cx="1415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787AA"/>
                </a:solidFill>
                <a:latin typeface="Trebuchet MS"/>
                <a:cs typeface="Trebuchet MS"/>
              </a:rPr>
              <a:t>Team: [Team Name]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-6350" y="1273810"/>
            <a:ext cx="9156700" cy="3876040"/>
            <a:chOff x="-6350" y="1273810"/>
            <a:chExt cx="9156700" cy="3876040"/>
          </a:xfrm>
        </p:grpSpPr>
        <p:sp>
          <p:nvSpPr>
            <p:cNvPr id="13" name="object 13"/>
            <p:cNvSpPr/>
            <p:nvPr/>
          </p:nvSpPr>
          <p:spPr>
            <a:xfrm>
              <a:off x="0" y="4983480"/>
              <a:ext cx="9144000" cy="160020"/>
            </a:xfrm>
            <a:custGeom>
              <a:avLst/>
              <a:gdLst/>
              <a:ahLst/>
              <a:cxnLst/>
              <a:rect l="l" t="t" r="r" b="b"/>
              <a:pathLst>
                <a:path w="9144000" h="160020">
                  <a:moveTo>
                    <a:pt x="9144000" y="0"/>
                  </a:moveTo>
                  <a:lnTo>
                    <a:pt x="0" y="0"/>
                  </a:lnTo>
                  <a:lnTo>
                    <a:pt x="0" y="160020"/>
                  </a:lnTo>
                  <a:lnTo>
                    <a:pt x="9144000" y="1600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A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4983480"/>
              <a:ext cx="9144000" cy="160020"/>
            </a:xfrm>
            <a:custGeom>
              <a:avLst/>
              <a:gdLst/>
              <a:ahLst/>
              <a:cxnLst/>
              <a:rect l="l" t="t" r="r" b="b"/>
              <a:pathLst>
                <a:path w="9144000" h="160020">
                  <a:moveTo>
                    <a:pt x="0" y="160020"/>
                  </a:moveTo>
                  <a:lnTo>
                    <a:pt x="9144000" y="16002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60020"/>
                  </a:lnTo>
                  <a:close/>
                </a:path>
              </a:pathLst>
            </a:custGeom>
            <a:ln w="1270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498348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914400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9144000" y="91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498348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9144"/>
                  </a:moveTo>
                  <a:lnTo>
                    <a:pt x="9144000" y="914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144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1329" y="1273810"/>
              <a:ext cx="149860" cy="1498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74209" y="1273810"/>
              <a:ext cx="85851" cy="14986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65759" y="1508760"/>
              <a:ext cx="8412480" cy="548640"/>
            </a:xfrm>
            <a:custGeom>
              <a:avLst/>
              <a:gdLst/>
              <a:ahLst/>
              <a:cxnLst/>
              <a:rect l="l" t="t" r="r" b="b"/>
              <a:pathLst>
                <a:path w="8412480" h="548639">
                  <a:moveTo>
                    <a:pt x="8412480" y="0"/>
                  </a:moveTo>
                  <a:lnTo>
                    <a:pt x="0" y="0"/>
                  </a:lnTo>
                  <a:lnTo>
                    <a:pt x="0" y="548639"/>
                  </a:lnTo>
                  <a:lnTo>
                    <a:pt x="8412480" y="548639"/>
                  </a:lnTo>
                  <a:lnTo>
                    <a:pt x="8412480" y="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5759" y="1508760"/>
              <a:ext cx="8412480" cy="548640"/>
            </a:xfrm>
            <a:custGeom>
              <a:avLst/>
              <a:gdLst/>
              <a:ahLst/>
              <a:cxnLst/>
              <a:rect l="l" t="t" r="r" b="b"/>
              <a:pathLst>
                <a:path w="8412480" h="548639">
                  <a:moveTo>
                    <a:pt x="0" y="548639"/>
                  </a:moveTo>
                  <a:lnTo>
                    <a:pt x="8412480" y="548639"/>
                  </a:lnTo>
                  <a:lnTo>
                    <a:pt x="8412480" y="0"/>
                  </a:lnTo>
                  <a:lnTo>
                    <a:pt x="0" y="0"/>
                  </a:lnTo>
                  <a:lnTo>
                    <a:pt x="0" y="548639"/>
                  </a:lnTo>
                  <a:close/>
                </a:path>
              </a:pathLst>
            </a:custGeom>
            <a:ln w="1016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5759" y="1508760"/>
              <a:ext cx="50800" cy="548640"/>
            </a:xfrm>
            <a:custGeom>
              <a:avLst/>
              <a:gdLst/>
              <a:ahLst/>
              <a:cxnLst/>
              <a:rect l="l" t="t" r="r" b="b"/>
              <a:pathLst>
                <a:path w="50800" h="548639">
                  <a:moveTo>
                    <a:pt x="50291" y="0"/>
                  </a:moveTo>
                  <a:lnTo>
                    <a:pt x="0" y="0"/>
                  </a:lnTo>
                  <a:lnTo>
                    <a:pt x="0" y="548639"/>
                  </a:lnTo>
                  <a:lnTo>
                    <a:pt x="50291" y="548639"/>
                  </a:lnTo>
                  <a:lnTo>
                    <a:pt x="50291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5759" y="1508760"/>
              <a:ext cx="50800" cy="548640"/>
            </a:xfrm>
            <a:custGeom>
              <a:avLst/>
              <a:gdLst/>
              <a:ahLst/>
              <a:cxnLst/>
              <a:rect l="l" t="t" r="r" b="b"/>
              <a:pathLst>
                <a:path w="50800" h="548639">
                  <a:moveTo>
                    <a:pt x="0" y="548639"/>
                  </a:moveTo>
                  <a:lnTo>
                    <a:pt x="50291" y="548639"/>
                  </a:lnTo>
                  <a:lnTo>
                    <a:pt x="50291" y="0"/>
                  </a:lnTo>
                  <a:lnTo>
                    <a:pt x="0" y="0"/>
                  </a:lnTo>
                  <a:lnTo>
                    <a:pt x="0" y="548639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5487" y="1572768"/>
              <a:ext cx="384047" cy="384047"/>
            </a:xfrm>
            <a:prstGeom prst="rect">
              <a:avLst/>
            </a:prstGeom>
          </p:spPr>
        </p:pic>
      </p:grp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3531234" y="658113"/>
            <a:ext cx="20808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Conclusion</a:t>
            </a:r>
            <a:endParaRPr sz="3200"/>
          </a:p>
        </p:txBody>
      </p:sp>
      <p:sp>
        <p:nvSpPr>
          <p:cNvPr id="25" name="object 25"/>
          <p:cNvSpPr txBox="1"/>
          <p:nvPr/>
        </p:nvSpPr>
        <p:spPr>
          <a:xfrm>
            <a:off x="422401" y="1678051"/>
            <a:ext cx="8350884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3721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E8E8EF"/>
                </a:solidFill>
                <a:latin typeface="Trebuchet MS"/>
                <a:cs typeface="Trebuchet MS"/>
              </a:rPr>
              <a:t>We built 7 production-grade ML models (AUC up to 0.991) trained on 327,000+ patients — predicting CVD, Diabetes, Hypertension, Sleep Disorders, Stress &amp; Obesity simultaneously in &lt; 200ms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59409" y="2160777"/>
            <a:ext cx="8423910" cy="561340"/>
            <a:chOff x="359409" y="2160777"/>
            <a:chExt cx="8423910" cy="561340"/>
          </a:xfrm>
        </p:grpSpPr>
        <p:sp>
          <p:nvSpPr>
            <p:cNvPr id="27" name="object 27"/>
            <p:cNvSpPr/>
            <p:nvPr/>
          </p:nvSpPr>
          <p:spPr>
            <a:xfrm>
              <a:off x="365759" y="2167127"/>
              <a:ext cx="8412480" cy="548640"/>
            </a:xfrm>
            <a:custGeom>
              <a:avLst/>
              <a:gdLst/>
              <a:ahLst/>
              <a:cxnLst/>
              <a:rect l="l" t="t" r="r" b="b"/>
              <a:pathLst>
                <a:path w="8412480" h="548639">
                  <a:moveTo>
                    <a:pt x="8412480" y="0"/>
                  </a:moveTo>
                  <a:lnTo>
                    <a:pt x="0" y="0"/>
                  </a:lnTo>
                  <a:lnTo>
                    <a:pt x="0" y="548640"/>
                  </a:lnTo>
                  <a:lnTo>
                    <a:pt x="8412480" y="548640"/>
                  </a:lnTo>
                  <a:lnTo>
                    <a:pt x="8412480" y="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65759" y="2167127"/>
              <a:ext cx="8412480" cy="548640"/>
            </a:xfrm>
            <a:custGeom>
              <a:avLst/>
              <a:gdLst/>
              <a:ahLst/>
              <a:cxnLst/>
              <a:rect l="l" t="t" r="r" b="b"/>
              <a:pathLst>
                <a:path w="8412480" h="548639">
                  <a:moveTo>
                    <a:pt x="0" y="548640"/>
                  </a:moveTo>
                  <a:lnTo>
                    <a:pt x="8412480" y="548640"/>
                  </a:lnTo>
                  <a:lnTo>
                    <a:pt x="8412480" y="0"/>
                  </a:lnTo>
                  <a:lnTo>
                    <a:pt x="0" y="0"/>
                  </a:lnTo>
                  <a:lnTo>
                    <a:pt x="0" y="548640"/>
                  </a:lnTo>
                  <a:close/>
                </a:path>
              </a:pathLst>
            </a:custGeom>
            <a:ln w="1016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65759" y="2167127"/>
              <a:ext cx="50800" cy="548640"/>
            </a:xfrm>
            <a:custGeom>
              <a:avLst/>
              <a:gdLst/>
              <a:ahLst/>
              <a:cxnLst/>
              <a:rect l="l" t="t" r="r" b="b"/>
              <a:pathLst>
                <a:path w="50800" h="548639">
                  <a:moveTo>
                    <a:pt x="50291" y="0"/>
                  </a:moveTo>
                  <a:lnTo>
                    <a:pt x="0" y="0"/>
                  </a:lnTo>
                  <a:lnTo>
                    <a:pt x="0" y="548640"/>
                  </a:lnTo>
                  <a:lnTo>
                    <a:pt x="50291" y="548640"/>
                  </a:lnTo>
                  <a:lnTo>
                    <a:pt x="50291" y="0"/>
                  </a:lnTo>
                  <a:close/>
                </a:path>
              </a:pathLst>
            </a:custGeom>
            <a:solidFill>
              <a:srgbClr val="00C7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65759" y="2167127"/>
              <a:ext cx="50800" cy="548640"/>
            </a:xfrm>
            <a:custGeom>
              <a:avLst/>
              <a:gdLst/>
              <a:ahLst/>
              <a:cxnLst/>
              <a:rect l="l" t="t" r="r" b="b"/>
              <a:pathLst>
                <a:path w="50800" h="548639">
                  <a:moveTo>
                    <a:pt x="0" y="548640"/>
                  </a:moveTo>
                  <a:lnTo>
                    <a:pt x="50291" y="548640"/>
                  </a:lnTo>
                  <a:lnTo>
                    <a:pt x="50291" y="0"/>
                  </a:lnTo>
                  <a:lnTo>
                    <a:pt x="0" y="0"/>
                  </a:lnTo>
                  <a:lnTo>
                    <a:pt x="0" y="548640"/>
                  </a:lnTo>
                  <a:close/>
                </a:path>
              </a:pathLst>
            </a:custGeom>
            <a:ln w="12700">
              <a:solidFill>
                <a:srgbClr val="00C7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5487" y="2231135"/>
              <a:ext cx="384047" cy="384048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422401" y="2336419"/>
            <a:ext cx="8350884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721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E8E8EF"/>
                </a:solidFill>
                <a:latin typeface="Trebuchet MS"/>
                <a:cs typeface="Trebuchet MS"/>
              </a:rPr>
              <a:t>Our What-If Simulation Engine is the first hackathon-grade digital twin that lets clinicians model 8 clinical interventions in real time — quantifying how treating BP or losing 10kg changes CVD risk instantly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59409" y="2819145"/>
            <a:ext cx="8423910" cy="561340"/>
            <a:chOff x="359409" y="2819145"/>
            <a:chExt cx="8423910" cy="561340"/>
          </a:xfrm>
        </p:grpSpPr>
        <p:sp>
          <p:nvSpPr>
            <p:cNvPr id="34" name="object 34"/>
            <p:cNvSpPr/>
            <p:nvPr/>
          </p:nvSpPr>
          <p:spPr>
            <a:xfrm>
              <a:off x="365759" y="2825495"/>
              <a:ext cx="8412480" cy="548640"/>
            </a:xfrm>
            <a:custGeom>
              <a:avLst/>
              <a:gdLst/>
              <a:ahLst/>
              <a:cxnLst/>
              <a:rect l="l" t="t" r="r" b="b"/>
              <a:pathLst>
                <a:path w="8412480" h="548639">
                  <a:moveTo>
                    <a:pt x="8412480" y="0"/>
                  </a:moveTo>
                  <a:lnTo>
                    <a:pt x="0" y="0"/>
                  </a:lnTo>
                  <a:lnTo>
                    <a:pt x="0" y="548639"/>
                  </a:lnTo>
                  <a:lnTo>
                    <a:pt x="8412480" y="548639"/>
                  </a:lnTo>
                  <a:lnTo>
                    <a:pt x="8412480" y="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65759" y="2825495"/>
              <a:ext cx="8412480" cy="548640"/>
            </a:xfrm>
            <a:custGeom>
              <a:avLst/>
              <a:gdLst/>
              <a:ahLst/>
              <a:cxnLst/>
              <a:rect l="l" t="t" r="r" b="b"/>
              <a:pathLst>
                <a:path w="8412480" h="548639">
                  <a:moveTo>
                    <a:pt x="0" y="548639"/>
                  </a:moveTo>
                  <a:lnTo>
                    <a:pt x="8412480" y="548639"/>
                  </a:lnTo>
                  <a:lnTo>
                    <a:pt x="8412480" y="0"/>
                  </a:lnTo>
                  <a:lnTo>
                    <a:pt x="0" y="0"/>
                  </a:lnTo>
                  <a:lnTo>
                    <a:pt x="0" y="548639"/>
                  </a:lnTo>
                  <a:close/>
                </a:path>
              </a:pathLst>
            </a:custGeom>
            <a:ln w="1016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65759" y="2825495"/>
              <a:ext cx="50800" cy="548640"/>
            </a:xfrm>
            <a:custGeom>
              <a:avLst/>
              <a:gdLst/>
              <a:ahLst/>
              <a:cxnLst/>
              <a:rect l="l" t="t" r="r" b="b"/>
              <a:pathLst>
                <a:path w="50800" h="548639">
                  <a:moveTo>
                    <a:pt x="50291" y="0"/>
                  </a:moveTo>
                  <a:lnTo>
                    <a:pt x="0" y="0"/>
                  </a:lnTo>
                  <a:lnTo>
                    <a:pt x="0" y="548639"/>
                  </a:lnTo>
                  <a:lnTo>
                    <a:pt x="50291" y="548639"/>
                  </a:lnTo>
                  <a:lnTo>
                    <a:pt x="50291" y="0"/>
                  </a:lnTo>
                  <a:close/>
                </a:path>
              </a:pathLst>
            </a:custGeom>
            <a:solidFill>
              <a:srgbClr val="FF6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65759" y="2825495"/>
              <a:ext cx="50800" cy="548640"/>
            </a:xfrm>
            <a:custGeom>
              <a:avLst/>
              <a:gdLst/>
              <a:ahLst/>
              <a:cxnLst/>
              <a:rect l="l" t="t" r="r" b="b"/>
              <a:pathLst>
                <a:path w="50800" h="548639">
                  <a:moveTo>
                    <a:pt x="0" y="548639"/>
                  </a:moveTo>
                  <a:lnTo>
                    <a:pt x="50291" y="548639"/>
                  </a:lnTo>
                  <a:lnTo>
                    <a:pt x="50291" y="0"/>
                  </a:lnTo>
                  <a:lnTo>
                    <a:pt x="0" y="0"/>
                  </a:lnTo>
                  <a:lnTo>
                    <a:pt x="0" y="548639"/>
                  </a:lnTo>
                  <a:close/>
                </a:path>
              </a:pathLst>
            </a:custGeom>
            <a:ln w="12700">
              <a:solidFill>
                <a:srgbClr val="FF6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5487" y="2889503"/>
              <a:ext cx="384047" cy="384048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422401" y="2995041"/>
            <a:ext cx="8350884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721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E8E8EF"/>
                </a:solidFill>
                <a:latin typeface="Trebuchet MS"/>
                <a:cs typeface="Trebuchet MS"/>
              </a:rPr>
              <a:t>End-to-end: synthetic dataset generation → model training → normalized CSVs → Flask API → single-file webapp → GitHub-ready ZIP. Production-deployable in 5 minutes. Open source.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59409" y="3477514"/>
            <a:ext cx="8423910" cy="561340"/>
            <a:chOff x="359409" y="3477514"/>
            <a:chExt cx="8423910" cy="561340"/>
          </a:xfrm>
        </p:grpSpPr>
        <p:sp>
          <p:nvSpPr>
            <p:cNvPr id="41" name="object 41"/>
            <p:cNvSpPr/>
            <p:nvPr/>
          </p:nvSpPr>
          <p:spPr>
            <a:xfrm>
              <a:off x="365759" y="3483864"/>
              <a:ext cx="8412480" cy="548640"/>
            </a:xfrm>
            <a:custGeom>
              <a:avLst/>
              <a:gdLst/>
              <a:ahLst/>
              <a:cxnLst/>
              <a:rect l="l" t="t" r="r" b="b"/>
              <a:pathLst>
                <a:path w="8412480" h="548639">
                  <a:moveTo>
                    <a:pt x="8412480" y="0"/>
                  </a:moveTo>
                  <a:lnTo>
                    <a:pt x="0" y="0"/>
                  </a:lnTo>
                  <a:lnTo>
                    <a:pt x="0" y="548640"/>
                  </a:lnTo>
                  <a:lnTo>
                    <a:pt x="8412480" y="548640"/>
                  </a:lnTo>
                  <a:lnTo>
                    <a:pt x="8412480" y="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65759" y="3483864"/>
              <a:ext cx="8412480" cy="548640"/>
            </a:xfrm>
            <a:custGeom>
              <a:avLst/>
              <a:gdLst/>
              <a:ahLst/>
              <a:cxnLst/>
              <a:rect l="l" t="t" r="r" b="b"/>
              <a:pathLst>
                <a:path w="8412480" h="548639">
                  <a:moveTo>
                    <a:pt x="0" y="548640"/>
                  </a:moveTo>
                  <a:lnTo>
                    <a:pt x="8412480" y="548640"/>
                  </a:lnTo>
                  <a:lnTo>
                    <a:pt x="8412480" y="0"/>
                  </a:lnTo>
                  <a:lnTo>
                    <a:pt x="0" y="0"/>
                  </a:lnTo>
                  <a:lnTo>
                    <a:pt x="0" y="548640"/>
                  </a:lnTo>
                  <a:close/>
                </a:path>
              </a:pathLst>
            </a:custGeom>
            <a:ln w="10160">
              <a:solidFill>
                <a:srgbClr val="2A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65759" y="3483864"/>
              <a:ext cx="50800" cy="548640"/>
            </a:xfrm>
            <a:custGeom>
              <a:avLst/>
              <a:gdLst/>
              <a:ahLst/>
              <a:cxnLst/>
              <a:rect l="l" t="t" r="r" b="b"/>
              <a:pathLst>
                <a:path w="50800" h="548639">
                  <a:moveTo>
                    <a:pt x="50291" y="0"/>
                  </a:moveTo>
                  <a:lnTo>
                    <a:pt x="0" y="0"/>
                  </a:lnTo>
                  <a:lnTo>
                    <a:pt x="0" y="548640"/>
                  </a:lnTo>
                  <a:lnTo>
                    <a:pt x="50291" y="548640"/>
                  </a:lnTo>
                  <a:lnTo>
                    <a:pt x="50291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65759" y="3483864"/>
              <a:ext cx="50800" cy="548640"/>
            </a:xfrm>
            <a:custGeom>
              <a:avLst/>
              <a:gdLst/>
              <a:ahLst/>
              <a:cxnLst/>
              <a:rect l="l" t="t" r="r" b="b"/>
              <a:pathLst>
                <a:path w="50800" h="548639">
                  <a:moveTo>
                    <a:pt x="0" y="548640"/>
                  </a:moveTo>
                  <a:lnTo>
                    <a:pt x="50291" y="548640"/>
                  </a:lnTo>
                  <a:lnTo>
                    <a:pt x="50291" y="0"/>
                  </a:lnTo>
                  <a:lnTo>
                    <a:pt x="0" y="0"/>
                  </a:lnTo>
                  <a:lnTo>
                    <a:pt x="0" y="548640"/>
                  </a:lnTo>
                  <a:close/>
                </a:path>
              </a:pathLst>
            </a:custGeom>
            <a:ln w="12700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5487" y="3547872"/>
              <a:ext cx="384047" cy="384047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422401" y="3653485"/>
            <a:ext cx="8350884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3721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E8E8EF"/>
                </a:solidFill>
                <a:latin typeface="Trebuchet MS"/>
                <a:cs typeface="Trebuchet MS"/>
              </a:rPr>
              <a:t>Phase 2: real-time wearable streaming, federated learning for privacy, HIPAA compliance, and EHR integration. Seeking pilot partners in preventive cardiology clinics.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59409" y="4218178"/>
            <a:ext cx="8425180" cy="579755"/>
          </a:xfrm>
          <a:prstGeom prst="rect">
            <a:avLst/>
          </a:prstGeom>
          <a:solidFill>
            <a:srgbClr val="F5A622"/>
          </a:solidFill>
          <a:ln w="3175">
            <a:solidFill>
              <a:srgbClr val="F5A622"/>
            </a:solidFill>
          </a:ln>
        </p:spPr>
        <p:txBody>
          <a:bodyPr vert="horz" wrap="square" lIns="0" tIns="182245" rIns="0" bIns="0" rtlCol="0">
            <a:spAutoFit/>
          </a:bodyPr>
          <a:lstStyle/>
          <a:p>
            <a:pPr marR="13970" algn="ctr">
              <a:lnSpc>
                <a:spcPct val="100000"/>
              </a:lnSpc>
              <a:spcBef>
                <a:spcPts val="1435"/>
              </a:spcBef>
              <a:tabLst>
                <a:tab pos="1052830" algn="l"/>
                <a:tab pos="1276350" algn="l"/>
                <a:tab pos="2354580" algn="l"/>
                <a:tab pos="2578100" algn="l"/>
              </a:tabLst>
            </a:pPr>
            <a:r>
              <a:rPr sz="1300" b="1" spc="70" dirty="0">
                <a:solidFill>
                  <a:srgbClr val="090913"/>
                </a:solidFill>
                <a:latin typeface="Trebuchet MS"/>
                <a:cs typeface="Trebuchet MS"/>
              </a:rPr>
              <a:t>Thank You  •  Questions?  •  github.com/[team]/cardiorisk-ai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48" name="object 4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658" y="0"/>
            <a:ext cx="791997" cy="696595"/>
          </a:xfrm>
          <a:prstGeom prst="rect">
            <a:avLst/>
          </a:prstGeom>
        </p:spPr>
      </p:pic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PRAGATI</a:t>
            </a:r>
            <a:r>
              <a:rPr spc="30" dirty="0"/>
              <a:t> </a:t>
            </a:r>
            <a:r>
              <a:rPr dirty="0"/>
              <a:t>2026</a:t>
            </a:r>
            <a:r>
              <a:rPr spc="10" dirty="0"/>
              <a:t> </a:t>
            </a:r>
            <a:r>
              <a:rPr dirty="0"/>
              <a:t>—</a:t>
            </a:r>
            <a:r>
              <a:rPr spc="-10" dirty="0"/>
              <a:t> bengalithub.com/hackfest-</a:t>
            </a:r>
            <a:r>
              <a:rPr spc="-20" dirty="0"/>
              <a:t>2026</a:t>
            </a: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787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2024</Words>
  <Application>Microsoft Office PowerPoint</Application>
  <PresentationFormat>On-screen Show (16:9)</PresentationFormat>
  <Paragraphs>279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Times New Roman</vt:lpstr>
      <vt:lpstr>Trebuchet MS</vt:lpstr>
      <vt:lpstr>Office Theme</vt:lpstr>
      <vt:lpstr>CardioRisk AI</vt:lpstr>
      <vt:lpstr>Team Details</vt:lpstr>
      <vt:lpstr>Problem Statement</vt:lpstr>
      <vt:lpstr>Objective</vt:lpstr>
      <vt:lpstr>Scope</vt:lpstr>
      <vt:lpstr>Proposed Solution</vt:lpstr>
      <vt:lpstr>PRAGATI — The Bengal Hack Fest 2026</vt:lpstr>
      <vt:lpstr>Assumptions</vt:lpstr>
      <vt:lpstr>Dependencies</vt:lpstr>
      <vt:lpstr>Benefits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PRAGATI — The Bengal Hack Fest 2026 — Submission Template</dc:title>
  <dc:subject>PptxGenJS Presentation</dc:subject>
  <dc:creator>PRAGATI HackFest</dc:creator>
  <cp:lastModifiedBy>AYAN BANERJEE</cp:lastModifiedBy>
  <cp:revision>1</cp:revision>
  <dcterms:created xsi:type="dcterms:W3CDTF">2026-03-24T18:12:49Z</dcterms:created>
  <dcterms:modified xsi:type="dcterms:W3CDTF">2026-04-09T09:53:25Z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2026-03-14T00:00:00Z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2026-03-24T00:00:00Z</vt:filetime>
  </property>
  <property fmtid="{D5CDD505-2E9C-101B-9397-08002B2CF9AE}" pid="5" name="Producer">
    <vt:lpwstr>Microsoft® PowerPoint® 2010</vt:lpwstr>
  </property>
</Properties>
</file>